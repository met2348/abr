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57" r:id="rId5"/>
    <p:sldId id="258" r:id="rId6"/>
    <p:sldId id="260" r:id="rId7"/>
    <p:sldId id="261" r:id="rId8"/>
    <p:sldId id="262" r:id="rId9"/>
    <p:sldId id="263" r:id="rId10"/>
    <p:sldId id="264" r:id="rId11"/>
    <p:sldId id="265" r:id="rId12"/>
    <p:sldId id="266" r:id="rId13"/>
    <p:sldId id="267" r:id="rId14"/>
    <p:sldId id="268" r:id="rId15"/>
    <p:sldId id="270" r:id="rId16"/>
    <p:sldId id="269" r:id="rId17"/>
    <p:sldId id="271" r:id="rId18"/>
    <p:sldId id="272" r:id="rId19"/>
    <p:sldId id="273" r:id="rId20"/>
    <p:sldId id="274" r:id="rId21"/>
    <p:sldId id="277" r:id="rId22"/>
    <p:sldId id="276"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5.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8.xml"/><Relationship Id="rId3" Type="http://schemas.openxmlformats.org/officeDocument/2006/relationships/image" Target="../media/image3.png"/><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8.xml"/><Relationship Id="rId3" Type="http://schemas.openxmlformats.org/officeDocument/2006/relationships/image" Target="../media/image4.png"/><Relationship Id="rId2" Type="http://schemas.openxmlformats.org/officeDocument/2006/relationships/tags" Target="../tags/tag117.xml"/><Relationship Id="rId1" Type="http://schemas.openxmlformats.org/officeDocument/2006/relationships/tags" Target="../tags/tag11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0.xml"/><Relationship Id="rId1" Type="http://schemas.openxmlformats.org/officeDocument/2006/relationships/tags" Target="../tags/tag119.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7.xml"/><Relationship Id="rId3" Type="http://schemas.openxmlformats.org/officeDocument/2006/relationships/image" Target="../media/image5.png"/><Relationship Id="rId2" Type="http://schemas.openxmlformats.org/officeDocument/2006/relationships/tags" Target="../tags/tag146.xml"/><Relationship Id="rId1" Type="http://schemas.openxmlformats.org/officeDocument/2006/relationships/tags" Target="../tags/tag145.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248920"/>
            <a:ext cx="9799200" cy="2570400"/>
          </a:xfrm>
        </p:spPr>
        <p:txBody>
          <a:bodyPr/>
          <a:p>
            <a:r>
              <a:rPr lang="en-US" altLang="zh-CN"/>
              <a:t>BCR </a:t>
            </a:r>
            <a:r>
              <a:rPr lang="en-US" altLang="zh-CN"/>
              <a:t>on step level</a:t>
            </a:r>
            <a:endParaRPr lang="en-US" altLang="zh-CN"/>
          </a:p>
        </p:txBody>
      </p:sp>
      <p:sp>
        <p:nvSpPr>
          <p:cNvPr id="3" name="副标题 2"/>
          <p:cNvSpPr>
            <a:spLocks noGrp="1"/>
          </p:cNvSpPr>
          <p:nvPr>
            <p:ph type="subTitle" idx="1"/>
            <p:custDataLst>
              <p:tags r:id="rId2"/>
            </p:custDataLst>
          </p:nvPr>
        </p:nvSpPr>
        <p:spPr>
          <a:xfrm>
            <a:off x="1198880" y="3429000"/>
            <a:ext cx="9799320" cy="2701290"/>
          </a:xfrm>
        </p:spPr>
        <p:txBody>
          <a:bodyPr>
            <a:normAutofit/>
          </a:bodyPr>
          <a:p>
            <a:r>
              <a:rPr lang="en-US" altLang="zh-CN"/>
              <a:t>Discussion #2</a:t>
            </a:r>
            <a:r>
              <a:rPr lang="zh-CN" altLang="en-US"/>
              <a:t>：</a:t>
            </a:r>
            <a:r>
              <a:rPr lang="en-US" altLang="zh-CN"/>
              <a:t> </a:t>
            </a:r>
            <a:r>
              <a:rPr lang="en-US" altLang="zh-CN"/>
              <a:t>Combine BCR with AnyMAC-like method</a:t>
            </a:r>
            <a:endParaRPr lang="en-US" altLang="zh-CN"/>
          </a:p>
          <a:p>
            <a:r>
              <a:rPr lang="en-US" altLang="zh-CN"/>
              <a:t>Proposed</a:t>
            </a:r>
            <a:r>
              <a:rPr lang="zh-CN" altLang="en-US"/>
              <a:t>：</a:t>
            </a:r>
            <a:r>
              <a:rPr lang="en-US" altLang="zh-CN"/>
              <a:t> </a:t>
            </a:r>
            <a:r>
              <a:rPr lang="en-US" altLang="zh-CN" b="1" i="1" u="sng">
                <a:sym typeface="+mn-ea"/>
              </a:rPr>
              <a:t>Adaptive Bellman Reasoning (ABR)</a:t>
            </a:r>
            <a:endParaRPr lang="en-US" altLang="zh-CN" b="1" i="1" u="sng">
              <a:sym typeface="+mn-ea"/>
            </a:endParaRPr>
          </a:p>
          <a:p>
            <a:endParaRPr lang="en-US" altLang="zh-CN" i="1">
              <a:sym typeface="+mn-ea"/>
            </a:endParaRPr>
          </a:p>
          <a:p>
            <a:r>
              <a:rPr lang="en-US" altLang="zh-CN" sz="2000">
                <a:sym typeface="+mn-ea"/>
              </a:rPr>
              <a:t>2026.1.10</a:t>
            </a:r>
            <a:endParaRPr lang="en-US" altLang="zh-CN" sz="2000">
              <a:sym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BCR limitation analysis</a:t>
            </a:r>
            <a:endParaRPr lang="zh-CN" altLang="en-US"/>
          </a:p>
        </p:txBody>
      </p:sp>
      <p:sp>
        <p:nvSpPr>
          <p:cNvPr id="3" name="内容占位符 2"/>
          <p:cNvSpPr>
            <a:spLocks noGrp="1"/>
          </p:cNvSpPr>
          <p:nvPr>
            <p:ph idx="1"/>
            <p:custDataLst>
              <p:tags r:id="rId2"/>
            </p:custDataLst>
          </p:nvPr>
        </p:nvSpPr>
        <p:spPr/>
        <p:txBody>
          <a:bodyPr/>
          <a:p>
            <a:r>
              <a:rPr lang="zh-CN" altLang="en-US"/>
              <a:t>上次讨论当中</a:t>
            </a:r>
            <a:r>
              <a:rPr lang="en-US" altLang="zh-CN"/>
              <a:t>BCR</a:t>
            </a:r>
            <a:r>
              <a:rPr lang="zh-CN" altLang="en-US"/>
              <a:t>的潜在问题回顾总结</a:t>
            </a:r>
            <a:r>
              <a:rPr lang="zh-CN" altLang="en-US"/>
              <a:t>如下：</a:t>
            </a:r>
            <a:endParaRPr lang="zh-CN" altLang="en-US"/>
          </a:p>
          <a:p>
            <a:pPr marL="0" indent="0">
              <a:buNone/>
            </a:pPr>
            <a:r>
              <a:rPr lang="zh-CN" altLang="en-US">
                <a:sym typeface="+mn-ea"/>
              </a:rPr>
              <a:t>在</a:t>
            </a:r>
            <a:r>
              <a:rPr lang="en-US" altLang="zh-CN">
                <a:sym typeface="+mn-ea"/>
              </a:rPr>
              <a:t>final reward</a:t>
            </a:r>
            <a:r>
              <a:rPr lang="zh-CN" altLang="en-US">
                <a:sym typeface="+mn-ea"/>
              </a:rPr>
              <a:t>插值计算步骤中间的</a:t>
            </a:r>
            <a:r>
              <a:rPr lang="en-US" altLang="zh-CN">
                <a:sym typeface="+mn-ea"/>
              </a:rPr>
              <a:t>reward</a:t>
            </a:r>
            <a:r>
              <a:rPr lang="zh-CN" altLang="en-US">
                <a:sym typeface="+mn-ea"/>
              </a:rPr>
              <a:t>时出现</a:t>
            </a:r>
            <a:r>
              <a:rPr lang="en-US" altLang="zh-CN">
                <a:sym typeface="+mn-ea"/>
              </a:rPr>
              <a:t>“</a:t>
            </a:r>
            <a:r>
              <a:rPr lang="zh-CN" altLang="en-US">
                <a:sym typeface="+mn-ea"/>
              </a:rPr>
              <a:t>监督泄漏</a:t>
            </a:r>
            <a:r>
              <a:rPr lang="en-US" altLang="zh-CN">
                <a:sym typeface="+mn-ea"/>
              </a:rPr>
              <a:t>”</a:t>
            </a:r>
            <a:r>
              <a:rPr lang="zh-CN" altLang="en-US">
                <a:sym typeface="+mn-ea"/>
              </a:rPr>
              <a:t>导致价值函数</a:t>
            </a:r>
            <a:r>
              <a:rPr lang="en-US" altLang="zh-CN">
                <a:sym typeface="+mn-ea"/>
              </a:rPr>
              <a:t>“</a:t>
            </a:r>
            <a:r>
              <a:rPr lang="zh-CN" altLang="en-US">
                <a:sym typeface="+mn-ea"/>
              </a:rPr>
              <a:t>作弊</a:t>
            </a:r>
            <a:r>
              <a:rPr lang="en-US" altLang="zh-CN">
                <a:sym typeface="+mn-ea"/>
              </a:rPr>
              <a:t>”</a:t>
            </a:r>
            <a:r>
              <a:rPr lang="zh-CN" altLang="en-US">
                <a:sym typeface="+mn-ea"/>
              </a:rPr>
              <a:t>：</a:t>
            </a:r>
            <a:r>
              <a:rPr lang="en-US" altLang="zh-CN">
                <a:sym typeface="+mn-ea"/>
              </a:rPr>
              <a:t> </a:t>
            </a:r>
            <a:r>
              <a:rPr lang="zh-CN" altLang="en-US">
                <a:sym typeface="+mn-ea"/>
              </a:rPr>
              <a:t>价值函数</a:t>
            </a:r>
            <a:r>
              <a:rPr lang="en-US" altLang="zh-CN">
                <a:sym typeface="+mn-ea"/>
              </a:rPr>
              <a:t> Vφ </a:t>
            </a:r>
            <a:r>
              <a:rPr lang="zh-CN" altLang="en-US">
                <a:sym typeface="+mn-ea"/>
              </a:rPr>
              <a:t>在训练过程中，通过奖励</a:t>
            </a:r>
            <a:r>
              <a:rPr lang="en-US" altLang="zh-CN">
                <a:sym typeface="+mn-ea"/>
              </a:rPr>
              <a:t> rt “</a:t>
            </a:r>
            <a:r>
              <a:rPr lang="zh-CN" altLang="en-US">
                <a:sym typeface="+mn-ea"/>
              </a:rPr>
              <a:t>看到</a:t>
            </a:r>
            <a:r>
              <a:rPr lang="en-US" altLang="zh-CN">
                <a:sym typeface="+mn-ea"/>
              </a:rPr>
              <a:t>”</a:t>
            </a:r>
            <a:r>
              <a:rPr lang="zh-CN" altLang="en-US">
                <a:sym typeface="+mn-ea"/>
              </a:rPr>
              <a:t>了真实的下一步是什么</a:t>
            </a:r>
            <a:endParaRPr lang="zh-CN" altLang="en-US">
              <a:sym typeface="+mn-ea"/>
            </a:endParaRPr>
          </a:p>
          <a:p>
            <a:pPr marL="0" indent="0">
              <a:buNone/>
            </a:pPr>
            <a:endParaRPr lang="zh-CN" altLang="en-US">
              <a:sym typeface="+mn-ea"/>
            </a:endParaRPr>
          </a:p>
          <a:p>
            <a:pPr marL="0" indent="0">
              <a:buNone/>
            </a:pPr>
            <a:r>
              <a:rPr lang="zh-CN" altLang="en-US">
                <a:sym typeface="+mn-ea"/>
              </a:rPr>
              <a:t>超参数</a:t>
            </a:r>
            <a:r>
              <a:rPr lang="en-US" altLang="zh-CN">
                <a:sym typeface="+mn-ea"/>
              </a:rPr>
              <a:t>λ</a:t>
            </a:r>
            <a:r>
              <a:rPr lang="zh-CN" altLang="en-US">
                <a:sym typeface="+mn-ea"/>
              </a:rPr>
              <a:t>不容易设置</a:t>
            </a:r>
            <a:r>
              <a:rPr lang="en-US" altLang="zh-CN">
                <a:sym typeface="+mn-ea"/>
              </a:rPr>
              <a:t>/</a:t>
            </a:r>
            <a:r>
              <a:rPr lang="zh-CN" altLang="en-US">
                <a:sym typeface="+mn-ea"/>
              </a:rPr>
              <a:t>训练</a:t>
            </a:r>
            <a:endParaRPr lang="zh-CN" altLang="en-US">
              <a:sym typeface="+mn-ea"/>
            </a:endParaRPr>
          </a:p>
          <a:p>
            <a:pPr marL="0" indent="0">
              <a:buNone/>
            </a:pPr>
            <a:endParaRPr lang="zh-CN" altLang="en-US"/>
          </a:p>
          <a:p>
            <a:pPr marL="0" indent="0">
              <a:buNone/>
            </a:pPr>
            <a:r>
              <a:rPr lang="zh-CN" altLang="en-US"/>
              <a:t>推理一致性评估的方案采用价值函数的单步差分误差，</a:t>
            </a:r>
            <a:r>
              <a:rPr lang="en-US" altLang="zh-CN"/>
              <a:t> </a:t>
            </a:r>
            <a:r>
              <a:rPr lang="zh-CN" altLang="en-US"/>
              <a:t>显得朴素，可能有更好的</a:t>
            </a:r>
            <a:r>
              <a:rPr lang="zh-CN" altLang="en-US"/>
              <a:t>指标。</a:t>
            </a:r>
            <a:endParaRPr lang="zh-CN" altLang="en-US"/>
          </a:p>
          <a:p>
            <a:pPr marL="0" indent="0">
              <a:buNone/>
            </a:pPr>
            <a:endParaRPr lang="zh-CN" altLang="en-US"/>
          </a:p>
          <a:p>
            <a:pPr marL="0" indent="0">
              <a:buNone/>
            </a:pPr>
            <a:r>
              <a:rPr lang="zh-CN" altLang="en-US"/>
              <a:t>结合</a:t>
            </a:r>
            <a:r>
              <a:rPr lang="en-US" altLang="zh-CN"/>
              <a:t>AnyMac</a:t>
            </a:r>
            <a:r>
              <a:rPr lang="zh-CN" altLang="en-US"/>
              <a:t>的思路，</a:t>
            </a:r>
            <a:r>
              <a:rPr lang="en-US" altLang="zh-CN"/>
              <a:t> </a:t>
            </a:r>
            <a:r>
              <a:rPr lang="zh-CN" altLang="en-US"/>
              <a:t>还会发现其有新的局限性：效率低下</a:t>
            </a:r>
            <a:r>
              <a:rPr lang="en-US" altLang="zh-CN"/>
              <a:t> </a:t>
            </a:r>
            <a:r>
              <a:rPr lang="zh-CN" altLang="en-US"/>
              <a:t>和</a:t>
            </a:r>
            <a:r>
              <a:rPr lang="en-US" altLang="zh-CN"/>
              <a:t> </a:t>
            </a:r>
            <a:r>
              <a:rPr lang="zh-CN" altLang="en-US"/>
              <a:t>显式控制的</a:t>
            </a:r>
            <a:r>
              <a:rPr lang="zh-CN" altLang="en-US"/>
              <a:t>缺失</a:t>
            </a:r>
            <a:endParaRPr lang="zh-CN"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BCR limitation analysis</a:t>
            </a:r>
            <a:endParaRPr lang="en-US" altLang="zh-CN"/>
          </a:p>
        </p:txBody>
      </p:sp>
      <p:sp>
        <p:nvSpPr>
          <p:cNvPr id="3" name="内容占位符 2"/>
          <p:cNvSpPr>
            <a:spLocks noGrp="1"/>
          </p:cNvSpPr>
          <p:nvPr>
            <p:ph idx="1"/>
            <p:custDataLst>
              <p:tags r:id="rId2"/>
            </p:custDataLst>
          </p:nvPr>
        </p:nvSpPr>
        <p:spPr/>
        <p:txBody>
          <a:bodyPr/>
          <a:p>
            <a:r>
              <a:rPr lang="en-US" altLang="zh-CN"/>
              <a:t>BCR</a:t>
            </a:r>
            <a:r>
              <a:rPr lang="zh-CN" altLang="en-US"/>
              <a:t>的抑制幻觉，</a:t>
            </a:r>
            <a:r>
              <a:rPr lang="en-US" altLang="zh-CN"/>
              <a:t> </a:t>
            </a:r>
            <a:r>
              <a:rPr lang="zh-CN" altLang="en-US"/>
              <a:t>寻找每步正确推理的思路是作为一种正则化项加在训练过程中当中</a:t>
            </a:r>
            <a:r>
              <a:rPr lang="zh-CN" altLang="en-US"/>
              <a:t>的。</a:t>
            </a:r>
            <a:endParaRPr lang="zh-CN" altLang="en-US"/>
          </a:p>
          <a:p>
            <a:pPr marL="0" indent="0">
              <a:buNone/>
            </a:pPr>
            <a:r>
              <a:rPr lang="zh-CN" altLang="en-US"/>
              <a:t>我感觉它有以下</a:t>
            </a:r>
            <a:r>
              <a:rPr lang="zh-CN" altLang="en-US"/>
              <a:t>问题：</a:t>
            </a:r>
            <a:endParaRPr lang="zh-CN" altLang="en-US"/>
          </a:p>
          <a:p>
            <a:pPr marL="0" indent="0">
              <a:buNone/>
            </a:pPr>
            <a:r>
              <a:rPr lang="en-US" altLang="zh-CN"/>
              <a:t>1. </a:t>
            </a:r>
            <a:r>
              <a:rPr lang="zh-CN" altLang="en-US"/>
              <a:t>每个</a:t>
            </a:r>
            <a:r>
              <a:rPr lang="en-US" altLang="zh-CN"/>
              <a:t>token</a:t>
            </a:r>
            <a:r>
              <a:rPr lang="zh-CN" altLang="en-US"/>
              <a:t>上验证推理的正确性和一致性，粒度太细了，显得</a:t>
            </a:r>
            <a:r>
              <a:rPr lang="en-US" altLang="zh-CN"/>
              <a:t>inefficienct</a:t>
            </a:r>
            <a:r>
              <a:rPr lang="zh-CN" altLang="en-US"/>
              <a:t>。原</a:t>
            </a:r>
            <a:r>
              <a:rPr lang="en-US" altLang="zh-CN"/>
              <a:t>BCR proposed method </a:t>
            </a:r>
            <a:r>
              <a:rPr lang="zh-CN" altLang="en-US"/>
              <a:t>在生成每一个</a:t>
            </a:r>
            <a:r>
              <a:rPr lang="en-US" altLang="zh-CN"/>
              <a:t> token </a:t>
            </a:r>
            <a:r>
              <a:rPr lang="zh-CN" altLang="en-US"/>
              <a:t>时，都要计算</a:t>
            </a:r>
            <a:r>
              <a:rPr lang="en-US" altLang="zh-CN"/>
              <a:t> Bellman loss</a:t>
            </a:r>
            <a:r>
              <a:rPr lang="zh-CN" altLang="en-US"/>
              <a:t>，试图保持价值函数的一致性。</a:t>
            </a:r>
            <a:r>
              <a:rPr lang="en-US" altLang="zh-CN"/>
              <a:t> </a:t>
            </a:r>
            <a:r>
              <a:rPr lang="zh-CN" altLang="en-US"/>
              <a:t>但一个推理步骤</a:t>
            </a:r>
            <a:r>
              <a:rPr lang="en-US" altLang="zh-CN"/>
              <a:t>cover</a:t>
            </a:r>
            <a:r>
              <a:rPr lang="zh-CN" altLang="en-US"/>
              <a:t>的至少有好几个，</a:t>
            </a:r>
            <a:r>
              <a:rPr lang="en-US" altLang="zh-CN"/>
              <a:t> </a:t>
            </a:r>
            <a:r>
              <a:rPr lang="zh-CN" altLang="en-US"/>
              <a:t>或者十几个</a:t>
            </a:r>
            <a:r>
              <a:rPr lang="en-US" altLang="zh-CN"/>
              <a:t>token</a:t>
            </a:r>
            <a:r>
              <a:rPr lang="zh-CN" altLang="en-US"/>
              <a:t>。</a:t>
            </a:r>
            <a:r>
              <a:rPr lang="en-US" altLang="zh-CN"/>
              <a:t> </a:t>
            </a:r>
            <a:r>
              <a:rPr lang="zh-CN" altLang="en-US"/>
              <a:t>在简单的推理步骤上，每个</a:t>
            </a:r>
            <a:r>
              <a:rPr lang="en-US" altLang="zh-CN"/>
              <a:t>token</a:t>
            </a:r>
            <a:r>
              <a:rPr lang="zh-CN" altLang="en-US"/>
              <a:t>都强制进行一致性检查似乎不能够捕捉到很多新的信息，</a:t>
            </a:r>
            <a:r>
              <a:rPr lang="en-US" altLang="zh-CN"/>
              <a:t> </a:t>
            </a:r>
            <a:r>
              <a:rPr lang="zh-CN" altLang="en-US"/>
              <a:t>显得浪费算力；但我们又不能在复杂的推理步骤上</a:t>
            </a:r>
            <a:r>
              <a:rPr lang="zh-CN" altLang="en-US"/>
              <a:t>不做。在复杂的步骤上如果不加强检查又容易出错。</a:t>
            </a:r>
            <a:endParaRPr lang="zh-CN" altLang="en-US"/>
          </a:p>
          <a:p>
            <a:pPr marL="0" indent="0">
              <a:buNone/>
            </a:pPr>
            <a:r>
              <a:rPr lang="en-US" altLang="zh-CN"/>
              <a:t>2.</a:t>
            </a:r>
            <a:r>
              <a:rPr lang="zh-CN" altLang="en-US"/>
              <a:t>缺乏一种</a:t>
            </a:r>
            <a:r>
              <a:rPr lang="en-US" altLang="zh-CN"/>
              <a:t>“</a:t>
            </a:r>
            <a:r>
              <a:rPr lang="zh-CN" altLang="en-US"/>
              <a:t>显式</a:t>
            </a:r>
            <a:r>
              <a:rPr lang="en-US" altLang="zh-CN"/>
              <a:t>”</a:t>
            </a:r>
            <a:r>
              <a:rPr lang="zh-CN" altLang="en-US"/>
              <a:t>的控制，即，</a:t>
            </a:r>
            <a:r>
              <a:rPr lang="en-US" altLang="zh-CN"/>
              <a:t> </a:t>
            </a:r>
            <a:r>
              <a:rPr lang="zh-CN" altLang="en-US"/>
              <a:t>模型不知道什么时候该</a:t>
            </a:r>
            <a:r>
              <a:rPr lang="en-US" altLang="zh-CN"/>
              <a:t>“</a:t>
            </a:r>
            <a:r>
              <a:rPr lang="zh-CN" altLang="en-US"/>
              <a:t>小心求证</a:t>
            </a:r>
            <a:r>
              <a:rPr lang="en-US" altLang="zh-CN"/>
              <a:t>”</a:t>
            </a:r>
            <a:r>
              <a:rPr lang="zh-CN" altLang="en-US"/>
              <a:t>，什么时候该</a:t>
            </a:r>
            <a:r>
              <a:rPr lang="en-US" altLang="zh-CN"/>
              <a:t>“</a:t>
            </a:r>
            <a:r>
              <a:rPr lang="zh-CN" altLang="en-US"/>
              <a:t>大胆生成</a:t>
            </a:r>
            <a:r>
              <a:rPr lang="en-US" altLang="zh-CN"/>
              <a:t>”</a:t>
            </a:r>
            <a:r>
              <a:rPr lang="zh-CN" altLang="en-US"/>
              <a:t>。如果模型能够动态地知晓推理的难度从而调整推理一致性</a:t>
            </a:r>
            <a:r>
              <a:rPr lang="en-US" altLang="zh-CN"/>
              <a:t>/</a:t>
            </a:r>
            <a:r>
              <a:rPr lang="zh-CN" altLang="en-US"/>
              <a:t>正确性检查的频率</a:t>
            </a:r>
            <a:r>
              <a:rPr lang="en-US" altLang="zh-CN"/>
              <a:t>/</a:t>
            </a:r>
            <a:r>
              <a:rPr lang="zh-CN" altLang="en-US"/>
              <a:t>强度，</a:t>
            </a:r>
            <a:r>
              <a:rPr lang="en-US" altLang="zh-CN"/>
              <a:t> </a:t>
            </a:r>
            <a:r>
              <a:rPr lang="zh-CN" altLang="en-US"/>
              <a:t>会比</a:t>
            </a:r>
            <a:r>
              <a:rPr lang="en-US" altLang="zh-CN"/>
              <a:t>“</a:t>
            </a:r>
            <a:r>
              <a:rPr lang="zh-CN" altLang="en-US"/>
              <a:t>事无巨细</a:t>
            </a:r>
            <a:r>
              <a:rPr lang="en-US" altLang="zh-CN"/>
              <a:t>”</a:t>
            </a:r>
            <a:r>
              <a:rPr lang="zh-CN" altLang="en-US"/>
              <a:t>地</a:t>
            </a:r>
            <a:r>
              <a:rPr lang="zh-CN" altLang="en-US"/>
              <a:t>做要好得多</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AnyMAC’s S</a:t>
            </a:r>
            <a:r>
              <a:rPr lang="en-US" altLang="zh-CN"/>
              <a:t>uperiority over BCR</a:t>
            </a:r>
            <a:endParaRPr lang="en-US" altLang="zh-CN"/>
          </a:p>
        </p:txBody>
      </p:sp>
      <p:sp>
        <p:nvSpPr>
          <p:cNvPr id="3" name="内容占位符 2"/>
          <p:cNvSpPr>
            <a:spLocks noGrp="1"/>
          </p:cNvSpPr>
          <p:nvPr>
            <p:ph idx="1"/>
            <p:custDataLst>
              <p:tags r:id="rId2"/>
            </p:custDataLst>
          </p:nvPr>
        </p:nvSpPr>
        <p:spPr>
          <a:xfrm>
            <a:off x="608330" y="1490345"/>
            <a:ext cx="11264900" cy="4972050"/>
          </a:xfrm>
        </p:spPr>
        <p:txBody>
          <a:bodyPr>
            <a:normAutofit fontScale="90000"/>
          </a:bodyPr>
          <a:p>
            <a:r>
              <a:rPr lang="en-US" altLang="zh-CN">
                <a:sym typeface="+mn-ea"/>
              </a:rPr>
              <a:t>AnyMAC</a:t>
            </a:r>
            <a:r>
              <a:rPr lang="zh-CN" altLang="en-US">
                <a:sym typeface="+mn-ea"/>
              </a:rPr>
              <a:t>方法</a:t>
            </a:r>
            <a:r>
              <a:rPr lang="zh-CN" altLang="en-US"/>
              <a:t>打破传统</a:t>
            </a:r>
            <a:r>
              <a:rPr lang="en-US" altLang="zh-CN"/>
              <a:t>/</a:t>
            </a:r>
            <a:r>
              <a:rPr lang="zh-CN" altLang="en-US"/>
              <a:t>旧</a:t>
            </a:r>
            <a:r>
              <a:rPr lang="zh-CN" altLang="en-US"/>
              <a:t>的多智能体协作中固定的图拓扑结构（链式、树式、星型等各种常见</a:t>
            </a:r>
            <a:r>
              <a:rPr lang="zh-CN" altLang="en-US"/>
              <a:t>情况）</a:t>
            </a:r>
            <a:endParaRPr lang="zh-CN" altLang="en-US"/>
          </a:p>
          <a:p>
            <a:r>
              <a:rPr lang="zh-CN" altLang="en-US"/>
              <a:t>旧范式</a:t>
            </a:r>
            <a:r>
              <a:rPr lang="zh-CN" altLang="en-US"/>
              <a:t>是：</a:t>
            </a:r>
            <a:r>
              <a:rPr lang="en-US" altLang="zh-CN"/>
              <a:t> </a:t>
            </a:r>
            <a:r>
              <a:rPr lang="zh-CN" altLang="en-US"/>
              <a:t>给定一个固定图结构，如</a:t>
            </a:r>
            <a:r>
              <a:rPr lang="en-US" altLang="zh-CN"/>
              <a:t> A -&gt; B -&gt; C -&gt; D</a:t>
            </a:r>
            <a:r>
              <a:rPr lang="zh-CN" altLang="en-US"/>
              <a:t>。</a:t>
            </a:r>
            <a:r>
              <a:rPr lang="en-US" altLang="zh-CN"/>
              <a:t>Agent A </a:t>
            </a:r>
            <a:r>
              <a:rPr lang="zh-CN" altLang="en-US"/>
              <a:t>只能发给</a:t>
            </a:r>
            <a:r>
              <a:rPr lang="en-US" altLang="zh-CN"/>
              <a:t> B</a:t>
            </a:r>
            <a:r>
              <a:rPr lang="zh-CN" altLang="en-US"/>
              <a:t>，</a:t>
            </a:r>
            <a:r>
              <a:rPr lang="en-US" altLang="zh-CN"/>
              <a:t>B </a:t>
            </a:r>
            <a:r>
              <a:rPr lang="zh-CN" altLang="en-US"/>
              <a:t>只能发给</a:t>
            </a:r>
            <a:r>
              <a:rPr lang="en-US" altLang="zh-CN"/>
              <a:t> C</a:t>
            </a:r>
            <a:endParaRPr lang="en-US" altLang="zh-CN"/>
          </a:p>
          <a:p>
            <a:pPr marL="0" indent="0">
              <a:buNone/>
            </a:pPr>
            <a:r>
              <a:rPr lang="zh-CN" altLang="en-US"/>
              <a:t>这样导致固化</a:t>
            </a:r>
            <a:r>
              <a:rPr lang="en-US" altLang="zh-CN"/>
              <a:t>/</a:t>
            </a:r>
            <a:r>
              <a:rPr lang="zh-CN" altLang="en-US"/>
              <a:t>不灵活</a:t>
            </a:r>
            <a:r>
              <a:rPr lang="en-US" altLang="zh-CN"/>
              <a:t>/</a:t>
            </a:r>
            <a:r>
              <a:rPr lang="zh-CN" altLang="en-US"/>
              <a:t>不易迁移；信息流通</a:t>
            </a:r>
            <a:r>
              <a:rPr lang="zh-CN" altLang="en-US"/>
              <a:t>受限</a:t>
            </a:r>
            <a:endParaRPr lang="zh-CN" altLang="en-US"/>
          </a:p>
          <a:p>
            <a:pPr marL="0" indent="0">
              <a:buNone/>
            </a:pPr>
            <a:r>
              <a:rPr lang="zh-CN" altLang="en-US" b="1"/>
              <a:t>需要：</a:t>
            </a:r>
            <a:r>
              <a:rPr lang="en-US" altLang="zh-CN" b="1"/>
              <a:t> </a:t>
            </a:r>
            <a:r>
              <a:rPr lang="zh-CN" altLang="en-US" b="1"/>
              <a:t>从图拓扑，</a:t>
            </a:r>
            <a:r>
              <a:rPr lang="en-US" altLang="zh-CN" b="1"/>
              <a:t> </a:t>
            </a:r>
            <a:r>
              <a:rPr lang="zh-CN" altLang="en-US" b="1"/>
              <a:t>转移到序列</a:t>
            </a:r>
            <a:r>
              <a:rPr lang="zh-CN" altLang="en-US" b="1"/>
              <a:t>决策</a:t>
            </a:r>
            <a:endParaRPr lang="zh-CN" altLang="en-US" b="1"/>
          </a:p>
          <a:p>
            <a:pPr marL="0" indent="0">
              <a:buNone/>
            </a:pPr>
            <a:r>
              <a:rPr lang="zh-CN" altLang="en-US"/>
              <a:t>我理解的新范式：</a:t>
            </a:r>
            <a:r>
              <a:rPr lang="en-US" altLang="zh-CN"/>
              <a:t> </a:t>
            </a:r>
            <a:r>
              <a:rPr lang="en-US" altLang="zh-CN">
                <a:sym typeface="+mn-ea"/>
              </a:rPr>
              <a:t>AnyMAC</a:t>
            </a:r>
            <a:r>
              <a:rPr lang="zh-CN" altLang="en-US"/>
              <a:t>将协作过程定义为一个序列。不再预设图结构，而如同生成文本，一步一步预测</a:t>
            </a:r>
            <a:r>
              <a:rPr lang="en-US" altLang="zh-CN"/>
              <a:t>“</a:t>
            </a:r>
            <a:r>
              <a:rPr lang="zh-CN" altLang="en-US"/>
              <a:t>下一个该哪个</a:t>
            </a:r>
            <a:r>
              <a:rPr lang="en-US" altLang="zh-CN"/>
              <a:t>agent</a:t>
            </a:r>
            <a:r>
              <a:rPr lang="zh-CN" altLang="en-US"/>
              <a:t>主导生成</a:t>
            </a:r>
            <a:r>
              <a:rPr lang="en-US" altLang="zh-CN"/>
              <a:t>”</a:t>
            </a:r>
            <a:r>
              <a:rPr lang="zh-CN" altLang="en-US"/>
              <a:t>（</a:t>
            </a:r>
            <a:r>
              <a:rPr lang="en-US" altLang="zh-CN"/>
              <a:t>Next-Agent Prediction, </a:t>
            </a:r>
            <a:r>
              <a:rPr lang="en-US" altLang="zh-CN" i="1"/>
              <a:t>NAP</a:t>
            </a:r>
            <a:r>
              <a:rPr lang="zh-CN" altLang="en-US"/>
              <a:t>）以及</a:t>
            </a:r>
            <a:r>
              <a:rPr lang="en-US" altLang="zh-CN"/>
              <a:t>“</a:t>
            </a:r>
            <a:r>
              <a:rPr lang="zh-CN" altLang="en-US"/>
              <a:t>这个</a:t>
            </a:r>
            <a:r>
              <a:rPr lang="en-US" altLang="zh-CN"/>
              <a:t>agent</a:t>
            </a:r>
            <a:r>
              <a:rPr lang="zh-CN" altLang="en-US"/>
              <a:t>该</a:t>
            </a:r>
            <a:r>
              <a:rPr lang="zh-CN" altLang="en-US"/>
              <a:t>参考什么历史信息</a:t>
            </a:r>
            <a:r>
              <a:rPr lang="en-US" altLang="zh-CN"/>
              <a:t>”</a:t>
            </a:r>
            <a:r>
              <a:rPr lang="zh-CN" altLang="en-US"/>
              <a:t>（</a:t>
            </a:r>
            <a:r>
              <a:rPr lang="en-US" altLang="zh-CN"/>
              <a:t>Next-Context Selection, </a:t>
            </a:r>
            <a:r>
              <a:rPr lang="en-US" altLang="zh-CN" i="1"/>
              <a:t>NCS</a:t>
            </a:r>
            <a:r>
              <a:rPr lang="zh-CN" altLang="en-US"/>
              <a:t>）</a:t>
            </a:r>
            <a:endParaRPr lang="zh-CN" altLang="en-US"/>
          </a:p>
          <a:p>
            <a:pPr marL="0" indent="0">
              <a:buNone/>
            </a:pPr>
            <a:r>
              <a:rPr lang="en-US" altLang="zh-CN"/>
              <a:t>NAP </a:t>
            </a:r>
            <a:r>
              <a:rPr lang="zh-CN" altLang="en-US"/>
              <a:t>是个</a:t>
            </a:r>
            <a:r>
              <a:rPr lang="en-US" altLang="zh-CN"/>
              <a:t>Router</a:t>
            </a:r>
            <a:r>
              <a:rPr lang="zh-CN" altLang="en-US"/>
              <a:t>，</a:t>
            </a:r>
            <a:r>
              <a:rPr lang="en-US" altLang="zh-CN"/>
              <a:t> </a:t>
            </a:r>
            <a:r>
              <a:rPr lang="zh-CN" altLang="en-US"/>
              <a:t>挑选</a:t>
            </a:r>
            <a:r>
              <a:rPr lang="en-US" altLang="zh-CN"/>
              <a:t>agent</a:t>
            </a:r>
            <a:r>
              <a:rPr lang="zh-CN" altLang="en-US"/>
              <a:t>。</a:t>
            </a:r>
            <a:r>
              <a:rPr lang="en-US" altLang="zh-CN"/>
              <a:t>“Agent”</a:t>
            </a:r>
            <a:r>
              <a:rPr lang="zh-CN" altLang="en-US"/>
              <a:t>是一个</a:t>
            </a:r>
            <a:r>
              <a:rPr lang="en-US" altLang="zh-CN"/>
              <a:t>“</a:t>
            </a:r>
            <a:r>
              <a:rPr lang="zh-CN" altLang="en-US"/>
              <a:t>角色</a:t>
            </a:r>
            <a:r>
              <a:rPr lang="en-US" altLang="zh-CN"/>
              <a:t>”</a:t>
            </a:r>
            <a:r>
              <a:rPr lang="zh-CN" altLang="en-US"/>
              <a:t>或</a:t>
            </a:r>
            <a:r>
              <a:rPr lang="en-US" altLang="zh-CN"/>
              <a:t>“</a:t>
            </a:r>
            <a:r>
              <a:rPr lang="zh-CN" altLang="en-US"/>
              <a:t>技能</a:t>
            </a:r>
            <a:r>
              <a:rPr lang="en-US" altLang="zh-CN"/>
              <a:t>”</a:t>
            </a:r>
            <a:r>
              <a:rPr lang="zh-CN" altLang="en-US"/>
              <a:t>：</a:t>
            </a:r>
            <a:r>
              <a:rPr lang="en-US" altLang="zh-CN"/>
              <a:t>“</a:t>
            </a:r>
            <a:r>
              <a:rPr lang="zh-CN" altLang="en-US"/>
              <a:t>程序员</a:t>
            </a:r>
            <a:r>
              <a:rPr lang="en-US" altLang="zh-CN"/>
              <a:t>”</a:t>
            </a:r>
            <a:r>
              <a:rPr lang="zh-CN" altLang="en-US"/>
              <a:t>、</a:t>
            </a:r>
            <a:r>
              <a:rPr lang="en-US" altLang="zh-CN"/>
              <a:t>“</a:t>
            </a:r>
            <a:r>
              <a:rPr lang="zh-CN" altLang="en-US"/>
              <a:t>数学家</a:t>
            </a:r>
            <a:r>
              <a:rPr lang="en-US" altLang="zh-CN"/>
              <a:t>”</a:t>
            </a:r>
            <a:r>
              <a:rPr lang="zh-CN" altLang="en-US"/>
              <a:t>，</a:t>
            </a:r>
            <a:r>
              <a:rPr lang="en-US" altLang="zh-CN"/>
              <a:t>“</a:t>
            </a:r>
            <a:r>
              <a:rPr lang="zh-CN" altLang="en-US"/>
              <a:t>作家</a:t>
            </a:r>
            <a:r>
              <a:rPr lang="en-US" altLang="zh-CN"/>
              <a:t>”</a:t>
            </a:r>
            <a:r>
              <a:rPr lang="zh-CN" altLang="en-US"/>
              <a:t>，</a:t>
            </a:r>
            <a:r>
              <a:rPr lang="en-US" altLang="zh-CN"/>
              <a:t>...</a:t>
            </a:r>
            <a:endParaRPr lang="en-US" altLang="zh-CN"/>
          </a:p>
          <a:p>
            <a:pPr marL="0" indent="0">
              <a:buNone/>
            </a:pPr>
            <a:r>
              <a:rPr lang="en-US" altLang="zh-CN"/>
              <a:t>NCS </a:t>
            </a:r>
            <a:r>
              <a:rPr lang="zh-CN" altLang="en-US"/>
              <a:t>是个全局注意力机制。选中的</a:t>
            </a:r>
            <a:r>
              <a:rPr lang="en-US" altLang="zh-CN"/>
              <a:t> Agent </a:t>
            </a:r>
            <a:r>
              <a:rPr lang="zh-CN" altLang="en-US"/>
              <a:t>不是只是看上一个</a:t>
            </a:r>
            <a:r>
              <a:rPr lang="en-US" altLang="zh-CN"/>
              <a:t> Agent </a:t>
            </a:r>
            <a:r>
              <a:rPr lang="zh-CN" altLang="en-US"/>
              <a:t>的输出，而可以从之前的任意历史中挑最相关信息作为输入。解决了传统图结构中信息流通受限于已有的，预设的</a:t>
            </a:r>
            <a:r>
              <a:rPr lang="zh-CN" altLang="en-US"/>
              <a:t>固定边的局限</a:t>
            </a:r>
            <a:endParaRPr lang="zh-CN" altLang="en-US"/>
          </a:p>
          <a:p>
            <a:pPr marL="0" indent="0">
              <a:buNone/>
            </a:pPr>
            <a:r>
              <a:rPr lang="en-US" altLang="zh-CN"/>
              <a:t>Reward </a:t>
            </a:r>
            <a:r>
              <a:rPr lang="zh-CN" altLang="en-US"/>
              <a:t>是</a:t>
            </a:r>
            <a:r>
              <a:rPr lang="en-US" altLang="zh-CN"/>
              <a:t>policy gradient</a:t>
            </a:r>
            <a:r>
              <a:rPr lang="zh-CN" altLang="en-US"/>
              <a:t>，</a:t>
            </a:r>
            <a:r>
              <a:rPr lang="en-US" altLang="zh-CN"/>
              <a:t> </a:t>
            </a:r>
            <a:r>
              <a:rPr lang="zh-CN" altLang="en-US"/>
              <a:t>并量度了准确性和效率（即，序列短，</a:t>
            </a:r>
            <a:r>
              <a:rPr lang="en-US" altLang="zh-CN"/>
              <a:t> </a:t>
            </a:r>
            <a:r>
              <a:rPr lang="zh-CN" altLang="en-US"/>
              <a:t>调用</a:t>
            </a:r>
            <a:r>
              <a:rPr lang="en-US" altLang="zh-CN"/>
              <a:t> Agent </a:t>
            </a:r>
            <a:r>
              <a:rPr lang="zh-CN" altLang="en-US"/>
              <a:t>少、</a:t>
            </a:r>
            <a:r>
              <a:rPr lang="en-US" altLang="zh-CN"/>
              <a:t>Context </a:t>
            </a:r>
            <a:r>
              <a:rPr lang="zh-CN" altLang="en-US"/>
              <a:t>选得少，</a:t>
            </a:r>
            <a:r>
              <a:rPr lang="en-US" altLang="zh-CN"/>
              <a:t>Reward </a:t>
            </a:r>
            <a:r>
              <a:rPr lang="zh-CN" altLang="en-US"/>
              <a:t>高）</a:t>
            </a:r>
            <a:endParaRPr lang="zh-CN"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Formulate a new method on BCR</a:t>
            </a:r>
            <a:r>
              <a:rPr lang="zh-CN" altLang="en-US"/>
              <a:t>：</a:t>
            </a:r>
            <a:r>
              <a:rPr lang="en-US" altLang="zh-CN"/>
              <a:t> </a:t>
            </a:r>
            <a:r>
              <a:rPr lang="en-US" altLang="zh-CN" b="1" i="1"/>
              <a:t>ABR</a:t>
            </a:r>
            <a:endParaRPr lang="en-US" altLang="zh-CN" b="1" i="1"/>
          </a:p>
        </p:txBody>
      </p:sp>
      <p:sp>
        <p:nvSpPr>
          <p:cNvPr id="3" name="内容占位符 2"/>
          <p:cNvSpPr>
            <a:spLocks noGrp="1"/>
          </p:cNvSpPr>
          <p:nvPr>
            <p:ph idx="1"/>
            <p:custDataLst>
              <p:tags r:id="rId2"/>
            </p:custDataLst>
          </p:nvPr>
        </p:nvSpPr>
        <p:spPr>
          <a:xfrm>
            <a:off x="608330" y="1490345"/>
            <a:ext cx="10968990" cy="4925695"/>
          </a:xfrm>
        </p:spPr>
        <p:txBody>
          <a:bodyPr/>
          <a:p>
            <a:r>
              <a:rPr lang="en-US" altLang="zh-CN" b="1" i="1"/>
              <a:t>Adaptive Bellman Reasoning (ABR)</a:t>
            </a:r>
            <a:endParaRPr lang="en-US" altLang="zh-CN" b="1" i="1"/>
          </a:p>
          <a:p>
            <a:r>
              <a:rPr lang="zh-CN" altLang="en-US"/>
              <a:t>将价值函数与推理步骤一一</a:t>
            </a:r>
            <a:r>
              <a:rPr lang="zh-CN" altLang="en-US"/>
              <a:t>对应打包，</a:t>
            </a:r>
            <a:r>
              <a:rPr lang="en-US" altLang="zh-CN"/>
              <a:t> </a:t>
            </a:r>
            <a:r>
              <a:rPr lang="zh-CN" altLang="en-US"/>
              <a:t>而不是每个</a:t>
            </a:r>
            <a:r>
              <a:rPr lang="en-US" altLang="zh-CN"/>
              <a:t>token</a:t>
            </a:r>
            <a:r>
              <a:rPr lang="zh-CN" altLang="en-US"/>
              <a:t>上算一次</a:t>
            </a:r>
            <a:endParaRPr lang="en-US" altLang="zh-CN"/>
          </a:p>
          <a:p>
            <a:pPr marL="0" indent="0">
              <a:buNone/>
            </a:pPr>
            <a:r>
              <a:rPr lang="zh-CN" altLang="en-US">
                <a:highlight>
                  <a:srgbClr val="FFFF00"/>
                </a:highlight>
              </a:rPr>
              <a:t>定义：</a:t>
            </a:r>
            <a:endParaRPr lang="zh-CN" altLang="en-US">
              <a:highlight>
                <a:srgbClr val="FFFF00"/>
              </a:highlight>
            </a:endParaRPr>
          </a:p>
          <a:p>
            <a:pPr marL="0" indent="0">
              <a:buNone/>
            </a:pPr>
            <a:r>
              <a:rPr lang="zh-CN" altLang="en-US" b="1"/>
              <a:t>问题</a:t>
            </a:r>
            <a:r>
              <a:rPr lang="en-US" altLang="zh-CN" b="1"/>
              <a:t>Q</a:t>
            </a:r>
            <a:endParaRPr lang="zh-CN" altLang="en-US" b="1"/>
          </a:p>
          <a:p>
            <a:pPr marL="0" indent="0">
              <a:buNone/>
            </a:pPr>
            <a:r>
              <a:rPr lang="zh-CN" altLang="en-US" b="1"/>
              <a:t>推理历史</a:t>
            </a:r>
            <a:r>
              <a:rPr lang="en-US" altLang="zh-CN" b="1"/>
              <a:t>:</a:t>
            </a:r>
            <a:r>
              <a:rPr lang="en-US" altLang="en-US" b="1"/>
              <a:t> </a:t>
            </a:r>
            <a:r>
              <a:rPr lang="en-US" altLang="zh-CN"/>
              <a:t>H&lt;t={(s1,v1),(s2,v2),...,(st−1,vt−1)}</a:t>
            </a:r>
            <a:r>
              <a:rPr lang="zh-CN" altLang="en-US"/>
              <a:t>，其中</a:t>
            </a:r>
            <a:r>
              <a:rPr lang="en-US" altLang="en-US"/>
              <a:t> </a:t>
            </a:r>
            <a:r>
              <a:rPr lang="en-US" altLang="zh-CN"/>
              <a:t>si</a:t>
            </a:r>
            <a:r>
              <a:rPr lang="en-US" altLang="en-US"/>
              <a:t> </a:t>
            </a:r>
            <a:r>
              <a:rPr lang="zh-CN" altLang="en-US"/>
              <a:t>是推理步骤，</a:t>
            </a:r>
            <a:r>
              <a:rPr lang="en-US" altLang="zh-CN"/>
              <a:t>vi</a:t>
            </a:r>
            <a:r>
              <a:rPr lang="zh-CN" altLang="en-US"/>
              <a:t>是对应的价值函数估计</a:t>
            </a:r>
            <a:r>
              <a:rPr lang="en-US" altLang="en-US"/>
              <a:t> </a:t>
            </a:r>
            <a:r>
              <a:rPr lang="en-US" altLang="zh-CN"/>
              <a:t>V</a:t>
            </a:r>
            <a:r>
              <a:rPr lang="en-US" altLang="en-US"/>
              <a:t>ϕ</a:t>
            </a:r>
            <a:r>
              <a:rPr lang="en-US" altLang="zh-CN"/>
              <a:t>(hi</a:t>
            </a:r>
            <a:r>
              <a:rPr lang="zh-CN" altLang="en-US"/>
              <a:t>）</a:t>
            </a:r>
            <a:endParaRPr lang="zh-CN" altLang="en-US"/>
          </a:p>
          <a:p>
            <a:pPr marL="0" indent="0">
              <a:buNone/>
            </a:pPr>
            <a:r>
              <a:rPr lang="zh-CN" altLang="en-US" b="1"/>
              <a:t>动作空间</a:t>
            </a:r>
            <a:r>
              <a:rPr lang="en-US" altLang="zh-CN" b="1"/>
              <a:t>:</a:t>
            </a:r>
            <a:r>
              <a:rPr lang="en-US" altLang="zh-CN"/>
              <a:t> </a:t>
            </a:r>
            <a:r>
              <a:rPr lang="zh-CN" altLang="en-US"/>
              <a:t>定义两类基本动作，类比于</a:t>
            </a:r>
            <a:r>
              <a:rPr lang="en-US" altLang="zh-CN"/>
              <a:t> AnyMAC </a:t>
            </a:r>
            <a:r>
              <a:rPr lang="zh-CN" altLang="en-US"/>
              <a:t>的不同</a:t>
            </a:r>
            <a:r>
              <a:rPr lang="en-US" altLang="zh-CN"/>
              <a:t> Agent </a:t>
            </a:r>
            <a:endParaRPr lang="en-US" altLang="zh-CN"/>
          </a:p>
          <a:p>
            <a:pPr marL="0" indent="0">
              <a:buNone/>
            </a:pPr>
            <a:r>
              <a:rPr lang="en-US" altLang="zh-CN"/>
              <a:t>agen∈Agen​:</a:t>
            </a:r>
            <a:r>
              <a:rPr lang="en-US" altLang="en-US"/>
              <a:t> </a:t>
            </a:r>
            <a:r>
              <a:rPr lang="zh-CN" altLang="en-US"/>
              <a:t>生成动作。正常执行下一步推理，更新价值</a:t>
            </a:r>
            <a:r>
              <a:rPr lang="en-US" altLang="en-US"/>
              <a:t> </a:t>
            </a:r>
            <a:r>
              <a:rPr lang="en-US" altLang="zh-CN"/>
              <a:t>Vt</a:t>
            </a:r>
            <a:r>
              <a:rPr lang="zh-CN" altLang="en-US"/>
              <a:t>。</a:t>
            </a:r>
            <a:endParaRPr lang="zh-CN" altLang="en-US"/>
          </a:p>
          <a:p>
            <a:pPr marL="0" indent="0">
              <a:buNone/>
            </a:pPr>
            <a:r>
              <a:rPr lang="en-US" altLang="zh-CN"/>
              <a:t>aver∈Aver​:</a:t>
            </a:r>
            <a:r>
              <a:rPr lang="en-US" altLang="en-US"/>
              <a:t> </a:t>
            </a:r>
            <a:r>
              <a:rPr lang="zh-CN" altLang="en-US"/>
              <a:t>验证动作。暂停生成，执行</a:t>
            </a:r>
            <a:r>
              <a:rPr lang="en-US" altLang="zh-CN"/>
              <a:t> Bellman </a:t>
            </a:r>
            <a:r>
              <a:rPr lang="zh-CN" altLang="en-US"/>
              <a:t>一致性检查，对隐藏状态进行正则化。</a:t>
            </a:r>
            <a:endParaRPr lang="zh-CN" altLang="en-US"/>
          </a:p>
          <a:p>
            <a:pPr marL="0" indent="0">
              <a:buNone/>
            </a:pPr>
            <a:r>
              <a:rPr lang="en-US" altLang="zh-CN"/>
              <a:t>afin​:</a:t>
            </a:r>
            <a:r>
              <a:rPr lang="en-US" altLang="en-US"/>
              <a:t> </a:t>
            </a:r>
            <a:r>
              <a:rPr lang="zh-CN" altLang="en-US"/>
              <a:t>终结动作。输出最终答案。</a:t>
            </a:r>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b="1">
                <a:sym typeface="+mn-ea"/>
              </a:rPr>
              <a:t> Next-Reasoning-Action Prediction (NRAP)</a:t>
            </a:r>
            <a:endParaRPr lang="zh-CN" altLang="en-US"/>
          </a:p>
        </p:txBody>
      </p:sp>
      <p:sp>
        <p:nvSpPr>
          <p:cNvPr id="3" name="内容占位符 2"/>
          <p:cNvSpPr>
            <a:spLocks noGrp="1"/>
          </p:cNvSpPr>
          <p:nvPr>
            <p:ph idx="1"/>
            <p:custDataLst>
              <p:tags r:id="rId2"/>
            </p:custDataLst>
          </p:nvPr>
        </p:nvSpPr>
        <p:spPr/>
        <p:txBody>
          <a:bodyPr/>
          <a:p>
            <a:r>
              <a:rPr lang="zh-CN" altLang="en-US"/>
              <a:t>将推理过程建模为一个动作序列的预测问题：</a:t>
            </a:r>
            <a:endParaRPr lang="zh-CN" altLang="en-US"/>
          </a:p>
          <a:p>
            <a:pPr marL="0" indent="0">
              <a:buNone/>
            </a:pPr>
            <a:r>
              <a:rPr lang="en-US" altLang="zh-CN"/>
              <a:t>τ=[a1,a2,...,aT]</a:t>
            </a:r>
            <a:r>
              <a:rPr lang="zh-CN" altLang="en-US"/>
              <a:t>，在每个时刻</a:t>
            </a:r>
            <a:r>
              <a:rPr lang="en-US" altLang="zh-CN"/>
              <a:t>t</a:t>
            </a:r>
            <a:r>
              <a:rPr lang="zh-CN" altLang="en-US"/>
              <a:t>，给定状态</a:t>
            </a:r>
            <a:r>
              <a:rPr lang="en-US" altLang="zh-CN"/>
              <a:t>St={Q,H&lt;t}</a:t>
            </a:r>
            <a:r>
              <a:rPr lang="zh-CN" altLang="en-US"/>
              <a:t>，目标：预测最优动作</a:t>
            </a:r>
            <a:r>
              <a:rPr lang="en-US" altLang="zh-CN"/>
              <a:t>at</a:t>
            </a:r>
            <a:endParaRPr lang="en-US" altLang="zh-CN"/>
          </a:p>
          <a:p>
            <a:pPr marL="0" indent="0">
              <a:buNone/>
            </a:pPr>
            <a:endParaRPr lang="en-US" altLang="zh-CN"/>
          </a:p>
          <a:p>
            <a:pPr marL="0" indent="0">
              <a:buNone/>
            </a:pPr>
            <a:r>
              <a:rPr lang="en-US" altLang="zh-CN"/>
              <a:t>proposed method </a:t>
            </a:r>
            <a:r>
              <a:rPr lang="zh-CN" altLang="en-US"/>
              <a:t>（</a:t>
            </a:r>
            <a:r>
              <a:rPr lang="en-US" altLang="zh-CN"/>
              <a:t>prototype</a:t>
            </a:r>
            <a:r>
              <a:rPr lang="zh-CN" altLang="en-US"/>
              <a:t>）</a:t>
            </a:r>
            <a:r>
              <a:rPr lang="en-US" altLang="zh-CN"/>
              <a:t>1</a:t>
            </a:r>
            <a:r>
              <a:rPr lang="zh-CN" altLang="en-US"/>
              <a:t>：</a:t>
            </a:r>
            <a:r>
              <a:rPr lang="en-US" altLang="zh-CN" b="1"/>
              <a:t> Next-Reasoning-Action Prediction (NRAP)</a:t>
            </a:r>
            <a:r>
              <a:rPr lang="zh-CN" altLang="en-US"/>
              <a:t>：</a:t>
            </a:r>
            <a:endParaRPr lang="zh-CN" altLang="en-US"/>
          </a:p>
          <a:p>
            <a:pPr marL="0" indent="0">
              <a:buNone/>
            </a:pPr>
            <a:r>
              <a:rPr lang="en-US" altLang="zh-CN" i="1"/>
              <a:t> * inspired by NAP</a:t>
            </a:r>
            <a:endParaRPr lang="en-US" altLang="zh-CN" i="1"/>
          </a:p>
          <a:p>
            <a:pPr marL="0" indent="0">
              <a:buNone/>
            </a:pPr>
            <a:r>
              <a:rPr lang="en-US" altLang="zh-CN"/>
              <a:t>AnyMAC NAP </a:t>
            </a:r>
            <a:r>
              <a:rPr lang="zh-CN" altLang="en-US"/>
              <a:t>：预测</a:t>
            </a:r>
            <a:r>
              <a:rPr lang="en-US" altLang="zh-CN"/>
              <a:t>agent</a:t>
            </a:r>
            <a:r>
              <a:rPr lang="zh-CN" altLang="en-US"/>
              <a:t>，如</a:t>
            </a:r>
            <a:r>
              <a:rPr lang="en-US" altLang="zh-CN"/>
              <a:t>math</a:t>
            </a:r>
            <a:r>
              <a:rPr lang="zh-CN" altLang="en-US"/>
              <a:t>模式，</a:t>
            </a:r>
            <a:r>
              <a:rPr lang="en-US" altLang="zh-CN"/>
              <a:t> code</a:t>
            </a:r>
            <a:r>
              <a:rPr lang="zh-CN" altLang="en-US"/>
              <a:t>模式，</a:t>
            </a:r>
            <a:r>
              <a:rPr lang="en-US" altLang="zh-CN"/>
              <a:t>writing</a:t>
            </a:r>
            <a:r>
              <a:rPr lang="zh-CN" altLang="en-US"/>
              <a:t>模式</a:t>
            </a:r>
            <a:endParaRPr lang="zh-CN" altLang="en-US"/>
          </a:p>
          <a:p>
            <a:pPr marL="0" indent="0">
              <a:buNone/>
            </a:pPr>
            <a:r>
              <a:rPr lang="en-US" altLang="zh-CN"/>
              <a:t>==</a:t>
            </a:r>
            <a:r>
              <a:rPr lang="zh-CN" altLang="en-US"/>
              <a:t>》</a:t>
            </a:r>
            <a:r>
              <a:rPr lang="en-US" altLang="zh-CN" b="1">
                <a:highlight>
                  <a:srgbClr val="FFFF00"/>
                </a:highlight>
              </a:rPr>
              <a:t> NRAP</a:t>
            </a:r>
            <a:r>
              <a:rPr lang="zh-CN" altLang="en-US" b="1">
                <a:highlight>
                  <a:srgbClr val="FFFF00"/>
                </a:highlight>
              </a:rPr>
              <a:t>，预测：</a:t>
            </a:r>
            <a:r>
              <a:rPr lang="en-US" altLang="zh-CN" b="1">
                <a:highlight>
                  <a:srgbClr val="FFFF00"/>
                </a:highlight>
              </a:rPr>
              <a:t> </a:t>
            </a:r>
            <a:r>
              <a:rPr lang="zh-CN" altLang="en-US" b="1">
                <a:highlight>
                  <a:srgbClr val="FFFF00"/>
                </a:highlight>
              </a:rPr>
              <a:t>继续生成</a:t>
            </a:r>
            <a:r>
              <a:rPr lang="en-US" altLang="zh-CN" b="1">
                <a:highlight>
                  <a:srgbClr val="FFFF00"/>
                </a:highlight>
              </a:rPr>
              <a:t> or </a:t>
            </a:r>
            <a:r>
              <a:rPr lang="zh-CN" altLang="en-US" b="1">
                <a:highlight>
                  <a:srgbClr val="FFFF00"/>
                </a:highlight>
              </a:rPr>
              <a:t>停下来检查</a:t>
            </a:r>
            <a:endParaRPr lang="en-US" altLang="zh-CN" b="1">
              <a:highlight>
                <a:srgbClr val="FFFF00"/>
              </a:highlight>
            </a:endParaRPr>
          </a:p>
          <a:p>
            <a:pPr marL="0" indent="0">
              <a:buNone/>
            </a:pPr>
            <a:endParaRPr lang="en-US" altLang="zh-CN" b="1">
              <a:highlight>
                <a:srgbClr val="FFFF00"/>
              </a:highlight>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b="1">
                <a:sym typeface="+mn-ea"/>
              </a:rPr>
              <a:t> Next-Reasoning-Action Prediction (NRAP)</a:t>
            </a:r>
            <a:endParaRPr lang="zh-CN" altLang="en-US"/>
          </a:p>
        </p:txBody>
      </p:sp>
      <p:sp>
        <p:nvSpPr>
          <p:cNvPr id="3" name="内容占位符 2"/>
          <p:cNvSpPr>
            <a:spLocks noGrp="1"/>
          </p:cNvSpPr>
          <p:nvPr>
            <p:ph idx="1"/>
            <p:custDataLst>
              <p:tags r:id="rId2"/>
            </p:custDataLst>
          </p:nvPr>
        </p:nvSpPr>
        <p:spPr/>
        <p:txBody>
          <a:bodyPr>
            <a:normAutofit lnSpcReduction="20000"/>
          </a:bodyPr>
          <a:p>
            <a:r>
              <a:rPr lang="zh-CN" altLang="en-US"/>
              <a:t>挑选一个</a:t>
            </a:r>
            <a:r>
              <a:rPr lang="zh-CN" altLang="en-US" b="1"/>
              <a:t>轻量级</a:t>
            </a:r>
            <a:r>
              <a:rPr lang="en-US" altLang="zh-CN" b="1"/>
              <a:t> Router</a:t>
            </a:r>
            <a:r>
              <a:rPr lang="zh-CN" altLang="en-US"/>
              <a:t>（</a:t>
            </a:r>
            <a:r>
              <a:rPr lang="en-US" altLang="zh-CN"/>
              <a:t>Transformer Encoder?</a:t>
            </a:r>
            <a:r>
              <a:rPr lang="zh-CN" altLang="en-US"/>
              <a:t>）结合历史与问题，对当前状态编码：</a:t>
            </a:r>
            <a:endParaRPr lang="zh-CN" altLang="en-US"/>
          </a:p>
          <a:p>
            <a:pPr marL="0" indent="0">
              <a:buNone/>
            </a:pPr>
            <a:r>
              <a:rPr lang="en-US" altLang="zh-CN"/>
              <a:t>e_t=Router(Q,Flatten(H&lt;t))</a:t>
            </a:r>
            <a:endParaRPr lang="en-US" altLang="zh-CN"/>
          </a:p>
          <a:p>
            <a:pPr marL="0" indent="0">
              <a:buNone/>
            </a:pPr>
            <a:endParaRPr lang="en-US" altLang="zh-CN"/>
          </a:p>
          <a:p>
            <a:r>
              <a:rPr lang="zh-CN" altLang="en-US"/>
              <a:t>引入两个</a:t>
            </a:r>
            <a:r>
              <a:rPr lang="zh-CN" altLang="en-US" b="1" i="1"/>
              <a:t>可学习的</a:t>
            </a:r>
            <a:r>
              <a:rPr lang="en-US" altLang="zh-CN" b="1" i="1"/>
              <a:t> Token </a:t>
            </a:r>
            <a:r>
              <a:rPr lang="zh-CN" altLang="en-US" b="1" i="1"/>
              <a:t>向量</a:t>
            </a:r>
            <a:r>
              <a:rPr lang="zh-CN" altLang="en-US"/>
              <a:t>：</a:t>
            </a:r>
            <a:r>
              <a:rPr lang="en-US" altLang="zh-CN"/>
              <a:t>t_gen</a:t>
            </a:r>
            <a:r>
              <a:rPr lang="zh-CN" altLang="en-US"/>
              <a:t>和</a:t>
            </a:r>
            <a:r>
              <a:rPr lang="en-US" altLang="zh-CN"/>
              <a:t>t_ver</a:t>
            </a:r>
            <a:r>
              <a:rPr lang="zh-CN" altLang="en-US"/>
              <a:t>。</a:t>
            </a:r>
            <a:endParaRPr lang="zh-CN" altLang="en-US"/>
          </a:p>
          <a:p>
            <a:pPr marL="0" indent="0">
              <a:buNone/>
            </a:pPr>
            <a:r>
              <a:rPr lang="en-US" altLang="zh-CN" b="1"/>
              <a:t>gen </a:t>
            </a:r>
            <a:r>
              <a:rPr lang="en-US" altLang="zh-CN"/>
              <a:t>= generate</a:t>
            </a:r>
            <a:r>
              <a:rPr lang="zh-CN" altLang="en-US"/>
              <a:t>，表示指示该</a:t>
            </a:r>
            <a:r>
              <a:rPr lang="zh-CN" altLang="en-US" b="1"/>
              <a:t>继续生成</a:t>
            </a:r>
            <a:r>
              <a:rPr lang="zh-CN" altLang="en-US"/>
              <a:t>；</a:t>
            </a:r>
            <a:r>
              <a:rPr lang="en-US" altLang="zh-CN" b="1"/>
              <a:t>ver </a:t>
            </a:r>
            <a:r>
              <a:rPr lang="en-US" altLang="zh-CN"/>
              <a:t>= verify</a:t>
            </a:r>
            <a:r>
              <a:rPr lang="zh-CN" altLang="en-US"/>
              <a:t>，</a:t>
            </a:r>
            <a:r>
              <a:rPr lang="en-US" altLang="zh-CN"/>
              <a:t> </a:t>
            </a:r>
            <a:r>
              <a:rPr lang="zh-CN" altLang="en-US"/>
              <a:t>表示该停下来检查</a:t>
            </a:r>
            <a:endParaRPr lang="zh-CN" altLang="en-US"/>
          </a:p>
          <a:p>
            <a:endParaRPr lang="zh-CN" altLang="en-US"/>
          </a:p>
          <a:p>
            <a:r>
              <a:rPr lang="en-US" altLang="zh-CN"/>
              <a:t>然后进行一个</a:t>
            </a:r>
            <a:r>
              <a:rPr lang="en-US" altLang="zh-CN" b="1"/>
              <a:t>打分</a:t>
            </a:r>
            <a:r>
              <a:rPr lang="en-US" altLang="zh-CN"/>
              <a:t>步骤:</a:t>
            </a:r>
            <a:endParaRPr lang="en-US" altLang="zh-CN"/>
          </a:p>
          <a:p>
            <a:pPr marL="0" indent="0">
              <a:buNone/>
            </a:pPr>
            <a:r>
              <a:rPr lang="en-US" altLang="zh-CN"/>
              <a:t>计算状态向量与动作向量的</a:t>
            </a:r>
            <a:r>
              <a:rPr lang="en-US" altLang="zh-CN" b="1" i="1"/>
              <a:t>相似度</a:t>
            </a:r>
            <a:r>
              <a:rPr lang="en-US" altLang="zh-CN"/>
              <a:t>：</a:t>
            </a:r>
            <a:endParaRPr lang="en-US" altLang="zh-CN"/>
          </a:p>
          <a:p>
            <a:pPr marL="0" indent="0">
              <a:buNone/>
            </a:pPr>
            <a:r>
              <a:rPr lang="en-US" altLang="zh-CN"/>
              <a:t>score_gen=</a:t>
            </a:r>
            <a:r>
              <a:rPr lang="en-US" altLang="en-US"/>
              <a:t>⟨</a:t>
            </a:r>
            <a:r>
              <a:rPr lang="en-US" altLang="zh-CN"/>
              <a:t>e_t,t_gen</a:t>
            </a:r>
            <a:r>
              <a:rPr lang="en-US" altLang="en-US"/>
              <a:t>⟩</a:t>
            </a:r>
            <a:endParaRPr lang="en-US" altLang="en-US"/>
          </a:p>
          <a:p>
            <a:pPr marL="0" indent="0">
              <a:buNone/>
            </a:pPr>
            <a:r>
              <a:rPr lang="en-US" altLang="zh-CN"/>
              <a:t>Score_ver=</a:t>
            </a:r>
            <a:r>
              <a:rPr lang="en-US" altLang="en-US"/>
              <a:t>⟨</a:t>
            </a:r>
            <a:r>
              <a:rPr lang="en-US" altLang="zh-CN"/>
              <a:t>e_t,t_ver</a:t>
            </a:r>
            <a:r>
              <a:rPr lang="en-US" altLang="en-US"/>
              <a:t>⟩</a:t>
            </a:r>
            <a:endParaRPr lang="en-US" altLang="en-US"/>
          </a:p>
        </p:txBody>
      </p:sp>
      <p:sp>
        <p:nvSpPr>
          <p:cNvPr id="4" name="文本框 3"/>
          <p:cNvSpPr txBox="1"/>
          <p:nvPr/>
        </p:nvSpPr>
        <p:spPr>
          <a:xfrm>
            <a:off x="5414645" y="4589780"/>
            <a:ext cx="6065520" cy="1270635"/>
          </a:xfrm>
          <a:prstGeom prst="rect">
            <a:avLst/>
          </a:prstGeom>
          <a:noFill/>
        </p:spPr>
        <p:txBody>
          <a:bodyPr wrap="square" rtlCol="0">
            <a:noAutofit/>
          </a:bodyPr>
          <a:p>
            <a:r>
              <a:rPr lang="zh-CN" altLang="en-US">
                <a:latin typeface="微软雅黑" panose="020B0503020204020204" charset="-122"/>
                <a:ea typeface="微软雅黑" panose="020B0503020204020204" charset="-122"/>
                <a:cs typeface="微软雅黑" panose="020B0503020204020204" charset="-122"/>
              </a:rPr>
              <a:t>决策</a:t>
            </a:r>
            <a:r>
              <a:rPr lang="en-US" altLang="zh-CN">
                <a:latin typeface="微软雅黑" panose="020B0503020204020204" charset="-122"/>
                <a:ea typeface="微软雅黑" panose="020B0503020204020204" charset="-122"/>
                <a:cs typeface="微软雅黑" panose="020B0503020204020204" charset="-122"/>
              </a:rPr>
              <a:t>:</a:t>
            </a:r>
            <a:endParaRPr lang="en-US" altLang="zh-CN">
              <a:latin typeface="微软雅黑" panose="020B0503020204020204" charset="-122"/>
              <a:ea typeface="微软雅黑" panose="020B0503020204020204" charset="-122"/>
              <a:cs typeface="微软雅黑" panose="020B0503020204020204" charset="-122"/>
            </a:endParaRPr>
          </a:p>
          <a:p>
            <a:r>
              <a:rPr lang="en-US" altLang="zh-CN">
                <a:latin typeface="微软雅黑" panose="020B0503020204020204" charset="-122"/>
                <a:ea typeface="微软雅黑" panose="020B0503020204020204" charset="-122"/>
                <a:cs typeface="微软雅黑" panose="020B0503020204020204" charset="-122"/>
              </a:rPr>
              <a:t>a_t = a_gen,  if</a:t>
            </a:r>
            <a:r>
              <a:rPr lang="en-US" altLang="en-US">
                <a:latin typeface="微软雅黑" panose="020B0503020204020204" charset="-122"/>
                <a:ea typeface="微软雅黑" panose="020B0503020204020204" charset="-122"/>
                <a:cs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rPr>
              <a:t>score_gen &gt; score_ver+τ</a:t>
            </a:r>
            <a:endParaRPr lang="en-US" altLang="zh-CN">
              <a:latin typeface="微软雅黑" panose="020B0503020204020204" charset="-122"/>
              <a:ea typeface="微软雅黑" panose="020B0503020204020204" charset="-122"/>
              <a:cs typeface="微软雅黑" panose="020B0503020204020204" charset="-122"/>
            </a:endParaRPr>
          </a:p>
          <a:p>
            <a:endParaRPr lang="en-US" altLang="zh-CN">
              <a:latin typeface="微软雅黑" panose="020B0503020204020204" charset="-122"/>
              <a:ea typeface="微软雅黑" panose="020B0503020204020204" charset="-122"/>
              <a:cs typeface="微软雅黑" panose="020B0503020204020204" charset="-122"/>
            </a:endParaRPr>
          </a:p>
          <a:p>
            <a:r>
              <a:rPr lang="en-US" altLang="zh-CN">
                <a:latin typeface="微软雅黑" panose="020B0503020204020204" charset="-122"/>
                <a:ea typeface="微软雅黑" panose="020B0503020204020204" charset="-122"/>
                <a:cs typeface="微软雅黑" panose="020B0503020204020204" charset="-122"/>
              </a:rPr>
              <a:t>Otherwise, a_t = a_ver </a:t>
            </a:r>
            <a:r>
              <a:rPr lang="zh-CN" altLang="en-US">
                <a:latin typeface="微软雅黑" panose="020B0503020204020204" charset="-122"/>
                <a:ea typeface="微软雅黑" panose="020B0503020204020204" charset="-122"/>
                <a:cs typeface="微软雅黑" panose="020B0503020204020204" charset="-122"/>
              </a:rPr>
              <a:t>其中</a:t>
            </a:r>
            <a:r>
              <a:rPr lang="en-US" altLang="zh-CN">
                <a:latin typeface="微软雅黑" panose="020B0503020204020204" charset="-122"/>
                <a:ea typeface="微软雅黑" panose="020B0503020204020204" charset="-122"/>
                <a:cs typeface="微软雅黑" panose="020B0503020204020204" charset="-122"/>
              </a:rPr>
              <a:t>, τ</a:t>
            </a:r>
            <a:r>
              <a:rPr lang="zh-CN" altLang="en-US">
                <a:latin typeface="微软雅黑" panose="020B0503020204020204" charset="-122"/>
                <a:ea typeface="微软雅黑" panose="020B0503020204020204" charset="-122"/>
                <a:cs typeface="微软雅黑" panose="020B0503020204020204" charset="-122"/>
              </a:rPr>
              <a:t>是可调整</a:t>
            </a:r>
            <a:r>
              <a:rPr lang="zh-CN" altLang="en-US">
                <a:latin typeface="微软雅黑" panose="020B0503020204020204" charset="-122"/>
                <a:ea typeface="微软雅黑" panose="020B0503020204020204" charset="-122"/>
                <a:cs typeface="微软雅黑" panose="020B0503020204020204" charset="-122"/>
              </a:rPr>
              <a:t>的探索噪声</a:t>
            </a:r>
            <a:endParaRPr lang="zh-CN" altLang="en-US">
              <a:latin typeface="微软雅黑" panose="020B0503020204020204" charset="-122"/>
              <a:ea typeface="微软雅黑" panose="020B0503020204020204" charset="-122"/>
              <a:cs typeface="微软雅黑" panose="020B0503020204020204" charset="-122"/>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b="1">
                <a:sym typeface="+mn-ea"/>
              </a:rPr>
              <a:t>Target-Step Selection (TSS) </a:t>
            </a:r>
            <a:endParaRPr lang="zh-CN" altLang="en-US"/>
          </a:p>
        </p:txBody>
      </p:sp>
      <p:sp>
        <p:nvSpPr>
          <p:cNvPr id="3" name="内容占位符 2"/>
          <p:cNvSpPr>
            <a:spLocks noGrp="1"/>
          </p:cNvSpPr>
          <p:nvPr>
            <p:ph idx="1"/>
            <p:custDataLst>
              <p:tags r:id="rId2"/>
            </p:custDataLst>
          </p:nvPr>
        </p:nvSpPr>
        <p:spPr/>
        <p:txBody>
          <a:bodyPr>
            <a:normAutofit/>
          </a:bodyPr>
          <a:p>
            <a:r>
              <a:rPr lang="en-US" altLang="zh-CN">
                <a:sym typeface="+mn-ea"/>
              </a:rPr>
              <a:t>proposed method </a:t>
            </a:r>
            <a:r>
              <a:rPr lang="zh-CN" altLang="en-US">
                <a:sym typeface="+mn-ea"/>
              </a:rPr>
              <a:t>（</a:t>
            </a:r>
            <a:r>
              <a:rPr lang="en-US" altLang="zh-CN">
                <a:sym typeface="+mn-ea"/>
              </a:rPr>
              <a:t>prototype</a:t>
            </a:r>
            <a:r>
              <a:rPr lang="zh-CN" altLang="en-US">
                <a:sym typeface="+mn-ea"/>
              </a:rPr>
              <a:t>）</a:t>
            </a:r>
            <a:r>
              <a:rPr lang="en-US" altLang="zh-CN">
                <a:sym typeface="+mn-ea"/>
              </a:rPr>
              <a:t>2</a:t>
            </a:r>
            <a:r>
              <a:rPr lang="zh-CN" altLang="en-US">
                <a:sym typeface="+mn-ea"/>
              </a:rPr>
              <a:t>：</a:t>
            </a:r>
            <a:r>
              <a:rPr lang="en-US" altLang="zh-CN" b="1">
                <a:highlight>
                  <a:srgbClr val="FFFF00"/>
                </a:highlight>
              </a:rPr>
              <a:t>Target-Step Selection (TSS)</a:t>
            </a:r>
            <a:endParaRPr lang="en-US" altLang="zh-CN" b="1">
              <a:highlight>
                <a:srgbClr val="FFFF00"/>
              </a:highlight>
            </a:endParaRPr>
          </a:p>
          <a:p>
            <a:pPr marL="0" indent="0">
              <a:buNone/>
            </a:pPr>
            <a:r>
              <a:rPr lang="en-US" altLang="zh-CN" i="1">
                <a:sym typeface="+mn-ea"/>
              </a:rPr>
              <a:t>Inspired by  AnyMAC’</a:t>
            </a:r>
            <a:r>
              <a:rPr lang="en-US" altLang="zh-CN" i="1">
                <a:sym typeface="+mn-ea"/>
              </a:rPr>
              <a:t>s NCS</a:t>
            </a:r>
            <a:endParaRPr lang="en-US" altLang="zh-CN" b="1" i="1"/>
          </a:p>
          <a:p>
            <a:pPr marL="0" indent="0">
              <a:buNone/>
            </a:pPr>
            <a:r>
              <a:rPr lang="en-US" altLang="zh-CN" b="1"/>
              <a:t> Motivation</a:t>
            </a:r>
            <a:r>
              <a:rPr lang="zh-CN" altLang="en-US" b="1"/>
              <a:t>：</a:t>
            </a:r>
            <a:r>
              <a:rPr lang="en-US" altLang="zh-CN" b="1"/>
              <a:t> </a:t>
            </a:r>
            <a:r>
              <a:rPr lang="en-US" altLang="zh-CN"/>
              <a:t>BCR </a:t>
            </a:r>
            <a:r>
              <a:rPr lang="zh-CN" altLang="en-US"/>
              <a:t>只比较相邻时间步（</a:t>
            </a:r>
            <a:r>
              <a:rPr lang="en-US" altLang="zh-CN"/>
              <a:t>t</a:t>
            </a:r>
            <a:r>
              <a:rPr lang="zh-CN" altLang="en-US"/>
              <a:t>和</a:t>
            </a:r>
            <a:r>
              <a:rPr lang="en-US" altLang="en-US"/>
              <a:t> </a:t>
            </a:r>
            <a:r>
              <a:rPr lang="en-US" altLang="zh-CN"/>
              <a:t>t+1</a:t>
            </a:r>
            <a:r>
              <a:rPr lang="zh-CN" altLang="en-US"/>
              <a:t>）。但</a:t>
            </a:r>
            <a:r>
              <a:rPr lang="zh-CN" altLang="en-US" i="1"/>
              <a:t>逻辑错误往往发生在长距离上</a:t>
            </a:r>
            <a:r>
              <a:rPr lang="zh-CN" altLang="en-US"/>
              <a:t>，你逐时间步检查每个</a:t>
            </a:r>
            <a:r>
              <a:rPr lang="en-US" altLang="zh-CN"/>
              <a:t>token</a:t>
            </a:r>
            <a:r>
              <a:rPr lang="zh-CN" altLang="en-US"/>
              <a:t>反而不容易看得很清楚。检查每个</a:t>
            </a:r>
            <a:r>
              <a:rPr lang="en-US" altLang="zh-CN"/>
              <a:t>step</a:t>
            </a:r>
            <a:r>
              <a:rPr lang="zh-CN" altLang="en-US"/>
              <a:t>会好一些，</a:t>
            </a:r>
            <a:r>
              <a:rPr lang="en-US" altLang="zh-CN"/>
              <a:t> </a:t>
            </a:r>
            <a:r>
              <a:rPr lang="zh-CN" altLang="en-US"/>
              <a:t>因为</a:t>
            </a:r>
            <a:r>
              <a:rPr lang="en-US" altLang="zh-CN"/>
              <a:t>step</a:t>
            </a:r>
            <a:r>
              <a:rPr lang="zh-CN" altLang="en-US"/>
              <a:t>长度已经比</a:t>
            </a:r>
            <a:r>
              <a:rPr lang="en-US" altLang="zh-CN"/>
              <a:t>token</a:t>
            </a:r>
            <a:r>
              <a:rPr lang="zh-CN" altLang="en-US"/>
              <a:t>大了一个量级，</a:t>
            </a:r>
            <a:r>
              <a:rPr lang="en-US" altLang="zh-CN"/>
              <a:t> </a:t>
            </a:r>
            <a:r>
              <a:rPr lang="zh-CN" altLang="en-US"/>
              <a:t>看得到有明显的变化。</a:t>
            </a:r>
            <a:r>
              <a:rPr lang="en-US" altLang="zh-CN"/>
              <a:t> </a:t>
            </a:r>
            <a:r>
              <a:rPr lang="zh-CN" altLang="en-US"/>
              <a:t>但，</a:t>
            </a:r>
            <a:r>
              <a:rPr lang="en-US" altLang="zh-CN"/>
              <a:t> </a:t>
            </a:r>
            <a:r>
              <a:rPr lang="zh-CN" altLang="en-US"/>
              <a:t>为何不妨允许模型看到所有历史</a:t>
            </a:r>
            <a:r>
              <a:rPr lang="en-US" altLang="zh-CN"/>
              <a:t>step</a:t>
            </a:r>
            <a:r>
              <a:rPr lang="zh-CN" altLang="en-US"/>
              <a:t>而不是单个</a:t>
            </a:r>
            <a:r>
              <a:rPr lang="en-US" altLang="zh-CN"/>
              <a:t>step</a:t>
            </a:r>
            <a:r>
              <a:rPr lang="zh-CN" altLang="en-US"/>
              <a:t>呢？</a:t>
            </a:r>
            <a:r>
              <a:rPr lang="zh-CN" altLang="en-US" i="1"/>
              <a:t>有些推理错误可能依存的事实或概念关系不仅仅在上一个推理步上，</a:t>
            </a:r>
            <a:r>
              <a:rPr lang="en-US" altLang="zh-CN" i="1"/>
              <a:t> </a:t>
            </a:r>
            <a:r>
              <a:rPr lang="zh-CN" altLang="en-US" i="1"/>
              <a:t>而是在更早</a:t>
            </a:r>
            <a:r>
              <a:rPr lang="zh-CN" altLang="en-US"/>
              <a:t>。</a:t>
            </a:r>
            <a:r>
              <a:rPr lang="en-US" altLang="zh-CN"/>
              <a:t>TSS </a:t>
            </a:r>
            <a:r>
              <a:rPr lang="zh-CN" altLang="en-US"/>
              <a:t>允许模型</a:t>
            </a:r>
            <a:r>
              <a:rPr lang="zh-CN" altLang="en-US" b="1"/>
              <a:t>回溯检查整个步骤</a:t>
            </a:r>
            <a:r>
              <a:rPr lang="en-US" altLang="zh-CN" b="1"/>
              <a:t>(</a:t>
            </a:r>
            <a:r>
              <a:rPr lang="zh-CN" altLang="en-US" b="1"/>
              <a:t>而不是</a:t>
            </a:r>
            <a:r>
              <a:rPr lang="zh-CN" altLang="en-US" b="1"/>
              <a:t>仅上个步骤）</a:t>
            </a:r>
            <a:endParaRPr lang="zh-CN" altLang="en-US"/>
          </a:p>
          <a:p>
            <a:pPr marL="0" indent="0">
              <a:buNone/>
            </a:pPr>
            <a:r>
              <a:rPr lang="zh-CN" altLang="en-US"/>
              <a:t>当模型在</a:t>
            </a:r>
            <a:r>
              <a:rPr lang="en-US" altLang="zh-CN" b="1">
                <a:sym typeface="+mn-ea"/>
              </a:rPr>
              <a:t>Next-Reasoning-Action Prediction (NRAP)</a:t>
            </a:r>
            <a:r>
              <a:rPr lang="zh-CN" altLang="en-US" b="1">
                <a:sym typeface="+mn-ea"/>
              </a:rPr>
              <a:t>阶段</a:t>
            </a:r>
            <a:r>
              <a:rPr lang="zh-CN" altLang="en-US"/>
              <a:t>选择执行验证动作</a:t>
            </a:r>
            <a:r>
              <a:rPr lang="en-US" altLang="zh-CN"/>
              <a:t> a_ver​</a:t>
            </a:r>
            <a:r>
              <a:rPr lang="zh-CN" altLang="en-US"/>
              <a:t>时，接下来，</a:t>
            </a:r>
            <a:r>
              <a:rPr lang="en-US" altLang="zh-CN"/>
              <a:t> </a:t>
            </a:r>
            <a:r>
              <a:rPr lang="zh-CN" altLang="en-US"/>
              <a:t>它需要决定基于哪个历史步骤计算</a:t>
            </a:r>
            <a:r>
              <a:rPr lang="en-US" altLang="zh-CN"/>
              <a:t> Bellman Error</a:t>
            </a:r>
            <a:r>
              <a:rPr lang="zh-CN" altLang="en-US"/>
              <a:t>。于是，</a:t>
            </a:r>
            <a:r>
              <a:rPr lang="en-US" altLang="zh-CN"/>
              <a:t> </a:t>
            </a:r>
            <a:r>
              <a:rPr lang="zh-CN" altLang="en-US"/>
              <a:t>我们这样做：</a:t>
            </a:r>
            <a:endParaRPr lang="zh-CN" altLang="en-US"/>
          </a:p>
          <a:p>
            <a:pPr marL="0" indent="0">
              <a:buNone/>
            </a:pPr>
            <a:r>
              <a:rPr lang="zh-CN" altLang="en-US" i="1">
                <a:sym typeface="+mn-ea"/>
              </a:rPr>
              <a:t>计算</a:t>
            </a:r>
            <a:r>
              <a:rPr lang="en-US" altLang="zh-CN" i="1">
                <a:sym typeface="+mn-ea"/>
              </a:rPr>
              <a:t> Router </a:t>
            </a:r>
            <a:r>
              <a:rPr lang="zh-CN" altLang="en-US" i="1">
                <a:sym typeface="+mn-ea"/>
              </a:rPr>
              <a:t>输出</a:t>
            </a:r>
            <a:r>
              <a:rPr lang="en-US" altLang="en-US" i="1">
                <a:sym typeface="+mn-ea"/>
              </a:rPr>
              <a:t> </a:t>
            </a:r>
            <a:r>
              <a:rPr lang="en-US" altLang="zh-CN" i="1">
                <a:sym typeface="+mn-ea"/>
              </a:rPr>
              <a:t>e_t</a:t>
            </a:r>
            <a:r>
              <a:rPr lang="zh-CN" altLang="en-US" i="1">
                <a:sym typeface="+mn-ea"/>
              </a:rPr>
              <a:t>与所有历史状态嵌入</a:t>
            </a:r>
            <a:r>
              <a:rPr lang="en-US" altLang="en-US" i="1">
                <a:sym typeface="+mn-ea"/>
              </a:rPr>
              <a:t> </a:t>
            </a:r>
            <a:r>
              <a:rPr lang="en-US" altLang="zh-CN" i="1">
                <a:sym typeface="+mn-ea"/>
              </a:rPr>
              <a:t>{h1,...,ht−1}</a:t>
            </a:r>
            <a:r>
              <a:rPr lang="zh-CN" altLang="en-US" i="1">
                <a:sym typeface="+mn-ea"/>
              </a:rPr>
              <a:t>的</a:t>
            </a:r>
            <a:r>
              <a:rPr lang="en-US" altLang="zh-CN" i="1">
                <a:sym typeface="+mn-ea"/>
              </a:rPr>
              <a:t> </a:t>
            </a:r>
            <a:r>
              <a:rPr lang="en-US" altLang="zh-CN" b="1" i="1">
                <a:sym typeface="+mn-ea"/>
              </a:rPr>
              <a:t>Attention </a:t>
            </a:r>
            <a:r>
              <a:rPr lang="zh-CN" altLang="en-US" b="1" i="1">
                <a:sym typeface="+mn-ea"/>
              </a:rPr>
              <a:t>分数</a:t>
            </a:r>
            <a:r>
              <a:rPr lang="zh-CN" altLang="en-US">
                <a:sym typeface="+mn-ea"/>
              </a:rPr>
              <a:t>：</a:t>
            </a:r>
            <a:endParaRPr lang="zh-CN" altLang="en-US"/>
          </a:p>
          <a:p>
            <a:pPr marL="0" indent="0">
              <a:buNone/>
            </a:pPr>
            <a:endParaRPr lang="en-US" altLang="zh-CN"/>
          </a:p>
          <a:p>
            <a:pPr marL="0" indent="0">
              <a:buNone/>
            </a:pPr>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b="1">
                <a:sym typeface="+mn-ea"/>
              </a:rPr>
              <a:t>Target-Step Selection (TSS) </a:t>
            </a:r>
            <a:endParaRPr lang="zh-CN" altLang="en-US"/>
          </a:p>
        </p:txBody>
      </p:sp>
      <p:sp>
        <p:nvSpPr>
          <p:cNvPr id="3" name="内容占位符 2"/>
          <p:cNvSpPr>
            <a:spLocks noGrp="1"/>
          </p:cNvSpPr>
          <p:nvPr>
            <p:ph idx="1"/>
            <p:custDataLst>
              <p:tags r:id="rId2"/>
            </p:custDataLst>
          </p:nvPr>
        </p:nvSpPr>
        <p:spPr/>
        <p:txBody>
          <a:bodyPr/>
          <a:p>
            <a:r>
              <a:rPr lang="zh-CN" altLang="en-US"/>
              <a:t>计算</a:t>
            </a:r>
            <a:r>
              <a:rPr lang="en-US" altLang="zh-CN"/>
              <a:t> Router </a:t>
            </a:r>
            <a:r>
              <a:rPr lang="zh-CN" altLang="en-US"/>
              <a:t>输出</a:t>
            </a:r>
            <a:r>
              <a:rPr lang="en-US" altLang="en-US"/>
              <a:t> </a:t>
            </a:r>
            <a:r>
              <a:rPr lang="en-US" altLang="zh-CN"/>
              <a:t>e_t</a:t>
            </a:r>
            <a:r>
              <a:rPr lang="zh-CN" altLang="en-US"/>
              <a:t>与所有历史状态嵌入</a:t>
            </a:r>
            <a:r>
              <a:rPr lang="en-US" altLang="en-US"/>
              <a:t> </a:t>
            </a:r>
            <a:r>
              <a:rPr lang="en-US" altLang="zh-CN"/>
              <a:t>{h1,...,ht−1}</a:t>
            </a:r>
            <a:r>
              <a:rPr lang="zh-CN" altLang="en-US"/>
              <a:t>的</a:t>
            </a:r>
            <a:r>
              <a:rPr lang="en-US" altLang="zh-CN"/>
              <a:t> Attention </a:t>
            </a:r>
            <a:r>
              <a:rPr lang="zh-CN" altLang="en-US"/>
              <a:t>分数：</a:t>
            </a:r>
            <a:endParaRPr lang="zh-CN" altLang="en-US"/>
          </a:p>
          <a:p>
            <a:pPr marL="0" indent="0">
              <a:buNone/>
            </a:pPr>
            <a:r>
              <a:rPr lang="en-US" altLang="zh-CN"/>
              <a:t>α_i=softmax(e_t⋅h_(i,T))</a:t>
            </a:r>
            <a:r>
              <a:rPr lang="en-US" altLang="en-US"/>
              <a:t> </a:t>
            </a:r>
            <a:endParaRPr lang="en-US" altLang="en-US"/>
          </a:p>
          <a:p>
            <a:r>
              <a:rPr lang="zh-CN" altLang="en-US" b="1"/>
              <a:t>基于注意力分数选择锚点</a:t>
            </a:r>
            <a:r>
              <a:rPr lang="zh-CN" altLang="en-US"/>
              <a:t>：</a:t>
            </a:r>
            <a:r>
              <a:rPr lang="en-US" altLang="en-US"/>
              <a:t> </a:t>
            </a:r>
            <a:r>
              <a:rPr lang="zh-CN" altLang="en-US"/>
              <a:t>采样</a:t>
            </a:r>
            <a:r>
              <a:rPr lang="en-US" altLang="zh-CN"/>
              <a:t>or</a:t>
            </a:r>
            <a:r>
              <a:rPr lang="zh-CN" altLang="en-US"/>
              <a:t>选择一个索引</a:t>
            </a:r>
            <a:r>
              <a:rPr lang="en-US" altLang="zh-CN"/>
              <a:t>k∼α</a:t>
            </a:r>
            <a:endParaRPr lang="en-US" altLang="zh-CN"/>
          </a:p>
          <a:p>
            <a:r>
              <a:rPr lang="zh-CN" altLang="en-US"/>
              <a:t>执行验证：计算当前状态</a:t>
            </a:r>
            <a:r>
              <a:rPr lang="en-US" altLang="en-US"/>
              <a:t> </a:t>
            </a:r>
            <a:r>
              <a:rPr lang="en-US" altLang="zh-CN"/>
              <a:t>h_t</a:t>
            </a:r>
            <a:r>
              <a:rPr lang="zh-CN" altLang="en-US"/>
              <a:t>与选中历史状态</a:t>
            </a:r>
            <a:r>
              <a:rPr lang="en-US" altLang="en-US"/>
              <a:t> </a:t>
            </a:r>
            <a:r>
              <a:rPr lang="en-US" altLang="zh-CN"/>
              <a:t>h_k</a:t>
            </a:r>
            <a:r>
              <a:rPr lang="zh-CN" altLang="en-US"/>
              <a:t>之间的</a:t>
            </a:r>
            <a:r>
              <a:rPr lang="en-US" altLang="zh-CN"/>
              <a:t> </a:t>
            </a:r>
            <a:r>
              <a:rPr lang="en-US" altLang="zh-CN" i="1"/>
              <a:t>Bellman Consistency Loss</a:t>
            </a:r>
            <a:r>
              <a:rPr lang="zh-CN" altLang="en-US"/>
              <a:t>：</a:t>
            </a:r>
            <a:endParaRPr lang="zh-CN" altLang="en-US"/>
          </a:p>
          <a:p>
            <a:pPr marL="0" indent="0">
              <a:buNone/>
            </a:pPr>
            <a:r>
              <a:rPr lang="en-US" altLang="zh-CN"/>
              <a:t>L_ABR=(V</a:t>
            </a:r>
            <a:r>
              <a:rPr lang="en-US" altLang="en-US"/>
              <a:t>ϕ</a:t>
            </a:r>
            <a:r>
              <a:rPr lang="en-US" altLang="zh-CN"/>
              <a:t>(h_t)−V</a:t>
            </a:r>
            <a:r>
              <a:rPr lang="en-US" altLang="en-US"/>
              <a:t>ϕ</a:t>
            </a:r>
            <a:r>
              <a:rPr lang="en-US" altLang="zh-CN"/>
              <a:t>(h_k))^2</a:t>
            </a:r>
            <a:endParaRPr lang="en-US" altLang="zh-CN"/>
          </a:p>
          <a:p>
            <a:r>
              <a:rPr lang="zh-CN" altLang="en-US"/>
              <a:t>注意：这里不采用</a:t>
            </a:r>
            <a:r>
              <a:rPr lang="en-US" altLang="zh-CN"/>
              <a:t>BCR</a:t>
            </a:r>
            <a:r>
              <a:rPr lang="zh-CN" altLang="en-US"/>
              <a:t>类方法的</a:t>
            </a:r>
            <a:r>
              <a:rPr lang="en-US" altLang="zh-CN"/>
              <a:t>TD</a:t>
            </a:r>
            <a:r>
              <a:rPr lang="zh-CN" altLang="en-US"/>
              <a:t>误差</a:t>
            </a:r>
            <a:r>
              <a:rPr lang="en-US" altLang="zh-CN"/>
              <a:t>(V_t+r_t−γV_t+1)</a:t>
            </a:r>
            <a:r>
              <a:rPr lang="zh-CN" altLang="en-US"/>
              <a:t>类似的形式，因为我们跨越了多个时间步，</a:t>
            </a:r>
            <a:r>
              <a:rPr lang="en-US" altLang="zh-CN"/>
              <a:t> </a:t>
            </a:r>
            <a:r>
              <a:rPr lang="zh-CN" altLang="en-US"/>
              <a:t>直接的</a:t>
            </a:r>
            <a:r>
              <a:rPr lang="en-US" altLang="zh-CN"/>
              <a:t>TD</a:t>
            </a:r>
            <a:r>
              <a:rPr lang="zh-CN" altLang="en-US"/>
              <a:t>误差</a:t>
            </a:r>
            <a:r>
              <a:rPr lang="zh-CN" altLang="en-US"/>
              <a:t>不适用。而是直接比较当前价值与历史某个锚点的一致性。希望通过这种设计，赋予模型随时回顾过去的能力。</a:t>
            </a:r>
            <a:endParaRPr lang="zh-CN"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 </a:t>
            </a:r>
            <a:r>
              <a:rPr lang="en-US" altLang="zh-CN"/>
              <a:t>simple control flow</a:t>
            </a:r>
            <a:endParaRPr lang="en-US" altLang="zh-CN"/>
          </a:p>
        </p:txBody>
      </p:sp>
      <p:sp>
        <p:nvSpPr>
          <p:cNvPr id="3" name="内容占位符 2"/>
          <p:cNvSpPr>
            <a:spLocks noGrp="1"/>
          </p:cNvSpPr>
          <p:nvPr>
            <p:ph idx="1"/>
            <p:custDataLst>
              <p:tags r:id="rId2"/>
            </p:custDataLst>
          </p:nvPr>
        </p:nvSpPr>
        <p:spPr>
          <a:xfrm>
            <a:off x="608330" y="1370330"/>
            <a:ext cx="11311255" cy="5073650"/>
          </a:xfrm>
        </p:spPr>
        <p:txBody>
          <a:bodyPr>
            <a:noAutofit/>
          </a:bodyPr>
          <a:p>
            <a:pPr marL="0" indent="0">
              <a:buNone/>
            </a:pPr>
            <a:r>
              <a:rPr lang="zh-CN" altLang="en-US" sz="1600" b="1"/>
              <a:t>执行流程</a:t>
            </a:r>
            <a:endParaRPr lang="en-US" altLang="zh-CN" sz="1600" b="1"/>
          </a:p>
          <a:p>
            <a:r>
              <a:rPr lang="zh-CN" altLang="en-US" sz="1600"/>
              <a:t>如果</a:t>
            </a:r>
            <a:r>
              <a:rPr lang="en-US" altLang="zh-CN" sz="1600"/>
              <a:t>NRAP</a:t>
            </a:r>
            <a:r>
              <a:rPr lang="zh-CN" sz="1600"/>
              <a:t>选择的</a:t>
            </a:r>
            <a:r>
              <a:rPr lang="en-US" altLang="zh-CN" sz="1600"/>
              <a:t>a_t=a_gen</a:t>
            </a:r>
            <a:r>
              <a:rPr lang="zh-CN" altLang="en-US" sz="1600"/>
              <a:t>：</a:t>
            </a:r>
            <a:endParaRPr lang="zh-CN" altLang="en-US" sz="1600"/>
          </a:p>
          <a:p>
            <a:pPr marL="0" indent="0">
              <a:buNone/>
            </a:pPr>
            <a:r>
              <a:rPr lang="en-US" altLang="zh-CN" sz="1600"/>
              <a:t>LLM </a:t>
            </a:r>
            <a:r>
              <a:rPr lang="zh-CN" altLang="en-US" sz="1600"/>
              <a:t>生成下一步</a:t>
            </a:r>
            <a:r>
              <a:rPr lang="en-US" altLang="en-US" sz="1600"/>
              <a:t> </a:t>
            </a:r>
            <a:r>
              <a:rPr lang="en-US" altLang="zh-CN" sz="1600"/>
              <a:t>s_t </a:t>
            </a:r>
            <a:r>
              <a:rPr lang="zh-CN" altLang="en-US" sz="1600"/>
              <a:t>（不执行</a:t>
            </a:r>
            <a:r>
              <a:rPr lang="en-US" altLang="zh-CN" sz="1600"/>
              <a:t>TSS</a:t>
            </a:r>
            <a:r>
              <a:rPr lang="zh-CN" altLang="en-US" sz="1600"/>
              <a:t>步骤）</a:t>
            </a:r>
            <a:endParaRPr lang="en-US" altLang="zh-CN" sz="1600"/>
          </a:p>
          <a:p>
            <a:pPr marL="0" indent="0">
              <a:buNone/>
            </a:pPr>
            <a:r>
              <a:rPr lang="zh-CN" altLang="en-US" sz="1600"/>
              <a:t>计算新的价值</a:t>
            </a:r>
            <a:r>
              <a:rPr lang="en-US" altLang="en-US" sz="1600"/>
              <a:t> </a:t>
            </a:r>
            <a:r>
              <a:rPr lang="en-US" altLang="zh-CN" sz="1600"/>
              <a:t>v_t=V</a:t>
            </a:r>
            <a:r>
              <a:rPr lang="en-US" altLang="en-US" sz="1600"/>
              <a:t>ϕ</a:t>
            </a:r>
            <a:r>
              <a:rPr lang="en-US" altLang="zh-CN" sz="1600"/>
              <a:t>(h_t)</a:t>
            </a:r>
            <a:endParaRPr lang="en-US" altLang="zh-CN" sz="1600"/>
          </a:p>
          <a:p>
            <a:pPr marL="0" indent="0">
              <a:buNone/>
            </a:pPr>
            <a:r>
              <a:rPr lang="zh-CN" altLang="en-US" sz="1600"/>
              <a:t>更新历史</a:t>
            </a:r>
            <a:r>
              <a:rPr lang="en-US" altLang="en-US" sz="1600"/>
              <a:t> </a:t>
            </a:r>
            <a:r>
              <a:rPr lang="en-US" altLang="zh-CN" sz="1600"/>
              <a:t>H_&lt;t+1=H_&lt;t∪{(s_t,v_t)}</a:t>
            </a:r>
            <a:endParaRPr lang="en-US" altLang="zh-CN" sz="1600"/>
          </a:p>
          <a:p>
            <a:pPr marL="0" indent="0">
              <a:buNone/>
            </a:pPr>
            <a:r>
              <a:rPr lang="zh-CN" altLang="en-US" sz="1600" i="1"/>
              <a:t>代价：</a:t>
            </a:r>
            <a:r>
              <a:rPr lang="en-US" altLang="zh-CN" sz="1600" i="1"/>
              <a:t>Token Cost</a:t>
            </a:r>
            <a:r>
              <a:rPr lang="en-US" altLang="en-US" sz="1600" i="1"/>
              <a:t> </a:t>
            </a:r>
            <a:r>
              <a:rPr lang="en-US" altLang="zh-CN" sz="1600" i="1"/>
              <a:t>c_t=1</a:t>
            </a:r>
            <a:r>
              <a:rPr lang="en-US" altLang="en-US" sz="1600" i="1"/>
              <a:t> </a:t>
            </a:r>
            <a:r>
              <a:rPr lang="en-US" altLang="zh-CN" sz="1600" i="1"/>
              <a:t>(</a:t>
            </a:r>
            <a:r>
              <a:rPr lang="zh-CN" altLang="en-US" sz="1600" i="1"/>
              <a:t>生成下一个</a:t>
            </a:r>
            <a:r>
              <a:rPr lang="en-US" altLang="zh-CN" sz="1600" i="1"/>
              <a:t> token </a:t>
            </a:r>
            <a:r>
              <a:rPr lang="zh-CN" altLang="en-US" sz="1600" i="1"/>
              <a:t>的成本</a:t>
            </a:r>
            <a:r>
              <a:rPr lang="en-US" altLang="zh-CN" sz="1600" i="1"/>
              <a:t>)</a:t>
            </a:r>
            <a:r>
              <a:rPr lang="zh-CN" altLang="en-US" sz="1600" i="1"/>
              <a:t>。</a:t>
            </a:r>
            <a:endParaRPr lang="en-US" altLang="zh-CN" sz="1600"/>
          </a:p>
          <a:p>
            <a:r>
              <a:rPr lang="zh-CN" altLang="en-US" sz="1600"/>
              <a:t>如果</a:t>
            </a:r>
            <a:r>
              <a:rPr lang="en-US" altLang="en-US" sz="1600"/>
              <a:t> </a:t>
            </a:r>
            <a:r>
              <a:rPr lang="en-US" altLang="zh-CN" sz="1600"/>
              <a:t>a_t=a_ver</a:t>
            </a:r>
            <a:endParaRPr lang="en-US" altLang="zh-CN" sz="1600"/>
          </a:p>
          <a:p>
            <a:pPr marL="0" indent="0">
              <a:buNone/>
            </a:pPr>
            <a:r>
              <a:rPr lang="zh-CN" altLang="en-US" sz="1600"/>
              <a:t>执行</a:t>
            </a:r>
            <a:r>
              <a:rPr lang="en-US" altLang="zh-CN" sz="1600"/>
              <a:t> TSS</a:t>
            </a:r>
            <a:r>
              <a:rPr lang="zh-CN" altLang="en-US" sz="1600"/>
              <a:t>，选择历史步骤</a:t>
            </a:r>
            <a:r>
              <a:rPr lang="en-US" altLang="en-US" sz="1600"/>
              <a:t> </a:t>
            </a:r>
            <a:r>
              <a:rPr lang="en-US" altLang="zh-CN" sz="1600"/>
              <a:t>k</a:t>
            </a:r>
            <a:r>
              <a:rPr lang="zh-CN" altLang="en-US" sz="1600"/>
              <a:t>。（不执行生成步骤）</a:t>
            </a:r>
            <a:endParaRPr lang="zh-CN" altLang="en-US" sz="1600"/>
          </a:p>
          <a:p>
            <a:pPr marL="0" indent="0">
              <a:buNone/>
            </a:pPr>
            <a:r>
              <a:rPr lang="zh-CN" altLang="en-US" sz="1600"/>
              <a:t>计算</a:t>
            </a:r>
            <a:r>
              <a:rPr lang="en-US" altLang="en-US" sz="1600"/>
              <a:t> </a:t>
            </a:r>
            <a:r>
              <a:rPr lang="en-US" altLang="zh-CN" sz="1600"/>
              <a:t>LABR</a:t>
            </a:r>
            <a:r>
              <a:rPr lang="zh-CN" altLang="en-US" sz="1600"/>
              <a:t>并对</a:t>
            </a:r>
            <a:r>
              <a:rPr lang="en-US" altLang="zh-CN" sz="1600"/>
              <a:t> Router </a:t>
            </a:r>
            <a:r>
              <a:rPr lang="zh-CN" altLang="en-US" sz="1600"/>
              <a:t>和</a:t>
            </a:r>
            <a:r>
              <a:rPr lang="en-US" altLang="zh-CN" sz="1600"/>
              <a:t> LLM </a:t>
            </a:r>
            <a:r>
              <a:rPr lang="zh-CN" altLang="en-US" sz="1600"/>
              <a:t>的共享层进行反向传播（作为一种正则化机制）。</a:t>
            </a:r>
            <a:endParaRPr lang="zh-CN" altLang="en-US" sz="1600"/>
          </a:p>
          <a:p>
            <a:pPr marL="0" indent="0">
              <a:buNone/>
            </a:pPr>
            <a:r>
              <a:rPr lang="zh-CN" altLang="en-US" sz="1600"/>
              <a:t>不生成新文本，只更新内部表征。</a:t>
            </a:r>
            <a:endParaRPr lang="zh-CN" altLang="en-US" sz="1600"/>
          </a:p>
          <a:p>
            <a:pPr marL="0" indent="0">
              <a:buNone/>
            </a:pPr>
            <a:r>
              <a:rPr lang="zh-CN" altLang="en-US" sz="1600" i="1"/>
              <a:t>代价：</a:t>
            </a:r>
            <a:r>
              <a:rPr lang="en-US" altLang="zh-CN" sz="1600" i="1"/>
              <a:t>Token Cost</a:t>
            </a:r>
            <a:r>
              <a:rPr lang="en-US" altLang="en-US" sz="1600" i="1"/>
              <a:t> </a:t>
            </a:r>
            <a:r>
              <a:rPr lang="en-US" altLang="zh-CN" sz="1600" i="1"/>
              <a:t>c_t=0</a:t>
            </a:r>
            <a:r>
              <a:rPr lang="en-US" altLang="en-US" sz="1600" i="1"/>
              <a:t> </a:t>
            </a:r>
            <a:r>
              <a:rPr lang="en-US" altLang="zh-CN" sz="1600" i="1"/>
              <a:t>(But, </a:t>
            </a:r>
            <a:r>
              <a:rPr lang="zh-CN" altLang="en-US" sz="1600" i="1"/>
              <a:t>验证动作有计算成本</a:t>
            </a:r>
            <a:r>
              <a:rPr lang="en-US" altLang="zh-CN" sz="1600" i="1"/>
              <a:t>Cost_ver</a:t>
            </a:r>
            <a:r>
              <a:rPr lang="zh-CN" altLang="en-US" sz="1600" i="1"/>
              <a:t>，且考虑其回溯各个时间步算注意力，</a:t>
            </a:r>
            <a:r>
              <a:rPr lang="en-US" altLang="zh-CN" sz="1600" i="1"/>
              <a:t> </a:t>
            </a:r>
            <a:r>
              <a:rPr lang="zh-CN" altLang="en-US" sz="1600" i="1"/>
              <a:t>实际上更昂贵，应该避免频繁</a:t>
            </a:r>
            <a:r>
              <a:rPr lang="en-US" altLang="zh-CN" sz="1600" i="1"/>
              <a:t>)</a:t>
            </a:r>
            <a:endParaRPr lang="en-US" altLang="zh-CN" sz="1600" i="1"/>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How to train</a:t>
            </a:r>
            <a:endParaRPr lang="en-US" altLang="zh-CN"/>
          </a:p>
        </p:txBody>
      </p:sp>
      <p:sp>
        <p:nvSpPr>
          <p:cNvPr id="3" name="内容占位符 2"/>
          <p:cNvSpPr>
            <a:spLocks noGrp="1"/>
          </p:cNvSpPr>
          <p:nvPr>
            <p:ph idx="1"/>
            <p:custDataLst>
              <p:tags r:id="rId2"/>
            </p:custDataLst>
          </p:nvPr>
        </p:nvSpPr>
        <p:spPr/>
        <p:txBody>
          <a:bodyPr/>
          <a:p>
            <a:r>
              <a:rPr lang="zh-CN" altLang="en-US"/>
              <a:t>使用强化学习来训练</a:t>
            </a:r>
            <a:r>
              <a:rPr lang="en-US" altLang="zh-CN"/>
              <a:t> NRAP Router </a:t>
            </a:r>
            <a:r>
              <a:rPr lang="zh-CN" altLang="en-US"/>
              <a:t>的策略</a:t>
            </a:r>
            <a:r>
              <a:rPr lang="en-US" altLang="en-US"/>
              <a:t> </a:t>
            </a:r>
            <a:r>
              <a:rPr lang="en-US" altLang="zh-CN"/>
              <a:t>πθ(at∣St)</a:t>
            </a:r>
            <a:endParaRPr lang="en-US" altLang="zh-CN"/>
          </a:p>
          <a:p>
            <a:r>
              <a:rPr lang="en-US" altLang="zh-CN"/>
              <a:t>Reward Function</a:t>
            </a:r>
            <a:r>
              <a:rPr lang="zh-CN" altLang="en-US"/>
              <a:t>设计：希望模型答案正确，且尽可能少用昂贵的验证动作（或只在必要时用）</a:t>
            </a:r>
            <a:endParaRPr lang="zh-CN" altLang="en-US"/>
          </a:p>
          <a:p>
            <a:endParaRPr lang="zh-CN" altLang="en-US"/>
          </a:p>
          <a:p>
            <a:endParaRPr lang="zh-CN" altLang="en-US"/>
          </a:p>
          <a:p>
            <a:endParaRPr lang="zh-CN" altLang="en-US"/>
          </a:p>
          <a:p>
            <a:r>
              <a:rPr lang="zh-CN" altLang="en-US"/>
              <a:t>式中，第一项鼓励准确性。第二项惩罚</a:t>
            </a:r>
            <a:r>
              <a:rPr lang="en-US" altLang="zh-CN"/>
              <a:t> </a:t>
            </a:r>
            <a:r>
              <a:rPr lang="zh-CN" altLang="en-US"/>
              <a:t>过度的，不必要自我验证，通过减少验证</a:t>
            </a:r>
            <a:r>
              <a:rPr lang="zh-CN" altLang="en-US"/>
              <a:t>次数，鼓励效率</a:t>
            </a:r>
            <a:endParaRPr lang="zh-CN" altLang="en-US"/>
          </a:p>
          <a:p>
            <a:pPr marL="0" indent="0">
              <a:buNone/>
            </a:pPr>
            <a:r>
              <a:rPr lang="en-US" altLang="zh-CN"/>
              <a:t>Policy Gradient</a:t>
            </a:r>
            <a:r>
              <a:rPr lang="zh-CN" altLang="en-US"/>
              <a:t>：</a:t>
            </a:r>
            <a:r>
              <a:rPr lang="en-US" altLang="zh-CN"/>
              <a:t> </a:t>
            </a:r>
            <a:r>
              <a:rPr lang="zh-CN" altLang="en-US"/>
              <a:t>（最简单的</a:t>
            </a:r>
            <a:r>
              <a:rPr lang="en-US" altLang="zh-CN"/>
              <a:t>REINFORCE</a:t>
            </a:r>
            <a:r>
              <a:rPr lang="zh-CN" altLang="en-US"/>
              <a:t>版本例子，</a:t>
            </a:r>
            <a:r>
              <a:rPr lang="en-US" altLang="zh-CN"/>
              <a:t> </a:t>
            </a:r>
            <a:r>
              <a:rPr lang="zh-CN" altLang="en-US"/>
              <a:t>可以换成</a:t>
            </a:r>
            <a:r>
              <a:rPr lang="en-US" altLang="zh-CN"/>
              <a:t>PPO</a:t>
            </a:r>
            <a:r>
              <a:rPr lang="zh-CN" altLang="en-US"/>
              <a:t>家族的）用上了上面的</a:t>
            </a:r>
            <a:r>
              <a:rPr lang="en-US" altLang="zh-CN"/>
              <a:t>R(t</a:t>
            </a:r>
            <a:r>
              <a:rPr lang="zh-CN" altLang="en-US"/>
              <a:t>）</a:t>
            </a:r>
            <a:endParaRPr lang="en-US" altLang="zh-CN"/>
          </a:p>
          <a:p>
            <a:pPr marL="0" indent="0">
              <a:buNone/>
            </a:pPr>
            <a:endParaRPr lang="en-US" altLang="zh-CN"/>
          </a:p>
        </p:txBody>
      </p:sp>
      <p:pic>
        <p:nvPicPr>
          <p:cNvPr id="4" name="图片 3"/>
          <p:cNvPicPr>
            <a:picLocks noChangeAspect="1"/>
          </p:cNvPicPr>
          <p:nvPr/>
        </p:nvPicPr>
        <p:blipFill>
          <a:blip r:embed="rId3"/>
          <a:srcRect t="7562" b="4080"/>
          <a:stretch>
            <a:fillRect/>
          </a:stretch>
        </p:blipFill>
        <p:spPr>
          <a:xfrm>
            <a:off x="868680" y="2591435"/>
            <a:ext cx="6829425" cy="1127760"/>
          </a:xfrm>
          <a:prstGeom prst="rect">
            <a:avLst/>
          </a:prstGeom>
        </p:spPr>
      </p:pic>
      <p:pic>
        <p:nvPicPr>
          <p:cNvPr id="5" name="图片 4"/>
          <p:cNvPicPr>
            <a:picLocks noChangeAspect="1"/>
          </p:cNvPicPr>
          <p:nvPr/>
        </p:nvPicPr>
        <p:blipFill>
          <a:blip r:embed="rId4"/>
          <a:stretch>
            <a:fillRect/>
          </a:stretch>
        </p:blipFill>
        <p:spPr>
          <a:xfrm>
            <a:off x="868680" y="4901565"/>
            <a:ext cx="5000625" cy="1066800"/>
          </a:xfrm>
          <a:prstGeom prst="rect">
            <a:avLst/>
          </a:prstGeom>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How to train</a:t>
            </a:r>
            <a:endParaRPr lang="zh-CN" altLang="en-US"/>
          </a:p>
        </p:txBody>
      </p:sp>
      <p:sp>
        <p:nvSpPr>
          <p:cNvPr id="3" name="内容占位符 2"/>
          <p:cNvSpPr>
            <a:spLocks noGrp="1"/>
          </p:cNvSpPr>
          <p:nvPr>
            <p:ph idx="1"/>
            <p:custDataLst>
              <p:tags r:id="rId2"/>
            </p:custDataLst>
          </p:nvPr>
        </p:nvSpPr>
        <p:spPr/>
        <p:txBody>
          <a:bodyPr/>
          <a:p>
            <a:r>
              <a:rPr lang="zh-CN" altLang="en-US"/>
              <a:t>混合训练目标</a:t>
            </a:r>
            <a:r>
              <a:rPr lang="en-US" altLang="zh-CN"/>
              <a:t>:</a:t>
            </a:r>
            <a:endParaRPr lang="en-US" altLang="zh-CN"/>
          </a:p>
          <a:p>
            <a:pPr marL="0" indent="0">
              <a:buNone/>
            </a:pPr>
            <a:r>
              <a:rPr lang="zh-CN" altLang="en-US"/>
              <a:t>最终的总</a:t>
            </a:r>
            <a:r>
              <a:rPr lang="en-US" altLang="zh-CN"/>
              <a:t> Loss </a:t>
            </a:r>
            <a:r>
              <a:rPr lang="zh-CN" altLang="en-US"/>
              <a:t>包含上页</a:t>
            </a:r>
            <a:r>
              <a:rPr lang="en-US" altLang="zh-CN"/>
              <a:t> RL </a:t>
            </a:r>
            <a:r>
              <a:rPr lang="zh-CN" altLang="en-US"/>
              <a:t>的</a:t>
            </a:r>
            <a:r>
              <a:rPr lang="zh-CN" altLang="en-US" b="1" i="1"/>
              <a:t>策略梯度损失</a:t>
            </a:r>
            <a:r>
              <a:rPr lang="zh-CN" altLang="en-US"/>
              <a:t>（控制</a:t>
            </a:r>
            <a:r>
              <a:rPr lang="en-US" altLang="zh-CN"/>
              <a:t>Router</a:t>
            </a:r>
            <a:r>
              <a:rPr lang="zh-CN" altLang="en-US" i="1"/>
              <a:t>何时</a:t>
            </a:r>
            <a:r>
              <a:rPr lang="zh-CN" altLang="en-US"/>
              <a:t>验证）和</a:t>
            </a:r>
            <a:r>
              <a:rPr lang="en-US" altLang="zh-CN"/>
              <a:t> BCR inspired </a:t>
            </a:r>
            <a:r>
              <a:rPr lang="zh-CN" altLang="en-US"/>
              <a:t>的</a:t>
            </a:r>
            <a:r>
              <a:rPr lang="en-US" altLang="zh-CN"/>
              <a:t> </a:t>
            </a:r>
            <a:r>
              <a:rPr lang="en-US" altLang="zh-CN" b="1" i="1"/>
              <a:t>consistency loss</a:t>
            </a:r>
            <a:r>
              <a:rPr lang="zh-CN" altLang="en-US"/>
              <a:t>（</a:t>
            </a:r>
            <a:r>
              <a:rPr lang="en-US" altLang="zh-CN"/>
              <a:t>Router</a:t>
            </a:r>
            <a:r>
              <a:rPr lang="zh-CN" altLang="en-US"/>
              <a:t>决策执行验证，</a:t>
            </a:r>
            <a:r>
              <a:rPr lang="en-US" altLang="zh-CN"/>
              <a:t>a_t=a_ver</a:t>
            </a:r>
            <a:r>
              <a:rPr lang="zh-CN" altLang="en-US"/>
              <a:t>时，获知的</a:t>
            </a:r>
            <a:r>
              <a:rPr lang="zh-CN" altLang="en-US" b="1" i="1"/>
              <a:t>推理准确度</a:t>
            </a:r>
            <a:r>
              <a:rPr lang="zh-CN" altLang="en-US"/>
              <a:t>）</a:t>
            </a:r>
            <a:endParaRPr lang="zh-CN" altLang="en-US"/>
          </a:p>
          <a:p>
            <a:pPr marL="0" indent="0">
              <a:buNone/>
            </a:pPr>
            <a:endParaRPr lang="zh-CN" altLang="en-US"/>
          </a:p>
          <a:p>
            <a:endParaRPr lang="zh-CN" altLang="en-US"/>
          </a:p>
          <a:p>
            <a:endParaRPr lang="zh-CN" altLang="en-US"/>
          </a:p>
          <a:p>
            <a:endParaRPr lang="zh-CN" altLang="en-US"/>
          </a:p>
          <a:p>
            <a:endParaRPr lang="zh-CN" altLang="en-US"/>
          </a:p>
        </p:txBody>
      </p:sp>
      <p:pic>
        <p:nvPicPr>
          <p:cNvPr id="4" name="图片 3"/>
          <p:cNvPicPr>
            <a:picLocks noChangeAspect="1"/>
          </p:cNvPicPr>
          <p:nvPr/>
        </p:nvPicPr>
        <p:blipFill>
          <a:blip r:embed="rId3"/>
          <a:stretch>
            <a:fillRect/>
          </a:stretch>
        </p:blipFill>
        <p:spPr>
          <a:xfrm>
            <a:off x="738505" y="3089910"/>
            <a:ext cx="6315075" cy="1066800"/>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Strengths Over BCR</a:t>
            </a:r>
            <a:endParaRPr lang="en-US" altLang="zh-CN"/>
          </a:p>
        </p:txBody>
      </p:sp>
      <p:sp>
        <p:nvSpPr>
          <p:cNvPr id="3" name="内容占位符 2"/>
          <p:cNvSpPr>
            <a:spLocks noGrp="1"/>
          </p:cNvSpPr>
          <p:nvPr>
            <p:ph idx="1"/>
            <p:custDataLst>
              <p:tags r:id="rId2"/>
            </p:custDataLst>
          </p:nvPr>
        </p:nvSpPr>
        <p:spPr/>
        <p:txBody>
          <a:bodyPr/>
          <a:p>
            <a:pPr marL="0" indent="0">
              <a:buNone/>
            </a:pPr>
            <a:r>
              <a:rPr lang="zh-CN" altLang="en-US"/>
              <a:t>这个方法继承了</a:t>
            </a:r>
            <a:r>
              <a:rPr lang="en-US" altLang="zh-CN"/>
              <a:t> BCR </a:t>
            </a:r>
            <a:r>
              <a:rPr lang="zh-CN" altLang="en-US"/>
              <a:t>的核心思想：</a:t>
            </a:r>
            <a:r>
              <a:rPr lang="en-US" altLang="zh-CN"/>
              <a:t> </a:t>
            </a:r>
            <a:r>
              <a:rPr lang="zh-CN" altLang="en-US"/>
              <a:t>利用</a:t>
            </a:r>
            <a:r>
              <a:rPr lang="en-US" altLang="zh-CN"/>
              <a:t> Bellman Equation </a:t>
            </a:r>
            <a:r>
              <a:rPr lang="zh-CN" altLang="en-US"/>
              <a:t>与价值函数一致性来保证推理忠实性</a:t>
            </a:r>
            <a:endParaRPr lang="zh-CN" altLang="en-US"/>
          </a:p>
          <a:p>
            <a:pPr marL="0" indent="0">
              <a:buNone/>
            </a:pPr>
            <a:r>
              <a:rPr lang="en-US" altLang="zh-CN"/>
              <a:t>Inspired by AnyMAC </a:t>
            </a:r>
            <a:r>
              <a:rPr lang="zh-CN" altLang="en-US"/>
              <a:t>的</a:t>
            </a:r>
            <a:r>
              <a:rPr lang="zh-CN" altLang="en-US"/>
              <a:t>算法骨架：</a:t>
            </a:r>
            <a:endParaRPr lang="zh-CN" altLang="en-US"/>
          </a:p>
          <a:p>
            <a:pPr marL="0" indent="457200">
              <a:buNone/>
            </a:pPr>
            <a:r>
              <a:rPr lang="zh-CN" altLang="en-US"/>
              <a:t>将一致性检查从固定的每一步必做的正则变成了可学习的动态动作选择</a:t>
            </a:r>
            <a:endParaRPr lang="zh-CN" altLang="en-US"/>
          </a:p>
          <a:p>
            <a:pPr marL="0" indent="457200">
              <a:buNone/>
            </a:pPr>
            <a:r>
              <a:rPr lang="zh-CN" altLang="en-US"/>
              <a:t>引入</a:t>
            </a:r>
            <a:r>
              <a:rPr lang="en-US" altLang="zh-CN"/>
              <a:t> TSS </a:t>
            </a:r>
            <a:r>
              <a:rPr lang="zh-CN" altLang="en-US"/>
              <a:t>机制，使验证过程有全局上下文感知力，不再局限于相邻步</a:t>
            </a:r>
            <a:endParaRPr lang="zh-CN" altLang="en-US"/>
          </a:p>
          <a:p>
            <a:pPr marL="0" indent="0">
              <a:buNone/>
            </a:pPr>
            <a:r>
              <a:rPr lang="zh-CN" altLang="en-US"/>
              <a:t>该方案的好处</a:t>
            </a:r>
            <a:r>
              <a:rPr lang="zh-CN" altLang="en-US" i="1" strike="sngStrike"/>
              <a:t>（不是自卖自夸）</a:t>
            </a:r>
            <a:endParaRPr lang="zh-CN" altLang="en-US"/>
          </a:p>
          <a:p>
            <a:pPr marL="0" indent="457200">
              <a:buNone/>
            </a:pPr>
            <a:r>
              <a:rPr lang="zh-CN" altLang="en-US"/>
              <a:t>不仅能解决</a:t>
            </a:r>
            <a:r>
              <a:rPr lang="en-US" altLang="zh-CN"/>
              <a:t> BCR </a:t>
            </a:r>
            <a:r>
              <a:rPr lang="zh-CN" altLang="en-US"/>
              <a:t>的训练不稳定问题，还能让模型学会聪明推理：在简单的步骤上自信通过，在关键的逻辑转折点上停下来回溯验证。</a:t>
            </a:r>
            <a:r>
              <a:rPr lang="zh-CN" altLang="en-US"/>
              <a:t>有创新点，且工作量适中</a:t>
            </a:r>
            <a:endParaRPr lang="zh-CN" altLang="en-US"/>
          </a:p>
          <a:p>
            <a:pPr marL="0" indent="457200">
              <a:buNone/>
            </a:pPr>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97585"/>
            <a:ext cx="9799200" cy="2570400"/>
          </a:xfrm>
        </p:spPr>
        <p:txBody>
          <a:bodyPr/>
          <a:p>
            <a:r>
              <a:rPr lang="en-US" altLang="zh-CN"/>
              <a:t>Further Discussion</a:t>
            </a:r>
            <a:endParaRPr lang="en-US" altLang="zh-CN"/>
          </a:p>
        </p:txBody>
      </p:sp>
      <p:sp>
        <p:nvSpPr>
          <p:cNvPr id="4" name="文本框 3"/>
          <p:cNvSpPr txBox="1"/>
          <p:nvPr/>
        </p:nvSpPr>
        <p:spPr>
          <a:xfrm>
            <a:off x="3420110" y="4107815"/>
            <a:ext cx="5351780" cy="368300"/>
          </a:xfrm>
          <a:prstGeom prst="rect">
            <a:avLst/>
          </a:prstGeom>
          <a:noFill/>
        </p:spPr>
        <p:txBody>
          <a:bodyPr wrap="square" rtlCol="0">
            <a:spAutoFit/>
          </a:bodyPr>
          <a:p>
            <a:r>
              <a:rPr lang="en-US" altLang="zh-CN"/>
              <a:t>My self-Inspection on </a:t>
            </a:r>
            <a:r>
              <a:rPr lang="en-US" altLang="zh-CN"/>
              <a:t>the proposed method</a:t>
            </a:r>
            <a:endParaRPr lang="en-US" altLang="zh-CN"/>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Discussion 1: Novelty</a:t>
            </a:r>
            <a:endParaRPr lang="en-US" altLang="zh-CN"/>
          </a:p>
        </p:txBody>
      </p:sp>
      <p:sp>
        <p:nvSpPr>
          <p:cNvPr id="3" name="内容占位符 2"/>
          <p:cNvSpPr>
            <a:spLocks noGrp="1"/>
          </p:cNvSpPr>
          <p:nvPr>
            <p:ph idx="1"/>
            <p:custDataLst>
              <p:tags r:id="rId2"/>
            </p:custDataLst>
          </p:nvPr>
        </p:nvSpPr>
        <p:spPr/>
        <p:txBody>
          <a:bodyPr>
            <a:normAutofit/>
          </a:bodyPr>
          <a:p>
            <a:r>
              <a:rPr lang="zh-CN" altLang="en-US"/>
              <a:t>创新性：我们需要回答</a:t>
            </a:r>
            <a:r>
              <a:rPr lang="en-US" altLang="zh-CN"/>
              <a:t>Novelty</a:t>
            </a:r>
            <a:r>
              <a:rPr lang="zh-CN" altLang="en-US"/>
              <a:t>的</a:t>
            </a:r>
            <a:r>
              <a:rPr lang="en-US" altLang="zh-CN"/>
              <a:t>Challenge</a:t>
            </a:r>
            <a:r>
              <a:rPr lang="zh-CN" altLang="en-US"/>
              <a:t>。我们要回应质疑：这仅仅是</a:t>
            </a:r>
            <a:r>
              <a:rPr lang="en-US" altLang="zh-CN"/>
              <a:t> AnyMAC </a:t>
            </a:r>
            <a:r>
              <a:rPr lang="zh-CN" altLang="en-US"/>
              <a:t>框架的一个简单应用吗</a:t>
            </a:r>
            <a:r>
              <a:rPr lang="en-US" altLang="zh-CN"/>
              <a:t>? </a:t>
            </a:r>
            <a:r>
              <a:rPr lang="zh-CN" altLang="en-US"/>
              <a:t>因为我们看起来只是</a:t>
            </a:r>
            <a:r>
              <a:rPr lang="zh-CN" altLang="en-US"/>
              <a:t>把</a:t>
            </a:r>
            <a:r>
              <a:rPr lang="en-US" altLang="zh-CN"/>
              <a:t> Next-Agent Prediction </a:t>
            </a:r>
            <a:r>
              <a:rPr lang="zh-CN" altLang="en-US"/>
              <a:t>换成了</a:t>
            </a:r>
            <a:r>
              <a:rPr lang="en-US" altLang="zh-CN"/>
              <a:t> Next-Action Prediction</a:t>
            </a:r>
            <a:r>
              <a:rPr lang="zh-CN" altLang="en-US"/>
              <a:t>，把</a:t>
            </a:r>
            <a:r>
              <a:rPr lang="en-US" altLang="zh-CN"/>
              <a:t> Next-Context Selection </a:t>
            </a:r>
            <a:r>
              <a:rPr lang="zh-CN" altLang="en-US"/>
              <a:t>换成了</a:t>
            </a:r>
            <a:r>
              <a:rPr lang="en-US" altLang="zh-CN"/>
              <a:t> Target-Step Selection</a:t>
            </a:r>
            <a:r>
              <a:rPr lang="zh-CN" altLang="en-US"/>
              <a:t>。把多智能体协作换成单智能体动作。</a:t>
            </a:r>
            <a:endParaRPr lang="zh-CN" altLang="en-US"/>
          </a:p>
          <a:p>
            <a:r>
              <a:rPr lang="zh-CN" altLang="en-US"/>
              <a:t>我们可能需要回答</a:t>
            </a:r>
            <a:r>
              <a:rPr lang="zh-CN" altLang="en-US"/>
              <a:t>审稿人：这一套序列化路由的理论贡献在哪里</a:t>
            </a:r>
            <a:endParaRPr lang="zh-CN" altLang="en-US"/>
          </a:p>
          <a:p>
            <a:pPr marL="0" indent="0">
              <a:buNone/>
            </a:pPr>
            <a:r>
              <a:rPr lang="zh-CN" altLang="en-US"/>
              <a:t>我的思考是，</a:t>
            </a:r>
            <a:r>
              <a:rPr lang="en-US" altLang="zh-CN"/>
              <a:t> </a:t>
            </a:r>
            <a:r>
              <a:rPr lang="zh-CN" altLang="en-US"/>
              <a:t>我们可以回答这个</a:t>
            </a:r>
            <a:r>
              <a:rPr lang="zh-CN" altLang="en-US"/>
              <a:t>问题：</a:t>
            </a:r>
            <a:endParaRPr lang="zh-CN" altLang="en-US"/>
          </a:p>
          <a:p>
            <a:pPr marL="0" indent="0">
              <a:buNone/>
            </a:pPr>
            <a:r>
              <a:rPr lang="en-US" altLang="zh-CN"/>
              <a:t>AnyMAC </a:t>
            </a:r>
            <a:r>
              <a:rPr lang="zh-CN" altLang="en-US"/>
              <a:t>处理的是</a:t>
            </a:r>
            <a:r>
              <a:rPr lang="zh-CN" altLang="en-US" i="1"/>
              <a:t>外部通信</a:t>
            </a:r>
            <a:r>
              <a:rPr lang="zh-CN" altLang="en-US"/>
              <a:t>问题：</a:t>
            </a:r>
            <a:r>
              <a:rPr lang="en-US" altLang="zh-CN"/>
              <a:t> NCS </a:t>
            </a:r>
            <a:r>
              <a:rPr lang="zh-CN" altLang="en-US"/>
              <a:t>是为信息流动</a:t>
            </a:r>
            <a:r>
              <a:rPr lang="zh-CN" altLang="en-US"/>
              <a:t>服务，</a:t>
            </a:r>
            <a:r>
              <a:rPr lang="en-US" altLang="zh-CN"/>
              <a:t>Agent A </a:t>
            </a:r>
            <a:r>
              <a:rPr lang="zh-CN" altLang="en-US"/>
              <a:t>告诉</a:t>
            </a:r>
            <a:r>
              <a:rPr lang="en-US" altLang="zh-CN"/>
              <a:t> Agent B </a:t>
            </a:r>
            <a:r>
              <a:rPr lang="zh-CN" altLang="en-US"/>
              <a:t>该怎么做，上下文是作为生成素材输入给下一个</a:t>
            </a:r>
            <a:r>
              <a:rPr lang="en-US" altLang="zh-CN"/>
              <a:t> Agent </a:t>
            </a:r>
            <a:r>
              <a:rPr lang="zh-CN" altLang="en-US"/>
              <a:t>的。</a:t>
            </a:r>
            <a:endParaRPr lang="zh-CN" altLang="en-US"/>
          </a:p>
          <a:p>
            <a:pPr marL="0" indent="0">
              <a:buNone/>
            </a:pPr>
            <a:r>
              <a:rPr lang="en-US" altLang="zh-CN"/>
              <a:t>ABR </a:t>
            </a:r>
            <a:r>
              <a:rPr lang="zh-CN" altLang="en-US"/>
              <a:t>处理的是</a:t>
            </a:r>
            <a:r>
              <a:rPr lang="zh-CN" altLang="en-US" i="1"/>
              <a:t>内部归因</a:t>
            </a:r>
            <a:r>
              <a:rPr lang="zh-CN" altLang="en-US"/>
              <a:t>问题：我们的</a:t>
            </a:r>
            <a:r>
              <a:rPr lang="en-US" altLang="zh-CN"/>
              <a:t> TSS </a:t>
            </a:r>
            <a:r>
              <a:rPr lang="zh-CN" altLang="en-US"/>
              <a:t>机制不仅是选择上下文，</a:t>
            </a:r>
            <a:r>
              <a:rPr lang="zh-CN" altLang="en-US"/>
              <a:t>实际是</a:t>
            </a:r>
            <a:r>
              <a:rPr lang="zh-CN" altLang="en-US"/>
              <a:t>在选择验证锚点。当</a:t>
            </a:r>
            <a:r>
              <a:rPr lang="en-US" altLang="zh-CN"/>
              <a:t> Router </a:t>
            </a:r>
            <a:r>
              <a:rPr lang="zh-CN" altLang="en-US"/>
              <a:t>决定</a:t>
            </a:r>
            <a:r>
              <a:rPr lang="en-US" altLang="zh-CN"/>
              <a:t>‘</a:t>
            </a:r>
            <a:r>
              <a:rPr lang="zh-CN" altLang="en-US"/>
              <a:t>验证</a:t>
            </a:r>
            <a:r>
              <a:rPr lang="en-US" altLang="zh-CN"/>
              <a:t>’</a:t>
            </a:r>
            <a:r>
              <a:rPr lang="zh-CN" altLang="en-US"/>
              <a:t>并选历史步骤</a:t>
            </a:r>
            <a:r>
              <a:rPr lang="en-US" altLang="zh-CN"/>
              <a:t> k </a:t>
            </a:r>
            <a:r>
              <a:rPr lang="zh-CN" altLang="en-US"/>
              <a:t>时，实际上是在全局的回溯归因，判断当前状态是否偏离了第</a:t>
            </a:r>
            <a:r>
              <a:rPr lang="en-US" altLang="zh-CN"/>
              <a:t>k </a:t>
            </a:r>
            <a:r>
              <a:rPr lang="zh-CN" altLang="en-US"/>
              <a:t>步时的逻辑</a:t>
            </a:r>
            <a:endParaRPr lang="zh-CN" altLang="en-US"/>
          </a:p>
          <a:p>
            <a:endParaRPr lang="zh-CN"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Discussion 2: </a:t>
            </a:r>
            <a:r>
              <a:rPr lang="en-US" altLang="zh-CN">
                <a:sym typeface="+mn-ea"/>
              </a:rPr>
              <a:t>Stability</a:t>
            </a:r>
            <a:endParaRPr lang="en-US" altLang="zh-CN">
              <a:sym typeface="+mn-ea"/>
            </a:endParaRPr>
          </a:p>
        </p:txBody>
      </p:sp>
      <p:sp>
        <p:nvSpPr>
          <p:cNvPr id="3" name="内容占位符 2"/>
          <p:cNvSpPr>
            <a:spLocks noGrp="1"/>
          </p:cNvSpPr>
          <p:nvPr>
            <p:ph idx="1"/>
            <p:custDataLst>
              <p:tags r:id="rId2"/>
            </p:custDataLst>
          </p:nvPr>
        </p:nvSpPr>
        <p:spPr/>
        <p:txBody>
          <a:bodyPr>
            <a:normAutofit lnSpcReduction="20000"/>
          </a:bodyPr>
          <a:p>
            <a:r>
              <a:rPr lang="en-US" altLang="zh-CN"/>
              <a:t>BCR </a:t>
            </a:r>
            <a:r>
              <a:rPr lang="zh-CN" altLang="en-US"/>
              <a:t>原论文里的训练价值头很</a:t>
            </a:r>
            <a:r>
              <a:rPr lang="en-US" altLang="zh-CN"/>
              <a:t> tricky</a:t>
            </a:r>
            <a:r>
              <a:rPr lang="zh-CN" altLang="en-US"/>
              <a:t>，容易导致训练不稳定。现在我们又引入了一层</a:t>
            </a:r>
            <a:r>
              <a:rPr lang="en-US" altLang="zh-CN"/>
              <a:t> RL </a:t>
            </a:r>
            <a:r>
              <a:rPr lang="zh-CN" altLang="en-US"/>
              <a:t>来决定</a:t>
            </a:r>
            <a:r>
              <a:rPr lang="en-US" altLang="zh-CN"/>
              <a:t>‘</a:t>
            </a:r>
            <a:r>
              <a:rPr lang="zh-CN" altLang="en-US"/>
              <a:t>何时</a:t>
            </a:r>
            <a:r>
              <a:rPr lang="en-US" altLang="zh-CN"/>
              <a:t>’</a:t>
            </a:r>
            <a:r>
              <a:rPr lang="zh-CN" altLang="en-US"/>
              <a:t>做这个不稳定的操作。可能出现这种情况吗：</a:t>
            </a:r>
            <a:r>
              <a:rPr lang="en-US" altLang="zh-CN"/>
              <a:t> </a:t>
            </a:r>
            <a:r>
              <a:rPr lang="zh-CN" altLang="en-US"/>
              <a:t>如果</a:t>
            </a:r>
            <a:r>
              <a:rPr lang="en-US" altLang="zh-CN"/>
              <a:t> Router </a:t>
            </a:r>
            <a:r>
              <a:rPr lang="zh-CN" altLang="en-US"/>
              <a:t>跑错了，价值头得不到有效信号；如果价值头没训练好，</a:t>
            </a:r>
            <a:r>
              <a:rPr lang="en-US" altLang="zh-CN"/>
              <a:t>Router </a:t>
            </a:r>
            <a:r>
              <a:rPr lang="zh-CN" altLang="en-US"/>
              <a:t>得不到准确</a:t>
            </a:r>
            <a:r>
              <a:rPr lang="en-US" altLang="zh-CN"/>
              <a:t> Reward</a:t>
            </a:r>
            <a:r>
              <a:rPr lang="zh-CN" altLang="en-US"/>
              <a:t>。可能出现这种</a:t>
            </a:r>
            <a:r>
              <a:rPr lang="en-US" altLang="zh-CN"/>
              <a:t>‘</a:t>
            </a:r>
            <a:r>
              <a:rPr lang="zh-CN" altLang="en-US"/>
              <a:t>鸡生蛋、蛋生鸡</a:t>
            </a:r>
            <a:r>
              <a:rPr lang="en-US" altLang="zh-CN"/>
              <a:t>’</a:t>
            </a:r>
            <a:r>
              <a:rPr lang="zh-CN" altLang="en-US"/>
              <a:t>的耦合问题吗？会不会比原始</a:t>
            </a:r>
            <a:r>
              <a:rPr lang="en-US" altLang="zh-CN"/>
              <a:t> BCR </a:t>
            </a:r>
            <a:r>
              <a:rPr lang="zh-CN" altLang="en-US"/>
              <a:t>更难训练？</a:t>
            </a:r>
            <a:r>
              <a:rPr lang="en-US" altLang="zh-CN"/>
              <a:t> ===&gt; </a:t>
            </a:r>
            <a:r>
              <a:rPr lang="zh-CN" altLang="en-US"/>
              <a:t>初步的思考和</a:t>
            </a:r>
            <a:r>
              <a:rPr lang="zh-CN" altLang="en-US"/>
              <a:t>回应</a:t>
            </a:r>
            <a:endParaRPr lang="zh-CN" altLang="en-US"/>
          </a:p>
          <a:p>
            <a:r>
              <a:rPr lang="zh-CN" altLang="en-US"/>
              <a:t>解耦的策略：原</a:t>
            </a:r>
            <a:r>
              <a:rPr lang="en-US" altLang="zh-CN"/>
              <a:t> BCR </a:t>
            </a:r>
            <a:r>
              <a:rPr lang="zh-CN" altLang="en-US"/>
              <a:t>要求价值函数在每一个</a:t>
            </a:r>
            <a:r>
              <a:rPr lang="en-US" altLang="zh-CN"/>
              <a:t> token </a:t>
            </a:r>
            <a:r>
              <a:rPr lang="zh-CN" altLang="en-US"/>
              <a:t>上都保持一致，这是一个极高维度的约束。</a:t>
            </a:r>
            <a:r>
              <a:rPr lang="en-US" altLang="zh-CN"/>
              <a:t>ABR </a:t>
            </a:r>
            <a:r>
              <a:rPr lang="zh-CN" altLang="en-US"/>
              <a:t>将</a:t>
            </a:r>
            <a:r>
              <a:rPr lang="en-US" altLang="zh-CN"/>
              <a:t> RL </a:t>
            </a:r>
            <a:r>
              <a:rPr lang="zh-CN" altLang="en-US"/>
              <a:t>层和价值训练层在目标上解耦了。</a:t>
            </a:r>
            <a:r>
              <a:rPr lang="en-US" altLang="zh-CN"/>
              <a:t>RL </a:t>
            </a:r>
            <a:r>
              <a:rPr lang="zh-CN" altLang="en-US"/>
              <a:t>只负责判断时机（</a:t>
            </a:r>
            <a:r>
              <a:rPr lang="zh-CN" altLang="en-US" i="1"/>
              <a:t>只是个二分类问题，给</a:t>
            </a:r>
            <a:r>
              <a:rPr lang="en-US" altLang="zh-CN" i="1"/>
              <a:t>RL</a:t>
            </a:r>
            <a:r>
              <a:rPr lang="zh-CN" altLang="en-US" i="1"/>
              <a:t>的训练压力</a:t>
            </a:r>
            <a:r>
              <a:rPr lang="en-US" altLang="zh-CN" i="1"/>
              <a:t>/</a:t>
            </a:r>
            <a:r>
              <a:rPr lang="zh-CN" altLang="en-US" i="1"/>
              <a:t>能力要求被极大地缓解了</a:t>
            </a:r>
            <a:r>
              <a:rPr lang="zh-CN" altLang="en-US"/>
              <a:t>），并且具体的一致性约束依然是标准的</a:t>
            </a:r>
            <a:r>
              <a:rPr lang="en-US" altLang="zh-CN"/>
              <a:t> Bellman Loss</a:t>
            </a:r>
            <a:r>
              <a:rPr lang="zh-CN" altLang="en-US"/>
              <a:t>，没有</a:t>
            </a:r>
            <a:r>
              <a:rPr lang="zh-CN" altLang="en-US"/>
              <a:t>跑偏。</a:t>
            </a:r>
            <a:endParaRPr lang="zh-CN" altLang="en-US"/>
          </a:p>
          <a:p>
            <a:r>
              <a:rPr lang="zh-CN" altLang="en-US"/>
              <a:t>热启动：我们不需要从头训练</a:t>
            </a:r>
            <a:r>
              <a:rPr lang="en-US" altLang="zh-CN"/>
              <a:t> RL</a:t>
            </a:r>
            <a:r>
              <a:rPr lang="zh-CN" altLang="en-US"/>
              <a:t>。</a:t>
            </a:r>
            <a:r>
              <a:rPr lang="zh-CN" altLang="en-US" i="1" strike="sngStrike"/>
              <a:t>可以先用</a:t>
            </a:r>
            <a:r>
              <a:rPr lang="en-US" altLang="zh-CN" i="1" strike="sngStrike"/>
              <a:t> SFT </a:t>
            </a:r>
            <a:r>
              <a:rPr lang="zh-CN" altLang="en-US" i="1" strike="sngStrike"/>
              <a:t>训练好的</a:t>
            </a:r>
            <a:r>
              <a:rPr lang="en-US" altLang="zh-CN" i="1" strike="sngStrike"/>
              <a:t> BCR </a:t>
            </a:r>
            <a:r>
              <a:rPr lang="zh-CN" altLang="en-US" i="1" strike="sngStrike"/>
              <a:t>模型作为初始点</a:t>
            </a:r>
            <a:r>
              <a:rPr lang="zh-CN" altLang="en-US" i="1"/>
              <a:t>（如果有）</a:t>
            </a:r>
            <a:r>
              <a:rPr lang="zh-CN" altLang="en-US"/>
              <a:t>，如果</a:t>
            </a:r>
            <a:r>
              <a:rPr lang="en-US" altLang="zh-CN"/>
              <a:t>available</a:t>
            </a:r>
            <a:r>
              <a:rPr lang="zh-CN" altLang="en-US"/>
              <a:t>的</a:t>
            </a:r>
            <a:r>
              <a:rPr lang="zh-CN" altLang="en-US"/>
              <a:t>话，此时价值头已经具备基本的一致性判断能力。</a:t>
            </a:r>
            <a:r>
              <a:rPr lang="en-US" altLang="zh-CN"/>
              <a:t>RL </a:t>
            </a:r>
            <a:r>
              <a:rPr lang="zh-CN" altLang="en-US"/>
              <a:t>的作用只是微调这个触发机制，让它学会在简单步骤不验证和在关键步骤验证这种灵活切换的</a:t>
            </a:r>
            <a:r>
              <a:rPr lang="zh-CN" altLang="en-US"/>
              <a:t>能力。</a:t>
            </a:r>
            <a:endParaRPr lang="zh-CN" altLang="en-US"/>
          </a:p>
          <a:p>
            <a:r>
              <a:rPr lang="zh-CN" altLang="en-US"/>
              <a:t>稳定性提升：实际上，因为验证变成了稀疏的（不是每步都</a:t>
            </a:r>
            <a:r>
              <a:rPr lang="zh-CN" altLang="en-US"/>
              <a:t>在做），价值函数不再被高频的、甚至是错误的时间差分信号干扰，训练反而可能比全量级的</a:t>
            </a:r>
            <a:r>
              <a:rPr lang="en-US" altLang="zh-CN"/>
              <a:t> BCR </a:t>
            </a:r>
            <a:r>
              <a:rPr lang="zh-CN" altLang="en-US"/>
              <a:t>更稳定。</a:t>
            </a:r>
            <a:endParaRPr lang="zh-CN" altLang="en-US"/>
          </a:p>
          <a:p>
            <a:endParaRPr lang="zh-CN"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Discussion 3: Action </a:t>
            </a:r>
            <a:r>
              <a:rPr lang="en-US" altLang="zh-CN">
                <a:sym typeface="+mn-ea"/>
              </a:rPr>
              <a:t>Definition</a:t>
            </a:r>
            <a:endParaRPr lang="en-US" altLang="zh-CN">
              <a:sym typeface="+mn-ea"/>
            </a:endParaRPr>
          </a:p>
        </p:txBody>
      </p:sp>
      <p:sp>
        <p:nvSpPr>
          <p:cNvPr id="3" name="内容占位符 2"/>
          <p:cNvSpPr>
            <a:spLocks noGrp="1"/>
          </p:cNvSpPr>
          <p:nvPr>
            <p:ph idx="1"/>
            <p:custDataLst>
              <p:tags r:id="rId2"/>
            </p:custDataLst>
          </p:nvPr>
        </p:nvSpPr>
        <p:spPr/>
        <p:txBody>
          <a:bodyPr/>
          <a:p>
            <a:r>
              <a:rPr lang="zh-CN" altLang="en-US"/>
              <a:t>思考的一个潜在被挑战点：</a:t>
            </a:r>
            <a:r>
              <a:rPr lang="en-US" altLang="zh-CN"/>
              <a:t> </a:t>
            </a:r>
            <a:r>
              <a:rPr lang="zh-CN" altLang="en-US"/>
              <a:t>在</a:t>
            </a:r>
            <a:r>
              <a:rPr lang="en-US" altLang="zh-CN"/>
              <a:t> AnyMAC </a:t>
            </a:r>
            <a:r>
              <a:rPr lang="zh-CN" altLang="en-US"/>
              <a:t>里，每个</a:t>
            </a:r>
            <a:r>
              <a:rPr lang="en-US" altLang="zh-CN"/>
              <a:t> Agent </a:t>
            </a:r>
            <a:r>
              <a:rPr lang="zh-CN" altLang="en-US"/>
              <a:t>都实实在在输出了文本。但在</a:t>
            </a:r>
            <a:r>
              <a:rPr lang="en-US" altLang="zh-CN"/>
              <a:t>ABR </a:t>
            </a:r>
            <a:r>
              <a:rPr lang="zh-CN" altLang="en-US"/>
              <a:t>里，验证动作似乎只是反向传播了一个</a:t>
            </a:r>
            <a:r>
              <a:rPr lang="en-US" altLang="zh-CN"/>
              <a:t> Loss</a:t>
            </a:r>
            <a:r>
              <a:rPr lang="zh-CN" altLang="en-US"/>
              <a:t>，没有输出文本。有可能被问：在强化学习的定义里，这真的算是一个</a:t>
            </a:r>
            <a:r>
              <a:rPr lang="en-US" altLang="zh-CN"/>
              <a:t> Action </a:t>
            </a:r>
            <a:r>
              <a:rPr lang="zh-CN" altLang="en-US"/>
              <a:t>吗？感觉目前的</a:t>
            </a:r>
            <a:r>
              <a:rPr lang="zh-CN" altLang="en-US"/>
              <a:t>思路听起来更像是一个正则化项，而不是一个决策步骤</a:t>
            </a:r>
            <a:endParaRPr lang="zh-CN" altLang="en-US"/>
          </a:p>
          <a:p>
            <a:endParaRPr lang="zh-CN" altLang="en-US"/>
          </a:p>
          <a:p>
            <a:r>
              <a:rPr lang="zh-CN" altLang="en-US"/>
              <a:t>感觉可以这样回应：我们的方法将动作的定义从文本输出扩展到了状态更新，</a:t>
            </a:r>
            <a:r>
              <a:rPr lang="en-US" altLang="zh-CN"/>
              <a:t> </a:t>
            </a:r>
            <a:r>
              <a:rPr lang="zh-CN" altLang="en-US"/>
              <a:t>依然造成了环境状态的改变，</a:t>
            </a:r>
            <a:r>
              <a:rPr lang="en-US" altLang="zh-CN"/>
              <a:t> </a:t>
            </a:r>
            <a:r>
              <a:rPr lang="zh-CN" altLang="en-US"/>
              <a:t>并带来了奖励的获取，</a:t>
            </a:r>
            <a:r>
              <a:rPr lang="en-US" altLang="zh-CN"/>
              <a:t> </a:t>
            </a:r>
            <a:r>
              <a:rPr lang="zh-CN" altLang="en-US"/>
              <a:t>是标准的</a:t>
            </a:r>
            <a:r>
              <a:rPr lang="en-US" altLang="zh-CN"/>
              <a:t>RL</a:t>
            </a:r>
            <a:r>
              <a:rPr lang="zh-CN" altLang="en-US"/>
              <a:t>流程里的动作的效果，</a:t>
            </a:r>
            <a:r>
              <a:rPr lang="en-US" altLang="zh-CN"/>
              <a:t> </a:t>
            </a:r>
            <a:r>
              <a:rPr lang="zh-CN" altLang="en-US"/>
              <a:t>因此可以称为是</a:t>
            </a:r>
            <a:r>
              <a:rPr lang="zh-CN" altLang="en-US"/>
              <a:t>动作</a:t>
            </a:r>
            <a:endParaRPr lang="zh-CN" altLang="en-US"/>
          </a:p>
          <a:p>
            <a:pPr marL="0" indent="0">
              <a:buNone/>
            </a:pPr>
            <a:endParaRPr lang="zh-CN" altLang="en-US"/>
          </a:p>
          <a:p>
            <a:pPr marL="0" indent="0">
              <a:buNone/>
            </a:pPr>
            <a:r>
              <a:rPr lang="zh-CN" altLang="en-US"/>
              <a:t>虽然</a:t>
            </a:r>
            <a:r>
              <a:rPr lang="en-US" altLang="en-US"/>
              <a:t> </a:t>
            </a:r>
            <a:r>
              <a:rPr lang="en-US" altLang="zh-CN"/>
              <a:t>a_ver</a:t>
            </a:r>
            <a:r>
              <a:rPr lang="zh-CN" altLang="en-US"/>
              <a:t>没有像之前方法那样输出给用户的文本，但它输出了一个元状态</a:t>
            </a:r>
            <a:r>
              <a:rPr lang="en-US" altLang="zh-CN"/>
              <a:t>——</a:t>
            </a:r>
            <a:r>
              <a:rPr lang="zh-CN" altLang="en-US"/>
              <a:t>即当前价值与历史锚点的偏差</a:t>
            </a:r>
            <a:r>
              <a:rPr lang="en-US" altLang="en-US"/>
              <a:t> </a:t>
            </a:r>
            <a:r>
              <a:rPr lang="en-US" altLang="zh-CN"/>
              <a:t>δ</a:t>
            </a:r>
            <a:r>
              <a:rPr lang="zh-CN" altLang="en-US"/>
              <a:t>。这个偏差值会被写入</a:t>
            </a:r>
            <a:r>
              <a:rPr lang="en-US" altLang="zh-CN"/>
              <a:t> History Buffer</a:t>
            </a:r>
            <a:r>
              <a:rPr lang="zh-CN" altLang="en-US"/>
              <a:t>，影响后续的决策。</a:t>
            </a:r>
            <a:r>
              <a:rPr lang="en-US" altLang="zh-CN"/>
              <a:t>e.g.</a:t>
            </a:r>
            <a:r>
              <a:rPr lang="zh-CN" altLang="en-US"/>
              <a:t>，如果</a:t>
            </a:r>
            <a:r>
              <a:rPr lang="en-US" altLang="en-US"/>
              <a:t> </a:t>
            </a:r>
            <a:r>
              <a:rPr lang="en-US" altLang="zh-CN"/>
              <a:t>δ</a:t>
            </a:r>
            <a:r>
              <a:rPr lang="zh-CN" altLang="en-US"/>
              <a:t>很大，</a:t>
            </a:r>
            <a:r>
              <a:rPr lang="en-US" altLang="zh-CN"/>
              <a:t>Router </a:t>
            </a:r>
            <a:r>
              <a:rPr lang="zh-CN" altLang="en-US"/>
              <a:t>下一步可能会倾向于选择</a:t>
            </a:r>
            <a:r>
              <a:rPr lang="en-US" altLang="en-US"/>
              <a:t> </a:t>
            </a:r>
            <a:r>
              <a:rPr lang="en-US" altLang="zh-CN"/>
              <a:t>a_fin(</a:t>
            </a:r>
            <a:r>
              <a:rPr lang="zh-CN" altLang="en-US"/>
              <a:t>结束</a:t>
            </a:r>
            <a:r>
              <a:rPr lang="en-US" altLang="zh-CN"/>
              <a:t>) or</a:t>
            </a:r>
            <a:r>
              <a:rPr lang="en-US" altLang="en-US"/>
              <a:t> </a:t>
            </a:r>
            <a:r>
              <a:rPr lang="zh-CN" altLang="en-US"/>
              <a:t>直接放弃，或者触发</a:t>
            </a:r>
            <a:r>
              <a:rPr lang="en-US" altLang="en-US"/>
              <a:t> </a:t>
            </a:r>
            <a:r>
              <a:rPr lang="en-US" altLang="zh-CN"/>
              <a:t>a_backtrack</a:t>
            </a:r>
            <a:endParaRPr lang="en-US" altLang="zh-CN"/>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Discussion 4: Efficiency</a:t>
            </a:r>
            <a:endParaRPr lang="zh-CN" altLang="en-US"/>
          </a:p>
        </p:txBody>
      </p:sp>
      <p:sp>
        <p:nvSpPr>
          <p:cNvPr id="3" name="内容占位符 2"/>
          <p:cNvSpPr>
            <a:spLocks noGrp="1"/>
          </p:cNvSpPr>
          <p:nvPr>
            <p:ph idx="1"/>
            <p:custDataLst>
              <p:tags r:id="rId2"/>
            </p:custDataLst>
          </p:nvPr>
        </p:nvSpPr>
        <p:spPr/>
        <p:txBody>
          <a:bodyPr/>
          <a:p>
            <a:r>
              <a:rPr lang="en-US" altLang="zh-CN"/>
              <a:t>AnyMAC </a:t>
            </a:r>
            <a:r>
              <a:rPr lang="zh-CN" altLang="en-US"/>
              <a:t>的</a:t>
            </a:r>
            <a:r>
              <a:rPr lang="en-US" altLang="zh-CN"/>
              <a:t> NCS </a:t>
            </a:r>
            <a:r>
              <a:rPr lang="zh-CN" altLang="en-US"/>
              <a:t>机制做全局</a:t>
            </a:r>
            <a:r>
              <a:rPr lang="en-US" altLang="zh-CN"/>
              <a:t> Attention</a:t>
            </a:r>
            <a:r>
              <a:rPr lang="zh-CN" altLang="en-US"/>
              <a:t>时有</a:t>
            </a:r>
            <a:r>
              <a:rPr lang="en-US" altLang="zh-CN"/>
              <a:t> Sparse Penalty </a:t>
            </a:r>
            <a:r>
              <a:rPr lang="zh-CN" altLang="en-US"/>
              <a:t>来限制输入给</a:t>
            </a:r>
            <a:r>
              <a:rPr lang="en-US" altLang="zh-CN"/>
              <a:t> LLM </a:t>
            </a:r>
            <a:r>
              <a:rPr lang="zh-CN" altLang="en-US"/>
              <a:t>的上下文长度，从而</a:t>
            </a:r>
            <a:r>
              <a:rPr lang="zh-CN" altLang="en-US" i="1" strike="sngStrike"/>
              <a:t>省钱</a:t>
            </a:r>
            <a:r>
              <a:rPr lang="zh-CN" altLang="en-US"/>
              <a:t>。</a:t>
            </a:r>
            <a:r>
              <a:rPr lang="en-US" altLang="zh-CN"/>
              <a:t>TSS</a:t>
            </a:r>
            <a:r>
              <a:rPr lang="zh-CN" altLang="en-US"/>
              <a:t>（</a:t>
            </a:r>
            <a:r>
              <a:rPr lang="en-US" altLang="zh-CN"/>
              <a:t>Target-Step Selection</a:t>
            </a:r>
            <a:r>
              <a:rPr lang="zh-CN" altLang="en-US"/>
              <a:t>）难道要对所有历史步骤做</a:t>
            </a:r>
            <a:r>
              <a:rPr lang="en-US" altLang="zh-CN"/>
              <a:t> Attention </a:t>
            </a:r>
            <a:r>
              <a:rPr lang="zh-CN" altLang="en-US"/>
              <a:t>来选锚点？如果推理链很长，需要</a:t>
            </a:r>
            <a:r>
              <a:rPr lang="zh-CN" altLang="en-US"/>
              <a:t>思考：这个计算开销会不会成为瓶颈</a:t>
            </a:r>
            <a:endParaRPr lang="zh-CN" altLang="en-US"/>
          </a:p>
          <a:p>
            <a:endParaRPr lang="zh-CN" altLang="en-US"/>
          </a:p>
          <a:p>
            <a:r>
              <a:rPr lang="en-US" altLang="zh-CN"/>
              <a:t>ABR </a:t>
            </a:r>
            <a:r>
              <a:rPr lang="zh-CN" altLang="en-US"/>
              <a:t>的成本在路由上：</a:t>
            </a:r>
            <a:r>
              <a:rPr lang="en-US" altLang="zh-CN"/>
              <a:t>TSS </a:t>
            </a:r>
            <a:r>
              <a:rPr lang="zh-CN" altLang="en-US"/>
              <a:t>的全局</a:t>
            </a:r>
            <a:r>
              <a:rPr lang="en-US" altLang="zh-CN"/>
              <a:t> Attention </a:t>
            </a:r>
            <a:r>
              <a:rPr lang="zh-CN" altLang="en-US"/>
              <a:t>必须发生在</a:t>
            </a:r>
            <a:r>
              <a:rPr lang="zh-CN" altLang="en-US" b="1" i="1"/>
              <a:t>轻量级</a:t>
            </a:r>
            <a:r>
              <a:rPr lang="en-US" altLang="zh-CN" b="1" i="1"/>
              <a:t> Router</a:t>
            </a:r>
            <a:r>
              <a:rPr lang="zh-CN" altLang="en-US"/>
              <a:t>（像</a:t>
            </a:r>
            <a:r>
              <a:rPr lang="en-US" altLang="zh-CN"/>
              <a:t> GPT-2 Small,</a:t>
            </a:r>
            <a:r>
              <a:rPr lang="zh-CN" altLang="en-US"/>
              <a:t>这种可以小到</a:t>
            </a:r>
            <a:r>
              <a:rPr lang="en-US" altLang="zh-CN"/>
              <a:t> 117M </a:t>
            </a:r>
            <a:r>
              <a:rPr lang="zh-CN" altLang="en-US"/>
              <a:t>参数）中内部的向量计算上。它的计算复杂度是</a:t>
            </a:r>
            <a:r>
              <a:rPr lang="en-US" altLang="en-US"/>
              <a:t> </a:t>
            </a:r>
            <a:r>
              <a:rPr lang="en-US" altLang="zh-CN"/>
              <a:t>O(N⋅d) d</a:t>
            </a:r>
            <a:r>
              <a:rPr lang="en-US" altLang="en-US"/>
              <a:t> </a:t>
            </a:r>
            <a:r>
              <a:rPr lang="zh-CN" altLang="en-US"/>
              <a:t>是向量维度。</a:t>
            </a:r>
            <a:r>
              <a:rPr lang="en-US" altLang="zh-CN"/>
              <a:t> N</a:t>
            </a:r>
            <a:r>
              <a:rPr lang="zh-CN" altLang="en-US"/>
              <a:t>是序列长度</a:t>
            </a:r>
            <a:r>
              <a:rPr lang="en-US" altLang="zh-CN"/>
              <a:t> </a:t>
            </a:r>
            <a:endParaRPr lang="en-US" altLang="zh-CN"/>
          </a:p>
          <a:p>
            <a:r>
              <a:rPr lang="zh-CN" altLang="en-US"/>
              <a:t>这个路由其实避免了大量不必要的计算。因为</a:t>
            </a:r>
            <a:r>
              <a:rPr lang="en-US" altLang="zh-CN"/>
              <a:t>Router </a:t>
            </a:r>
            <a:r>
              <a:rPr lang="zh-CN" altLang="en-US"/>
              <a:t>做一次全局</a:t>
            </a:r>
            <a:r>
              <a:rPr lang="en-US" altLang="zh-CN"/>
              <a:t> Attention </a:t>
            </a:r>
            <a:r>
              <a:rPr lang="zh-CN" altLang="en-US"/>
              <a:t>的计算量（轻量级的路由，</a:t>
            </a:r>
            <a:r>
              <a:rPr lang="en-US" altLang="zh-CN"/>
              <a:t>1E6-7</a:t>
            </a:r>
            <a:r>
              <a:rPr lang="zh-CN" altLang="en-US"/>
              <a:t>量级浮点运算），相对于</a:t>
            </a:r>
            <a:r>
              <a:rPr lang="en-US" altLang="zh-CN"/>
              <a:t> LLM </a:t>
            </a:r>
            <a:r>
              <a:rPr lang="zh-CN" altLang="en-US"/>
              <a:t>生成几十个</a:t>
            </a:r>
            <a:r>
              <a:rPr lang="en-US" altLang="zh-CN"/>
              <a:t> Token </a:t>
            </a:r>
            <a:r>
              <a:rPr lang="zh-CN" altLang="en-US"/>
              <a:t>的计算量（</a:t>
            </a:r>
            <a:r>
              <a:rPr lang="en-US" altLang="zh-CN"/>
              <a:t>1E10-11</a:t>
            </a:r>
            <a:r>
              <a:rPr lang="zh-CN" altLang="en-US"/>
              <a:t>量级的浮点运算）可以忽略。在</a:t>
            </a:r>
            <a:r>
              <a:rPr lang="en-US" altLang="zh-CN"/>
              <a:t> Router </a:t>
            </a:r>
            <a:r>
              <a:rPr lang="zh-CN" altLang="en-US"/>
              <a:t>层面用极少算力换来了</a:t>
            </a:r>
            <a:r>
              <a:rPr lang="en-US" altLang="zh-CN"/>
              <a:t> LLM </a:t>
            </a:r>
            <a:r>
              <a:rPr lang="zh-CN" altLang="en-US"/>
              <a:t>层面的省力，减少不必要的生成回溯，在整体上</a:t>
            </a:r>
            <a:r>
              <a:rPr lang="zh-CN" altLang="en-US"/>
              <a:t>依然是极大的效率提升</a:t>
            </a:r>
            <a:endParaRPr lang="zh-CN" altLang="en-US"/>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55645"/>
            <a:ext cx="10969200" cy="705600"/>
          </a:xfrm>
        </p:spPr>
        <p:txBody>
          <a:bodyPr/>
          <a:p>
            <a:r>
              <a:rPr lang="en-US" altLang="zh-CN">
                <a:sym typeface="+mn-ea"/>
              </a:rPr>
              <a:t>Discussion 5: Reward </a:t>
            </a:r>
            <a:r>
              <a:rPr lang="en-US" altLang="zh-CN">
                <a:sym typeface="+mn-ea"/>
              </a:rPr>
              <a:t>Design</a:t>
            </a:r>
            <a:endParaRPr lang="en-US" altLang="zh-CN">
              <a:sym typeface="+mn-ea"/>
            </a:endParaRPr>
          </a:p>
        </p:txBody>
      </p:sp>
      <p:sp>
        <p:nvSpPr>
          <p:cNvPr id="3" name="内容占位符 2"/>
          <p:cNvSpPr>
            <a:spLocks noGrp="1"/>
          </p:cNvSpPr>
          <p:nvPr>
            <p:ph idx="1"/>
            <p:custDataLst>
              <p:tags r:id="rId2"/>
            </p:custDataLst>
          </p:nvPr>
        </p:nvSpPr>
        <p:spPr>
          <a:xfrm>
            <a:off x="608330" y="961390"/>
            <a:ext cx="10968990" cy="5646420"/>
          </a:xfrm>
        </p:spPr>
        <p:txBody>
          <a:bodyPr/>
          <a:p>
            <a:r>
              <a:rPr lang="zh-CN" altLang="en-US"/>
              <a:t>面临一个和</a:t>
            </a:r>
            <a:r>
              <a:rPr lang="en-US" altLang="zh-CN"/>
              <a:t>BCR</a:t>
            </a:r>
            <a:r>
              <a:rPr lang="zh-CN" altLang="en-US"/>
              <a:t>类似的奖励破解风险：当下的</a:t>
            </a:r>
            <a:r>
              <a:rPr lang="en-US" altLang="zh-CN"/>
              <a:t>Reward </a:t>
            </a:r>
            <a:r>
              <a:rPr lang="zh-CN" altLang="en-US"/>
              <a:t>设计是</a:t>
            </a:r>
            <a:r>
              <a:rPr lang="en-US" altLang="zh-CN"/>
              <a:t> </a:t>
            </a:r>
            <a:r>
              <a:rPr lang="zh-CN" altLang="en-US"/>
              <a:t>正确性</a:t>
            </a:r>
            <a:r>
              <a:rPr lang="en-US" altLang="zh-CN"/>
              <a:t> - Beta * </a:t>
            </a:r>
            <a:r>
              <a:rPr lang="zh-CN" altLang="en-US"/>
              <a:t>验证次数。这</a:t>
            </a:r>
            <a:r>
              <a:rPr lang="en-US" altLang="zh-CN"/>
              <a:t>s</a:t>
            </a:r>
            <a:r>
              <a:rPr lang="zh-CN" altLang="en-US"/>
              <a:t>似乎很鼓励模型为了省事而不去验证。需要注意这个风险项：如果模型发现</a:t>
            </a:r>
            <a:r>
              <a:rPr lang="zh-CN" altLang="en-US" i="1" strike="sngStrike"/>
              <a:t>瞎猜</a:t>
            </a:r>
            <a:r>
              <a:rPr lang="zh-CN" altLang="en-US"/>
              <a:t>也能在简单题目上拿高分，它就会学到</a:t>
            </a:r>
            <a:r>
              <a:rPr lang="zh-CN" altLang="en-US" i="1" strike="sngStrike"/>
              <a:t>高估自信、从不检查</a:t>
            </a:r>
            <a:r>
              <a:rPr lang="zh-CN" altLang="en-US"/>
              <a:t>的策略。这会导致模型变成一个</a:t>
            </a:r>
            <a:r>
              <a:rPr lang="zh-CN" altLang="en-US" i="1" strike="sngStrike"/>
              <a:t>自信的</a:t>
            </a:r>
            <a:r>
              <a:rPr lang="en-US" altLang="zh-CN" i="1" strike="sngStrike"/>
              <a:t>Gambler</a:t>
            </a:r>
            <a:r>
              <a:rPr lang="zh-CN" altLang="en-US"/>
              <a:t>，虽然准确率尚可，但完全失去了</a:t>
            </a:r>
            <a:r>
              <a:rPr lang="en-US" altLang="zh-CN"/>
              <a:t> BCR </a:t>
            </a:r>
            <a:r>
              <a:rPr lang="zh-CN" altLang="en-US"/>
              <a:t>强调的忠实性。需要</a:t>
            </a:r>
            <a:r>
              <a:rPr lang="zh-CN" altLang="en-US"/>
              <a:t>严格防止</a:t>
            </a:r>
            <a:r>
              <a:rPr lang="en-US" altLang="zh-CN"/>
              <a:t> Reward Hacking</a:t>
            </a:r>
            <a:endParaRPr lang="en-US" altLang="zh-CN"/>
          </a:p>
          <a:p>
            <a:pPr marL="0" indent="0">
              <a:buNone/>
            </a:pPr>
            <a:r>
              <a:rPr lang="en-US" altLang="zh-CN"/>
              <a:t>==&gt; </a:t>
            </a:r>
            <a:r>
              <a:rPr lang="zh-CN" altLang="en-US"/>
              <a:t>其实该机制内在有安全网</a:t>
            </a:r>
            <a:r>
              <a:rPr lang="en-US" altLang="zh-CN"/>
              <a:t>/</a:t>
            </a:r>
            <a:r>
              <a:rPr lang="zh-CN" altLang="en-US"/>
              <a:t>防御机制，</a:t>
            </a:r>
            <a:r>
              <a:rPr lang="en-US" altLang="zh-CN"/>
              <a:t> </a:t>
            </a:r>
            <a:r>
              <a:rPr lang="zh-CN" altLang="en-US"/>
              <a:t>但可能需要更多完善</a:t>
            </a:r>
            <a:endParaRPr lang="en-US" altLang="zh-CN"/>
          </a:p>
          <a:p>
            <a:r>
              <a:rPr lang="zh-CN" altLang="en-US"/>
              <a:t>防御机制：</a:t>
            </a:r>
            <a:r>
              <a:rPr lang="en-US" altLang="zh-CN"/>
              <a:t>BCR </a:t>
            </a:r>
            <a:r>
              <a:rPr lang="zh-CN" altLang="en-US"/>
              <a:t>的核心假设是忠实的过程才能带来稳健的准确率。如果模型选择懒惰不验证，它的价值估计就会因为缺乏正则化而逐渐漂移。在遇到困难</a:t>
            </a:r>
            <a:r>
              <a:rPr lang="en-US" altLang="zh-CN"/>
              <a:t>OOD</a:t>
            </a:r>
            <a:r>
              <a:rPr lang="zh-CN" altLang="en-US"/>
              <a:t>样本</a:t>
            </a:r>
            <a:r>
              <a:rPr lang="en-US" altLang="zh-CN"/>
              <a:t>Out-of-Distribution</a:t>
            </a:r>
            <a:r>
              <a:rPr lang="zh-CN" altLang="en-US"/>
              <a:t>时，漂移的价值会必然导致错误累积，最终答错。</a:t>
            </a:r>
            <a:r>
              <a:rPr lang="en-US" altLang="zh-CN"/>
              <a:t>RL </a:t>
            </a:r>
            <a:r>
              <a:rPr lang="zh-CN" altLang="en-US"/>
              <a:t>的</a:t>
            </a:r>
            <a:r>
              <a:rPr lang="en-US" altLang="zh-CN"/>
              <a:t> </a:t>
            </a:r>
            <a:r>
              <a:rPr lang="en-US" altLang="zh-CN" b="1"/>
              <a:t>Correctness Reward </a:t>
            </a:r>
            <a:r>
              <a:rPr lang="zh-CN" altLang="en-US"/>
              <a:t>会</a:t>
            </a:r>
            <a:r>
              <a:rPr lang="zh-CN" altLang="en-US" i="1"/>
              <a:t>狠狠惩罚（</a:t>
            </a:r>
            <a:r>
              <a:rPr lang="en-US" altLang="zh-CN" i="1"/>
              <a:t>bushi</a:t>
            </a:r>
            <a:r>
              <a:rPr lang="zh-CN" altLang="en-US" i="1"/>
              <a:t>）</a:t>
            </a:r>
            <a:r>
              <a:rPr lang="zh-CN" altLang="en-US"/>
              <a:t>这种在难题上的失败，迫使模型在必要时恢复验证</a:t>
            </a:r>
            <a:endParaRPr lang="zh-CN" altLang="en-US"/>
          </a:p>
          <a:p>
            <a:r>
              <a:rPr lang="zh-CN" altLang="en-US"/>
              <a:t>为了进一步防范，我们可以修改</a:t>
            </a:r>
            <a:r>
              <a:rPr lang="en-US" altLang="zh-CN"/>
              <a:t> Reward </a:t>
            </a:r>
            <a:r>
              <a:rPr lang="zh-CN" altLang="en-US"/>
              <a:t>函数，（拟定）加入</a:t>
            </a:r>
            <a:r>
              <a:rPr lang="zh-CN" altLang="en-US" b="1" i="1"/>
              <a:t>平滑度奖励</a:t>
            </a:r>
            <a:endParaRPr lang="zh-CN" altLang="en-US" b="1" i="1"/>
          </a:p>
          <a:p>
            <a:r>
              <a:rPr lang="en-US" altLang="zh-CN"/>
              <a:t>Smoothness </a:t>
            </a:r>
            <a:r>
              <a:rPr lang="zh-CN" altLang="en-US"/>
              <a:t>是价值轨迹的方差项。即使答对了，如果价值曲线</a:t>
            </a:r>
            <a:r>
              <a:rPr lang="zh-CN" altLang="en-US" i="1" strike="sngStrike"/>
              <a:t>上蹿下跳</a:t>
            </a:r>
            <a:r>
              <a:rPr lang="zh-CN" altLang="en-US"/>
              <a:t>（过程不</a:t>
            </a:r>
            <a:r>
              <a:rPr lang="en-US" altLang="zh-CN"/>
              <a:t>faithful</a:t>
            </a:r>
            <a:r>
              <a:rPr lang="zh-CN" altLang="en-US"/>
              <a:t>），</a:t>
            </a:r>
            <a:r>
              <a:rPr lang="en-US" altLang="zh-CN"/>
              <a:t>Reward </a:t>
            </a:r>
            <a:r>
              <a:rPr lang="zh-CN" altLang="en-US"/>
              <a:t>也会降低。这直接将优化的目标与</a:t>
            </a:r>
            <a:r>
              <a:rPr lang="en-US" altLang="zh-CN"/>
              <a:t> BCR </a:t>
            </a:r>
            <a:r>
              <a:rPr lang="zh-CN" altLang="en-US"/>
              <a:t>的初衷（平滑性）对齐，堵死了</a:t>
            </a:r>
            <a:r>
              <a:rPr lang="en-US" altLang="zh-CN"/>
              <a:t>‘</a:t>
            </a:r>
            <a:r>
              <a:rPr lang="zh-CN" altLang="en-US"/>
              <a:t>猜对</a:t>
            </a:r>
            <a:r>
              <a:rPr lang="en-US" altLang="zh-CN"/>
              <a:t>’</a:t>
            </a:r>
            <a:r>
              <a:rPr lang="zh-CN" altLang="en-US"/>
              <a:t>的捷径</a:t>
            </a:r>
            <a:endParaRPr lang="zh-CN" altLang="en-US"/>
          </a:p>
        </p:txBody>
      </p:sp>
      <p:pic>
        <p:nvPicPr>
          <p:cNvPr id="4" name="图片 3"/>
          <p:cNvPicPr>
            <a:picLocks noChangeAspect="1"/>
          </p:cNvPicPr>
          <p:nvPr/>
        </p:nvPicPr>
        <p:blipFill>
          <a:blip r:embed="rId3"/>
          <a:stretch>
            <a:fillRect/>
          </a:stretch>
        </p:blipFill>
        <p:spPr>
          <a:xfrm>
            <a:off x="763270" y="5887085"/>
            <a:ext cx="6505575" cy="628650"/>
          </a:xfrm>
          <a:prstGeom prst="rect">
            <a:avLst/>
          </a:prstGeom>
        </p:spPr>
      </p:pic>
    </p:spTree>
    <p:custDataLst>
      <p:tags r:id="rId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97585"/>
            <a:ext cx="9799200" cy="2570400"/>
          </a:xfrm>
        </p:spPr>
        <p:txBody>
          <a:bodyPr/>
          <a:p>
            <a:r>
              <a:rPr lang="en-US" altLang="zh-CN"/>
              <a:t>Tech Details </a:t>
            </a:r>
            <a:r>
              <a:rPr lang="en-US" altLang="zh-CN"/>
              <a:t>Discussion</a:t>
            </a:r>
            <a:endParaRPr lang="en-US" altLang="zh-CN"/>
          </a:p>
        </p:txBody>
      </p:sp>
      <p:sp>
        <p:nvSpPr>
          <p:cNvPr id="4" name="文本框 3"/>
          <p:cNvSpPr txBox="1"/>
          <p:nvPr/>
        </p:nvSpPr>
        <p:spPr>
          <a:xfrm>
            <a:off x="3420110" y="4107815"/>
            <a:ext cx="5351780" cy="368300"/>
          </a:xfrm>
          <a:prstGeom prst="rect">
            <a:avLst/>
          </a:prstGeom>
          <a:noFill/>
        </p:spPr>
        <p:txBody>
          <a:bodyPr wrap="square" rtlCol="0">
            <a:spAutoFit/>
          </a:bodyPr>
          <a:p>
            <a:endParaRPr lang="en-US" altLang="zh-CN"/>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330" y="608330"/>
            <a:ext cx="11386820" cy="705485"/>
          </a:xfrm>
        </p:spPr>
        <p:txBody>
          <a:bodyPr>
            <a:normAutofit/>
          </a:bodyPr>
          <a:p>
            <a:r>
              <a:rPr lang="en-US" altLang="zh-CN">
                <a:sym typeface="+mn-ea"/>
              </a:rPr>
              <a:t>ABR (Adaptive Bellman Reasoning) - Overview</a:t>
            </a:r>
            <a:endParaRPr lang="zh-CN" altLang="en-US"/>
          </a:p>
        </p:txBody>
      </p:sp>
      <p:sp>
        <p:nvSpPr>
          <p:cNvPr id="3" name="内容占位符 2"/>
          <p:cNvSpPr>
            <a:spLocks noGrp="1"/>
          </p:cNvSpPr>
          <p:nvPr>
            <p:ph idx="1"/>
            <p:custDataLst>
              <p:tags r:id="rId2"/>
            </p:custDataLst>
          </p:nvPr>
        </p:nvSpPr>
        <p:spPr/>
        <p:txBody>
          <a:bodyPr/>
          <a:p>
            <a:pPr marL="0" indent="0">
              <a:buNone/>
            </a:pPr>
            <a:r>
              <a:rPr lang="en-US" altLang="zh-CN"/>
              <a:t>1. System Overview</a:t>
            </a:r>
            <a:r>
              <a:rPr lang="zh-CN" altLang="en-US"/>
              <a:t>：</a:t>
            </a:r>
            <a:endParaRPr lang="zh-CN" altLang="en-US"/>
          </a:p>
          <a:p>
            <a:r>
              <a:rPr lang="zh-CN" altLang="en-US"/>
              <a:t>底座策略模型</a:t>
            </a:r>
            <a:r>
              <a:rPr lang="en-US" altLang="zh-CN"/>
              <a:t> (Base LLM,</a:t>
            </a:r>
            <a:r>
              <a:rPr lang="en-US" altLang="en-US"/>
              <a:t> </a:t>
            </a:r>
            <a:r>
              <a:rPr lang="zh-CN" altLang="en-US"/>
              <a:t>记为</a:t>
            </a:r>
            <a:r>
              <a:rPr lang="en-US" altLang="zh-CN"/>
              <a:t>π_θ):</a:t>
            </a:r>
            <a:r>
              <a:rPr lang="en-US" altLang="en-US"/>
              <a:t> </a:t>
            </a:r>
            <a:r>
              <a:rPr lang="zh-CN" altLang="en-US"/>
              <a:t>生成推理文本，包含价值头，用于评估状态。</a:t>
            </a:r>
            <a:endParaRPr lang="zh-CN" altLang="en-US"/>
          </a:p>
          <a:p>
            <a:r>
              <a:rPr lang="zh-CN" altLang="en-US"/>
              <a:t>路由模型</a:t>
            </a:r>
            <a:r>
              <a:rPr lang="en-US" altLang="zh-CN"/>
              <a:t> (Router,</a:t>
            </a:r>
            <a:r>
              <a:rPr lang="en-US" altLang="en-US"/>
              <a:t> </a:t>
            </a:r>
            <a:r>
              <a:rPr lang="zh-CN"/>
              <a:t>记为</a:t>
            </a:r>
            <a:r>
              <a:rPr lang="en-US" altLang="zh-CN"/>
              <a:t>π_route):</a:t>
            </a:r>
            <a:r>
              <a:rPr lang="en-US" altLang="en-US"/>
              <a:t> </a:t>
            </a:r>
            <a:r>
              <a:rPr lang="zh-CN" altLang="en-US"/>
              <a:t>基于当前状态，预测下一步动作。</a:t>
            </a:r>
            <a:endParaRPr lang="zh-CN" altLang="en-US"/>
          </a:p>
          <a:p>
            <a:r>
              <a:rPr lang="zh-CN" altLang="en-US"/>
              <a:t>状态编码器（</a:t>
            </a:r>
            <a:r>
              <a:rPr lang="en-US" altLang="zh-CN"/>
              <a:t>State Encoder</a:t>
            </a:r>
            <a:r>
              <a:rPr lang="zh-CN" altLang="en-US"/>
              <a:t>）</a:t>
            </a:r>
            <a:r>
              <a:rPr lang="en-US" altLang="zh-CN"/>
              <a:t>:</a:t>
            </a:r>
            <a:r>
              <a:rPr lang="en-US" altLang="en-US"/>
              <a:t> </a:t>
            </a:r>
            <a:r>
              <a:rPr lang="zh-CN" altLang="en-US"/>
              <a:t>将</a:t>
            </a:r>
            <a:r>
              <a:rPr lang="en-US" altLang="zh-CN"/>
              <a:t>base model</a:t>
            </a:r>
            <a:r>
              <a:rPr lang="zh-CN" altLang="en-US"/>
              <a:t>的内部状态编码为路由模型可理解的向量。</a:t>
            </a:r>
            <a:endParaRPr lang="zh-CN" altLang="en-US"/>
          </a:p>
          <a:p>
            <a:endParaRPr lang="zh-CN" altLang="en-US"/>
          </a:p>
          <a:p>
            <a:r>
              <a:rPr lang="en-US" altLang="zh-CN"/>
              <a:t>Data Flow</a:t>
            </a:r>
            <a:r>
              <a:rPr lang="zh-CN" altLang="en-US"/>
              <a:t>：</a:t>
            </a:r>
            <a:r>
              <a:rPr lang="en-US" altLang="zh-CN"/>
              <a:t>Query</a:t>
            </a:r>
            <a:r>
              <a:rPr lang="en-US" altLang="en-US"/>
              <a:t> </a:t>
            </a:r>
            <a:r>
              <a:rPr lang="en-US" altLang="zh-CN"/>
              <a:t>-&gt;</a:t>
            </a:r>
            <a:r>
              <a:rPr lang="en-US" altLang="en-US"/>
              <a:t> </a:t>
            </a:r>
            <a:r>
              <a:rPr lang="en-US" altLang="zh-CN"/>
              <a:t>Base LLM (Gen Step)</a:t>
            </a:r>
            <a:r>
              <a:rPr lang="en-US" altLang="en-US"/>
              <a:t> </a:t>
            </a:r>
            <a:r>
              <a:rPr lang="en-US" altLang="zh-CN"/>
              <a:t>-&gt;</a:t>
            </a:r>
            <a:r>
              <a:rPr lang="en-US" altLang="en-US"/>
              <a:t> </a:t>
            </a:r>
            <a:r>
              <a:rPr lang="en-US" altLang="zh-CN"/>
              <a:t>State Encoding</a:t>
            </a:r>
            <a:r>
              <a:rPr lang="en-US" altLang="en-US"/>
              <a:t> </a:t>
            </a:r>
            <a:r>
              <a:rPr lang="en-US" altLang="zh-CN"/>
              <a:t>-&gt;</a:t>
            </a:r>
            <a:r>
              <a:rPr lang="en-US" altLang="en-US"/>
              <a:t> </a:t>
            </a:r>
            <a:r>
              <a:rPr lang="en-US" altLang="zh-CN"/>
              <a:t>Router (Predict Action)</a:t>
            </a:r>
            <a:r>
              <a:rPr lang="en-US" altLang="en-US"/>
              <a:t> </a:t>
            </a:r>
            <a:r>
              <a:rPr lang="en-US" altLang="zh-CN"/>
              <a:t>-&gt;</a:t>
            </a:r>
            <a:r>
              <a:rPr lang="en-US" altLang="en-US"/>
              <a:t> </a:t>
            </a:r>
            <a:r>
              <a:rPr lang="en-US" altLang="zh-CN"/>
              <a:t>Action (Gen/Ver/Fin)</a:t>
            </a:r>
            <a:r>
              <a:rPr lang="en-US" altLang="en-US"/>
              <a:t> </a:t>
            </a:r>
            <a:r>
              <a:rPr lang="en-US" altLang="zh-CN"/>
              <a:t>-&gt;</a:t>
            </a:r>
            <a:r>
              <a:rPr lang="en-US" altLang="en-US"/>
              <a:t> </a:t>
            </a:r>
            <a:r>
              <a:rPr lang="en-US" altLang="zh-CN"/>
              <a:t>Update History</a:t>
            </a:r>
            <a:r>
              <a:rPr lang="en-US" altLang="en-US"/>
              <a:t> </a:t>
            </a:r>
            <a:r>
              <a:rPr lang="en-US" altLang="zh-CN"/>
              <a:t>-&gt; Loop.</a:t>
            </a:r>
            <a:endParaRPr lang="en-US" altLang="zh-CN"/>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Base LLM</a:t>
            </a:r>
            <a:endParaRPr lang="en-US" altLang="zh-CN"/>
          </a:p>
        </p:txBody>
      </p:sp>
      <p:sp>
        <p:nvSpPr>
          <p:cNvPr id="3" name="内容占位符 2"/>
          <p:cNvSpPr>
            <a:spLocks noGrp="1"/>
          </p:cNvSpPr>
          <p:nvPr>
            <p:ph idx="1"/>
            <p:custDataLst>
              <p:tags r:id="rId2"/>
            </p:custDataLst>
          </p:nvPr>
        </p:nvSpPr>
        <p:spPr/>
        <p:txBody>
          <a:bodyPr/>
          <a:p>
            <a:pPr marL="0" indent="0">
              <a:buNone/>
            </a:pPr>
            <a:r>
              <a:rPr lang="en-US" altLang="zh-CN"/>
              <a:t> </a:t>
            </a:r>
            <a:r>
              <a:rPr lang="zh-CN" altLang="en-US"/>
              <a:t>方案</a:t>
            </a:r>
            <a:r>
              <a:rPr lang="en-US" altLang="zh-CN"/>
              <a:t>A</a:t>
            </a:r>
            <a:r>
              <a:rPr lang="zh-CN" altLang="en-US"/>
              <a:t>：</a:t>
            </a:r>
            <a:r>
              <a:rPr lang="en-US" altLang="zh-CN"/>
              <a:t>Llama </a:t>
            </a:r>
            <a:r>
              <a:rPr lang="zh-CN" altLang="en-US"/>
              <a:t>系列，</a:t>
            </a:r>
            <a:r>
              <a:rPr lang="en-US" altLang="zh-CN"/>
              <a:t> </a:t>
            </a:r>
            <a:r>
              <a:rPr lang="zh-CN" altLang="en-US"/>
              <a:t>如</a:t>
            </a:r>
            <a:r>
              <a:rPr lang="en-US" altLang="zh-CN"/>
              <a:t> </a:t>
            </a:r>
            <a:r>
              <a:rPr lang="en-US" altLang="zh-CN">
                <a:solidFill>
                  <a:srgbClr val="FF0000"/>
                </a:solidFill>
                <a:latin typeface="Consolas" panose="020B0609020204030204" charset="0"/>
                <a:cs typeface="Consolas" panose="020B0609020204030204" charset="0"/>
              </a:rPr>
              <a:t>Llama-3-8B-Instruct</a:t>
            </a:r>
            <a:endParaRPr lang="en-US" altLang="zh-CN">
              <a:solidFill>
                <a:srgbClr val="FF0000"/>
              </a:solidFill>
              <a:latin typeface="Consolas" panose="020B0609020204030204" charset="0"/>
              <a:cs typeface="Consolas" panose="020B0609020204030204" charset="0"/>
            </a:endParaRPr>
          </a:p>
          <a:p>
            <a:pPr marL="0" indent="0">
              <a:buNone/>
            </a:pPr>
            <a:r>
              <a:rPr lang="zh-CN" altLang="en-US">
                <a:latin typeface="Consolas" panose="020B0609020204030204" charset="0"/>
                <a:cs typeface="Consolas" panose="020B0609020204030204" charset="0"/>
              </a:rPr>
              <a:t>感觉</a:t>
            </a:r>
            <a:r>
              <a:rPr lang="en-US" altLang="zh-CN">
                <a:latin typeface="Consolas" panose="020B0609020204030204" charset="0"/>
                <a:cs typeface="Consolas" panose="020B0609020204030204" charset="0"/>
              </a:rPr>
              <a:t>llama</a:t>
            </a:r>
            <a:r>
              <a:rPr lang="zh-CN" altLang="en-US">
                <a:latin typeface="Consolas" panose="020B0609020204030204" charset="0"/>
                <a:cs typeface="Consolas" panose="020B0609020204030204" charset="0"/>
              </a:rPr>
              <a:t>社区生态比较成熟，</a:t>
            </a:r>
            <a:r>
              <a:rPr lang="en-US" altLang="zh-CN">
                <a:latin typeface="Consolas" panose="020B0609020204030204" charset="0"/>
                <a:cs typeface="Consolas" panose="020B0609020204030204" charset="0"/>
              </a:rPr>
              <a:t>8B </a:t>
            </a:r>
            <a:r>
              <a:rPr lang="zh-CN" altLang="en-US">
                <a:latin typeface="Consolas" panose="020B0609020204030204" charset="0"/>
                <a:cs typeface="Consolas" panose="020B0609020204030204" charset="0"/>
              </a:rPr>
              <a:t>参数量</a:t>
            </a:r>
            <a:r>
              <a:rPr lang="zh-CN" altLang="en-US">
                <a:latin typeface="Consolas" panose="020B0609020204030204" charset="0"/>
                <a:cs typeface="Consolas" panose="020B0609020204030204" charset="0"/>
              </a:rPr>
              <a:t>足以在单卡（如</a:t>
            </a:r>
            <a:r>
              <a:rPr lang="en-US" altLang="zh-CN">
                <a:latin typeface="Consolas" panose="020B0609020204030204" charset="0"/>
                <a:cs typeface="Consolas" panose="020B0609020204030204" charset="0"/>
              </a:rPr>
              <a:t> A100/ A6000</a:t>
            </a:r>
            <a:r>
              <a:rPr lang="zh-CN" altLang="en-US">
                <a:latin typeface="Consolas" panose="020B0609020204030204" charset="0"/>
                <a:cs typeface="Consolas" panose="020B0609020204030204" charset="0"/>
              </a:rPr>
              <a:t>）上可进行全量微调</a:t>
            </a:r>
            <a:endParaRPr lang="zh-CN" altLang="en-US">
              <a:latin typeface="Consolas" panose="020B0609020204030204" charset="0"/>
              <a:cs typeface="Consolas" panose="020B0609020204030204" charset="0"/>
            </a:endParaRPr>
          </a:p>
          <a:p>
            <a:pPr marL="0" indent="0">
              <a:buNone/>
            </a:pPr>
            <a:endParaRPr lang="zh-CN" altLang="en-US">
              <a:latin typeface="Consolas" panose="020B0609020204030204" charset="0"/>
              <a:cs typeface="Consolas" panose="020B0609020204030204" charset="0"/>
            </a:endParaRPr>
          </a:p>
          <a:p>
            <a:pPr marL="0" indent="0">
              <a:buNone/>
            </a:pPr>
            <a:r>
              <a:rPr lang="zh-CN" altLang="en-US">
                <a:latin typeface="Consolas" panose="020B0609020204030204" charset="0"/>
                <a:cs typeface="Consolas" panose="020B0609020204030204" charset="0"/>
              </a:rPr>
              <a:t>方案</a:t>
            </a:r>
            <a:r>
              <a:rPr lang="en-US" altLang="zh-CN">
                <a:latin typeface="Consolas" panose="020B0609020204030204" charset="0"/>
                <a:cs typeface="Consolas" panose="020B0609020204030204" charset="0"/>
              </a:rPr>
              <a:t>B</a:t>
            </a:r>
            <a:r>
              <a:rPr lang="zh-CN" altLang="en-US">
                <a:latin typeface="Consolas" panose="020B0609020204030204" charset="0"/>
                <a:cs typeface="Consolas" panose="020B0609020204030204" charset="0"/>
              </a:rPr>
              <a:t>：</a:t>
            </a:r>
            <a:r>
              <a:rPr lang="en-US" altLang="zh-CN">
                <a:latin typeface="Consolas" panose="020B0609020204030204" charset="0"/>
                <a:cs typeface="Consolas" panose="020B0609020204030204" charset="0"/>
              </a:rPr>
              <a:t> Qwen</a:t>
            </a:r>
            <a:r>
              <a:rPr lang="zh-CN" altLang="en-US">
                <a:latin typeface="Consolas" panose="020B0609020204030204" charset="0"/>
                <a:cs typeface="Consolas" panose="020B0609020204030204" charset="0"/>
              </a:rPr>
              <a:t>系列，</a:t>
            </a:r>
            <a:r>
              <a:rPr lang="en-US" altLang="zh-CN">
                <a:latin typeface="Consolas" panose="020B0609020204030204" charset="0"/>
                <a:cs typeface="Consolas" panose="020B0609020204030204" charset="0"/>
              </a:rPr>
              <a:t> </a:t>
            </a:r>
            <a:r>
              <a:rPr lang="zh-CN" altLang="en-US">
                <a:latin typeface="Consolas" panose="020B0609020204030204" charset="0"/>
                <a:cs typeface="Consolas" panose="020B0609020204030204" charset="0"/>
              </a:rPr>
              <a:t>如</a:t>
            </a:r>
            <a:r>
              <a:rPr lang="en-US" altLang="zh-CN">
                <a:latin typeface="Consolas" panose="020B0609020204030204" charset="0"/>
                <a:cs typeface="Consolas" panose="020B0609020204030204" charset="0"/>
              </a:rPr>
              <a:t> </a:t>
            </a:r>
            <a:r>
              <a:rPr lang="en-US" altLang="zh-CN">
                <a:solidFill>
                  <a:srgbClr val="FF0000"/>
                </a:solidFill>
                <a:latin typeface="Consolas" panose="020B0609020204030204" charset="0"/>
                <a:cs typeface="Consolas" panose="020B0609020204030204" charset="0"/>
              </a:rPr>
              <a:t>Qwen2.5-7B-Instruct</a:t>
            </a:r>
            <a:r>
              <a:rPr lang="zh-CN" altLang="en-US">
                <a:latin typeface="Consolas" panose="020B0609020204030204" charset="0"/>
                <a:cs typeface="Consolas" panose="020B0609020204030204" charset="0"/>
              </a:rPr>
              <a:t>及后续</a:t>
            </a:r>
            <a:endParaRPr lang="zh-CN" altLang="en-US">
              <a:latin typeface="Consolas" panose="020B0609020204030204" charset="0"/>
              <a:cs typeface="Consolas" panose="020B0609020204030204" charset="0"/>
            </a:endParaRPr>
          </a:p>
          <a:p>
            <a:pPr marL="0" indent="0">
              <a:buNone/>
            </a:pPr>
            <a:r>
              <a:rPr lang="zh-CN" altLang="en-US">
                <a:latin typeface="Consolas" panose="020B0609020204030204" charset="0"/>
                <a:cs typeface="Consolas" panose="020B0609020204030204" charset="0"/>
              </a:rPr>
              <a:t>数学推理能力（</a:t>
            </a:r>
            <a:r>
              <a:rPr lang="en-US" altLang="zh-CN">
                <a:latin typeface="Consolas" panose="020B0609020204030204" charset="0"/>
                <a:cs typeface="Consolas" panose="020B0609020204030204" charset="0"/>
              </a:rPr>
              <a:t>GSM8K</a:t>
            </a:r>
            <a:r>
              <a:rPr lang="zh-CN" altLang="en-US">
                <a:latin typeface="Consolas" panose="020B0609020204030204" charset="0"/>
                <a:cs typeface="Consolas" panose="020B0609020204030204" charset="0"/>
              </a:rPr>
              <a:t>）可能略优于</a:t>
            </a:r>
            <a:r>
              <a:rPr lang="en-US" altLang="zh-CN">
                <a:latin typeface="Consolas" panose="020B0609020204030204" charset="0"/>
                <a:cs typeface="Consolas" panose="020B0609020204030204" charset="0"/>
              </a:rPr>
              <a:t> Llama </a:t>
            </a:r>
            <a:r>
              <a:rPr lang="zh-CN" altLang="en-US">
                <a:latin typeface="Consolas" panose="020B0609020204030204" charset="0"/>
                <a:cs typeface="Consolas" panose="020B0609020204030204" charset="0"/>
              </a:rPr>
              <a:t>同级模型，</a:t>
            </a:r>
            <a:r>
              <a:rPr lang="en-US" altLang="zh-CN">
                <a:latin typeface="Consolas" panose="020B0609020204030204" charset="0"/>
                <a:cs typeface="Consolas" panose="020B0609020204030204" charset="0"/>
              </a:rPr>
              <a:t> </a:t>
            </a:r>
            <a:r>
              <a:rPr lang="zh-CN" altLang="en-US">
                <a:latin typeface="Consolas" panose="020B0609020204030204" charset="0"/>
                <a:cs typeface="Consolas" panose="020B0609020204030204" charset="0"/>
              </a:rPr>
              <a:t>在我们要拟定</a:t>
            </a:r>
            <a:r>
              <a:rPr lang="en-US" altLang="zh-CN">
                <a:latin typeface="Consolas" panose="020B0609020204030204" charset="0"/>
                <a:cs typeface="Consolas" panose="020B0609020204030204" charset="0"/>
              </a:rPr>
              <a:t>run</a:t>
            </a:r>
            <a:r>
              <a:rPr lang="zh-CN" altLang="en-US">
                <a:latin typeface="Consolas" panose="020B0609020204030204" charset="0"/>
                <a:cs typeface="Consolas" panose="020B0609020204030204" charset="0"/>
              </a:rPr>
              <a:t>的数据集上基础表现可能更好</a:t>
            </a:r>
            <a:r>
              <a:rPr lang="en-US" altLang="zh-CN">
                <a:latin typeface="Consolas" panose="020B0609020204030204" charset="0"/>
                <a:cs typeface="Consolas" panose="020B0609020204030204" charset="0"/>
              </a:rPr>
              <a:t> AQuA, StrategyQA</a:t>
            </a:r>
            <a:endParaRPr lang="zh-CN" altLang="en-US">
              <a:latin typeface="Consolas" panose="020B0609020204030204" charset="0"/>
              <a:cs typeface="Consolas" panose="020B0609020204030204" charset="0"/>
            </a:endParaRPr>
          </a:p>
          <a:p>
            <a:pPr marL="0" indent="0">
              <a:buNone/>
            </a:pPr>
            <a:endParaRPr lang="zh-CN" altLang="en-US">
              <a:latin typeface="Consolas" panose="020B0609020204030204" charset="0"/>
              <a:cs typeface="Consolas" panose="020B0609020204030204" charset="0"/>
            </a:endParaRPr>
          </a:p>
          <a:p>
            <a:pPr marL="0" indent="0">
              <a:buNone/>
            </a:pPr>
            <a:endParaRPr lang="zh-CN" altLang="en-US">
              <a:latin typeface="Consolas" panose="020B0609020204030204" charset="0"/>
              <a:cs typeface="Consolas" panose="020B0609020204030204" charset="0"/>
            </a:endParaRPr>
          </a:p>
          <a:p>
            <a:pPr marL="0" indent="0">
              <a:buNone/>
            </a:pPr>
            <a:endParaRPr lang="zh-CN" altLang="en-US">
              <a:latin typeface="Consolas" panose="020B0609020204030204" charset="0"/>
              <a:cs typeface="Consolas" panose="020B0609020204030204" charset="0"/>
            </a:endParaRPr>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Base LLM: Value Head</a:t>
            </a:r>
            <a:endParaRPr lang="en-US" altLang="zh-CN"/>
          </a:p>
        </p:txBody>
      </p:sp>
      <p:sp>
        <p:nvSpPr>
          <p:cNvPr id="3" name="内容占位符 2"/>
          <p:cNvSpPr>
            <a:spLocks noGrp="1"/>
          </p:cNvSpPr>
          <p:nvPr>
            <p:ph idx="1"/>
            <p:custDataLst>
              <p:tags r:id="rId2"/>
            </p:custDataLst>
          </p:nvPr>
        </p:nvSpPr>
        <p:spPr/>
        <p:txBody>
          <a:bodyPr/>
          <a:p>
            <a:r>
              <a:rPr lang="zh-CN" altLang="en-US"/>
              <a:t>价值头</a:t>
            </a:r>
            <a:r>
              <a:rPr lang="en-US" altLang="zh-CN"/>
              <a:t> </a:t>
            </a:r>
            <a:r>
              <a:rPr lang="zh-CN" altLang="en-US"/>
              <a:t>设计</a:t>
            </a:r>
            <a:r>
              <a:rPr lang="en-US" altLang="zh-CN"/>
              <a:t>:</a:t>
            </a:r>
            <a:endParaRPr lang="en-US" altLang="zh-CN"/>
          </a:p>
          <a:p>
            <a:pPr marL="0" indent="0">
              <a:buNone/>
            </a:pPr>
            <a:endParaRPr lang="en-US" altLang="zh-CN"/>
          </a:p>
          <a:p>
            <a:pPr marL="0" indent="0">
              <a:buNone/>
            </a:pPr>
            <a:r>
              <a:rPr lang="zh-CN" altLang="en-US"/>
              <a:t>输入</a:t>
            </a:r>
            <a:r>
              <a:rPr lang="en-US" altLang="zh-CN"/>
              <a:t>:</a:t>
            </a:r>
            <a:r>
              <a:rPr lang="en-US" altLang="en-US"/>
              <a:t> </a:t>
            </a:r>
            <a:r>
              <a:rPr lang="zh-CN" altLang="en-US"/>
              <a:t>模型最后一个</a:t>
            </a:r>
            <a:r>
              <a:rPr lang="en-US" altLang="zh-CN"/>
              <a:t> Token </a:t>
            </a:r>
            <a:r>
              <a:rPr lang="zh-CN" altLang="en-US"/>
              <a:t>的隐藏状态</a:t>
            </a:r>
            <a:r>
              <a:rPr lang="en-US" altLang="en-US"/>
              <a:t> </a:t>
            </a:r>
            <a:r>
              <a:rPr lang="en-US" altLang="zh-CN"/>
              <a:t>h_last​</a:t>
            </a:r>
            <a:r>
              <a:rPr lang="zh-CN" altLang="en-US"/>
              <a:t>。</a:t>
            </a:r>
            <a:endParaRPr lang="zh-CN" altLang="en-US"/>
          </a:p>
          <a:p>
            <a:pPr marL="0" indent="0">
              <a:buNone/>
            </a:pPr>
            <a:r>
              <a:rPr lang="zh-CN" altLang="en-US"/>
              <a:t>最简结构</a:t>
            </a:r>
            <a:r>
              <a:rPr lang="en-US" altLang="zh-CN"/>
              <a:t>:</a:t>
            </a:r>
            <a:r>
              <a:rPr lang="en-US" altLang="en-US"/>
              <a:t> </a:t>
            </a:r>
            <a:r>
              <a:rPr lang="zh-CN" altLang="en-US"/>
              <a:t>一个简单的线性层</a:t>
            </a:r>
            <a:r>
              <a:rPr lang="en-US" altLang="en-US"/>
              <a:t> </a:t>
            </a:r>
            <a:r>
              <a:rPr lang="en-US" altLang="zh-CN"/>
              <a:t>Linear</a:t>
            </a:r>
            <a:r>
              <a:rPr lang="en-US" altLang="en-US"/>
              <a:t> </a:t>
            </a:r>
            <a:r>
              <a:rPr lang="en-US" altLang="zh-CN"/>
              <a:t>+ Sigmoid </a:t>
            </a:r>
            <a:r>
              <a:rPr lang="zh-CN" altLang="en-US"/>
              <a:t>激活。</a:t>
            </a:r>
            <a:endParaRPr lang="zh-CN" altLang="en-US"/>
          </a:p>
          <a:p>
            <a:pPr marL="0" indent="0">
              <a:buNone/>
            </a:pPr>
            <a:r>
              <a:rPr lang="zh-CN" altLang="en-US"/>
              <a:t>输出</a:t>
            </a:r>
            <a:r>
              <a:rPr lang="en-US" altLang="zh-CN"/>
              <a:t>:</a:t>
            </a:r>
            <a:r>
              <a:rPr lang="en-US" altLang="en-US"/>
              <a:t> </a:t>
            </a:r>
            <a:r>
              <a:rPr lang="zh-CN" altLang="en-US"/>
              <a:t>标量</a:t>
            </a:r>
            <a:r>
              <a:rPr lang="en-US" altLang="en-US"/>
              <a:t> </a:t>
            </a:r>
            <a:r>
              <a:rPr lang="en-US" altLang="zh-CN"/>
              <a:t>V∈[0,1]</a:t>
            </a:r>
            <a:r>
              <a:rPr lang="zh-CN" altLang="en-US"/>
              <a:t>，表示当前轨迹最终答对的概率。</a:t>
            </a:r>
            <a:endParaRPr lang="zh-CN" altLang="en-US"/>
          </a:p>
          <a:p>
            <a:pPr marL="0" indent="0">
              <a:buNone/>
            </a:pPr>
            <a:r>
              <a:rPr lang="zh-CN" altLang="en-US"/>
              <a:t>初始化</a:t>
            </a:r>
            <a:r>
              <a:rPr lang="en-US" altLang="zh-CN"/>
              <a:t>:</a:t>
            </a:r>
            <a:r>
              <a:rPr lang="en-US" altLang="en-US"/>
              <a:t> </a:t>
            </a:r>
            <a:r>
              <a:rPr lang="zh-CN" altLang="en-US"/>
              <a:t>输出层权重初始化为</a:t>
            </a:r>
            <a:r>
              <a:rPr lang="en-US" altLang="zh-CN"/>
              <a:t> 0</a:t>
            </a:r>
            <a:r>
              <a:rPr lang="zh-CN" altLang="en-US"/>
              <a:t>，</a:t>
            </a:r>
            <a:r>
              <a:rPr lang="en-US" altLang="zh-CN"/>
              <a:t>bias</a:t>
            </a:r>
            <a:r>
              <a:rPr lang="zh-CN" altLang="en-US"/>
              <a:t>初始化为</a:t>
            </a:r>
            <a:r>
              <a:rPr lang="en-US" altLang="zh-CN"/>
              <a:t> 0.5</a:t>
            </a:r>
            <a:r>
              <a:rPr lang="zh-CN" altLang="en-US"/>
              <a:t>，设置为对应初始不确定性</a:t>
            </a:r>
            <a:endParaRPr lang="zh-CN" altLang="en-US"/>
          </a:p>
          <a:p>
            <a:pPr marL="0" indent="0">
              <a:buNone/>
            </a:pPr>
            <a:endParaRPr lang="zh-CN" altLang="en-US"/>
          </a:p>
          <a:p>
            <a:pPr marL="0" indent="0">
              <a:buNone/>
            </a:pPr>
            <a:endParaRPr lang="zh-CN" altLang="en-US"/>
          </a:p>
        </p:txBody>
      </p:sp>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Router</a:t>
            </a:r>
            <a:endParaRPr lang="en-US" altLang="zh-CN"/>
          </a:p>
        </p:txBody>
      </p:sp>
      <p:sp>
        <p:nvSpPr>
          <p:cNvPr id="3" name="内容占位符 2"/>
          <p:cNvSpPr>
            <a:spLocks noGrp="1"/>
          </p:cNvSpPr>
          <p:nvPr>
            <p:ph idx="1"/>
            <p:custDataLst>
              <p:tags r:id="rId2"/>
            </p:custDataLst>
          </p:nvPr>
        </p:nvSpPr>
        <p:spPr/>
        <p:txBody>
          <a:bodyPr/>
          <a:p>
            <a:r>
              <a:rPr lang="zh-CN" altLang="en-US"/>
              <a:t>希望我们的方案像</a:t>
            </a:r>
            <a:r>
              <a:rPr lang="en-US" altLang="zh-CN"/>
              <a:t>AnyMAC </a:t>
            </a:r>
            <a:r>
              <a:rPr lang="zh-CN" altLang="en-US"/>
              <a:t>的</a:t>
            </a:r>
            <a:r>
              <a:rPr lang="en-US" altLang="zh-CN"/>
              <a:t>Next-Action Prediction</a:t>
            </a:r>
            <a:r>
              <a:rPr lang="zh-CN" altLang="en-US"/>
              <a:t>那样轻量且高效</a:t>
            </a:r>
            <a:endParaRPr lang="zh-CN" altLang="en-US"/>
          </a:p>
          <a:p>
            <a:pPr marL="0" indent="0">
              <a:buNone/>
            </a:pPr>
            <a:r>
              <a:rPr lang="zh-CN" altLang="en-US"/>
              <a:t>方案</a:t>
            </a:r>
            <a:r>
              <a:rPr lang="en-US" altLang="zh-CN"/>
              <a:t> A (GPT-2 Small):</a:t>
            </a:r>
            <a:endParaRPr lang="en-US" altLang="zh-CN"/>
          </a:p>
          <a:p>
            <a:pPr marL="0" indent="0">
              <a:buNone/>
            </a:pPr>
            <a:r>
              <a:rPr lang="zh-CN" altLang="en-US"/>
              <a:t>模型</a:t>
            </a:r>
            <a:r>
              <a:rPr lang="en-US" altLang="zh-CN"/>
              <a:t>: gpt2-small (117M params, 12 layers, 768 hidden)</a:t>
            </a:r>
            <a:r>
              <a:rPr lang="zh-CN" altLang="en-US"/>
              <a:t>或</a:t>
            </a:r>
            <a:r>
              <a:rPr lang="zh-CN" altLang="en-US"/>
              <a:t>其他</a:t>
            </a:r>
            <a:endParaRPr lang="zh-CN" altLang="en-US"/>
          </a:p>
          <a:p>
            <a:pPr marL="0" indent="0">
              <a:buNone/>
            </a:pPr>
            <a:r>
              <a:rPr lang="zh-CN" altLang="en-US"/>
              <a:t>计算开销极低（</a:t>
            </a:r>
            <a:r>
              <a:rPr lang="en-US" altLang="zh-CN"/>
              <a:t>&lt;1ms</a:t>
            </a:r>
            <a:r>
              <a:rPr lang="zh-CN" altLang="en-US"/>
              <a:t>），且如果做出来了的话，</a:t>
            </a:r>
            <a:r>
              <a:rPr lang="en-US" altLang="zh-CN"/>
              <a:t> </a:t>
            </a:r>
            <a:r>
              <a:rPr lang="zh-CN" altLang="en-US"/>
              <a:t>可以说明</a:t>
            </a:r>
            <a:r>
              <a:rPr lang="en-US" altLang="zh-CN"/>
              <a:t>“</a:t>
            </a:r>
            <a:r>
              <a:rPr lang="zh-CN" altLang="en-US"/>
              <a:t>小模型也能做聪明路由</a:t>
            </a:r>
            <a:r>
              <a:rPr lang="en-US" altLang="zh-CN"/>
              <a:t>”</a:t>
            </a:r>
            <a:r>
              <a:rPr lang="zh-CN" altLang="en-US"/>
              <a:t>，增加工作的</a:t>
            </a:r>
            <a:r>
              <a:rPr lang="en-US" altLang="zh-CN"/>
              <a:t>impressiveness</a:t>
            </a:r>
            <a:endParaRPr lang="en-US" altLang="zh-CN"/>
          </a:p>
          <a:p>
            <a:pPr marL="0" indent="0">
              <a:buNone/>
            </a:pPr>
            <a:r>
              <a:rPr lang="en-US" altLang="zh-CN"/>
              <a:t>Qwen 0,7B</a:t>
            </a:r>
            <a:endParaRPr lang="en-US" altLang="zh-CN"/>
          </a:p>
          <a:p>
            <a:pPr marL="0" indent="0">
              <a:buNone/>
            </a:pPr>
            <a:endParaRPr lang="en-US" altLang="zh-CN"/>
          </a:p>
          <a:p>
            <a:pPr marL="0" indent="0">
              <a:buNone/>
            </a:pPr>
            <a:r>
              <a:rPr lang="zh-CN" altLang="en-US">
                <a:sym typeface="+mn-ea"/>
              </a:rPr>
              <a:t>方案</a:t>
            </a:r>
            <a:r>
              <a:rPr lang="en-US" altLang="zh-CN"/>
              <a:t>B (TinyLlama)</a:t>
            </a:r>
            <a:endParaRPr lang="en-US" altLang="zh-CN"/>
          </a:p>
          <a:p>
            <a:pPr marL="0" indent="0">
              <a:buNone/>
            </a:pPr>
            <a:r>
              <a:rPr lang="zh-CN" altLang="en-US"/>
              <a:t>如</a:t>
            </a:r>
            <a:r>
              <a:rPr lang="en-US" altLang="zh-CN"/>
              <a:t>TinyLlama-1.1B</a:t>
            </a:r>
            <a:r>
              <a:rPr lang="zh-CN" altLang="en-US"/>
              <a:t>，</a:t>
            </a:r>
            <a:r>
              <a:rPr lang="en-US" altLang="zh-CN"/>
              <a:t> </a:t>
            </a:r>
            <a:r>
              <a:rPr lang="zh-CN" altLang="en-US"/>
              <a:t>其架构更</a:t>
            </a:r>
            <a:r>
              <a:rPr lang="zh-CN" altLang="en-US"/>
              <a:t>加新，比</a:t>
            </a:r>
            <a:r>
              <a:rPr lang="en-US" altLang="zh-CN"/>
              <a:t> GPT-2 </a:t>
            </a:r>
            <a:r>
              <a:rPr lang="zh-CN" altLang="en-US"/>
              <a:t>性能更强，并且</a:t>
            </a:r>
            <a:r>
              <a:rPr lang="zh-CN" altLang="en-US"/>
              <a:t>依然轻量</a:t>
            </a:r>
            <a:endParaRPr lang="zh-CN"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Router</a:t>
            </a:r>
            <a:r>
              <a:rPr lang="zh-CN" altLang="en-US"/>
              <a:t>：</a:t>
            </a:r>
            <a:r>
              <a:rPr lang="en-US" altLang="zh-CN"/>
              <a:t> Input </a:t>
            </a:r>
            <a:r>
              <a:rPr lang="en-US" altLang="zh-CN"/>
              <a:t>Embedding</a:t>
            </a:r>
            <a:endParaRPr lang="en-US" altLang="zh-CN"/>
          </a:p>
        </p:txBody>
      </p:sp>
      <p:sp>
        <p:nvSpPr>
          <p:cNvPr id="3" name="内容占位符 2"/>
          <p:cNvSpPr>
            <a:spLocks noGrp="1"/>
          </p:cNvSpPr>
          <p:nvPr>
            <p:ph idx="1"/>
            <p:custDataLst>
              <p:tags r:id="rId2"/>
            </p:custDataLst>
          </p:nvPr>
        </p:nvSpPr>
        <p:spPr/>
        <p:txBody>
          <a:bodyPr/>
          <a:p>
            <a:r>
              <a:rPr lang="zh-CN" altLang="en-US"/>
              <a:t>输入</a:t>
            </a:r>
            <a:r>
              <a:rPr lang="en-US" altLang="zh-CN"/>
              <a:t> Embedding </a:t>
            </a:r>
            <a:r>
              <a:rPr lang="zh-CN" altLang="en-US"/>
              <a:t>构造（？）</a:t>
            </a:r>
            <a:endParaRPr lang="zh-CN" altLang="en-US"/>
          </a:p>
          <a:p>
            <a:pPr marL="0" indent="0">
              <a:buNone/>
            </a:pPr>
            <a:r>
              <a:rPr lang="en-US" altLang="zh-CN"/>
              <a:t>Query Embedding (e_q):</a:t>
            </a:r>
            <a:r>
              <a:rPr lang="en-US" altLang="en-US"/>
              <a:t> </a:t>
            </a:r>
            <a:r>
              <a:rPr lang="zh-CN" altLang="en-US"/>
              <a:t>用</a:t>
            </a:r>
            <a:r>
              <a:rPr lang="en-US" altLang="zh-CN"/>
              <a:t> LLM </a:t>
            </a:r>
            <a:r>
              <a:rPr lang="zh-CN" altLang="en-US"/>
              <a:t>处理完</a:t>
            </a:r>
            <a:r>
              <a:rPr lang="en-US" altLang="zh-CN"/>
              <a:t> Question </a:t>
            </a:r>
            <a:r>
              <a:rPr lang="zh-CN" altLang="en-US"/>
              <a:t>后的</a:t>
            </a:r>
            <a:r>
              <a:rPr lang="en-US" altLang="en-US"/>
              <a:t> </a:t>
            </a:r>
            <a:r>
              <a:rPr lang="en-US" altLang="zh-CN"/>
              <a:t>[CLS]</a:t>
            </a:r>
            <a:r>
              <a:rPr lang="en-US" altLang="en-US"/>
              <a:t> </a:t>
            </a:r>
            <a:r>
              <a:rPr lang="zh-CN" altLang="en-US"/>
              <a:t>对应的？或平均池化向量？</a:t>
            </a:r>
            <a:endParaRPr lang="zh-CN" altLang="en-US"/>
          </a:p>
          <a:p>
            <a:pPr marL="0" indent="0">
              <a:buNone/>
            </a:pPr>
            <a:r>
              <a:rPr lang="en-US" altLang="zh-CN"/>
              <a:t>History Embedding (e_h):</a:t>
            </a:r>
            <a:endParaRPr lang="en-US" altLang="zh-CN"/>
          </a:p>
          <a:p>
            <a:pPr marL="0" indent="0">
              <a:buNone/>
            </a:pPr>
            <a:r>
              <a:rPr lang="zh-CN" altLang="en-US"/>
              <a:t>对于历史每一步</a:t>
            </a:r>
            <a:r>
              <a:rPr lang="en-US" altLang="en-US"/>
              <a:t> </a:t>
            </a:r>
            <a:r>
              <a:rPr lang="en-US" altLang="zh-CN"/>
              <a:t>Si</a:t>
            </a:r>
            <a:r>
              <a:rPr lang="zh-CN" altLang="en-US"/>
              <a:t>，</a:t>
            </a:r>
            <a:r>
              <a:rPr lang="zh-CN" altLang="en-US"/>
              <a:t>可以保留其生成最后时刻的</a:t>
            </a:r>
            <a:r>
              <a:rPr lang="en-US" altLang="zh-CN"/>
              <a:t> Hidden State</a:t>
            </a:r>
            <a:r>
              <a:rPr lang="zh-CN" altLang="en-US"/>
              <a:t>，</a:t>
            </a:r>
            <a:r>
              <a:rPr lang="en-US" altLang="en-US"/>
              <a:t> </a:t>
            </a:r>
            <a:r>
              <a:rPr lang="en-US" altLang="zh-CN"/>
              <a:t>hi</a:t>
            </a:r>
            <a:endParaRPr lang="en-US" altLang="zh-CN"/>
          </a:p>
          <a:p>
            <a:pPr marL="0" indent="0">
              <a:buNone/>
            </a:pPr>
            <a:r>
              <a:rPr lang="zh-CN" altLang="en-US"/>
              <a:t>使用一个可学习的</a:t>
            </a:r>
            <a:r>
              <a:rPr lang="en-US" altLang="zh-CN"/>
              <a:t> Query </a:t>
            </a:r>
            <a:r>
              <a:rPr lang="zh-CN" altLang="en-US"/>
              <a:t>向量</a:t>
            </a:r>
            <a:r>
              <a:rPr lang="en-US" altLang="en-US"/>
              <a:t> </a:t>
            </a:r>
            <a:r>
              <a:rPr lang="en-US" altLang="zh-CN"/>
              <a:t>q_agg</a:t>
            </a:r>
            <a:r>
              <a:rPr lang="en-US" altLang="en-US"/>
              <a:t> </a:t>
            </a:r>
            <a:r>
              <a:rPr lang="zh-CN" altLang="en-US"/>
              <a:t>对</a:t>
            </a:r>
            <a:r>
              <a:rPr lang="en-US" altLang="en-US"/>
              <a:t> </a:t>
            </a:r>
            <a:r>
              <a:rPr lang="en-US" altLang="zh-CN"/>
              <a:t>hi</a:t>
            </a:r>
            <a:r>
              <a:rPr lang="en-US" altLang="en-US"/>
              <a:t> </a:t>
            </a:r>
            <a:r>
              <a:rPr lang="zh-CN" altLang="en-US"/>
              <a:t>做</a:t>
            </a:r>
            <a:r>
              <a:rPr lang="en-US" altLang="zh-CN"/>
              <a:t> Attention </a:t>
            </a:r>
            <a:r>
              <a:rPr lang="zh-CN" altLang="en-US"/>
              <a:t>池化，得到历史步骤的向量表示</a:t>
            </a:r>
            <a:endParaRPr lang="zh-CN" altLang="en-US"/>
          </a:p>
          <a:p>
            <a:pPr marL="0" indent="0">
              <a:buNone/>
            </a:pPr>
            <a:r>
              <a:rPr lang="zh-CN" altLang="en-US"/>
              <a:t>这么做</a:t>
            </a:r>
            <a:r>
              <a:rPr lang="zh-CN" altLang="en-US"/>
              <a:t>感觉比直接平均更关注关键步骤</a:t>
            </a:r>
            <a:endParaRPr lang="zh-CN" altLang="en-US"/>
          </a:p>
          <a:p>
            <a:pPr marL="0" indent="0">
              <a:buNone/>
            </a:pPr>
            <a:r>
              <a:rPr lang="en-US" altLang="zh-CN"/>
              <a:t>Action Token Embeddings:</a:t>
            </a:r>
            <a:r>
              <a:rPr lang="en-US" altLang="en-US"/>
              <a:t> </a:t>
            </a:r>
            <a:r>
              <a:rPr lang="zh-CN" altLang="en-US"/>
              <a:t>为三个动作</a:t>
            </a:r>
            <a:r>
              <a:rPr lang="en-US" altLang="en-US"/>
              <a:t> </a:t>
            </a:r>
            <a:r>
              <a:rPr lang="en-US" altLang="zh-CN"/>
              <a:t>a_gen,a_ver,a_fin</a:t>
            </a:r>
            <a:r>
              <a:rPr lang="zh-CN" altLang="en-US"/>
              <a:t>分别初始化三个可学习向量</a:t>
            </a:r>
            <a:endParaRPr lang="zh-CN" altLang="en-US"/>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Optimizer</a:t>
            </a:r>
            <a:endParaRPr lang="en-US" altLang="zh-CN"/>
          </a:p>
        </p:txBody>
      </p:sp>
      <p:sp>
        <p:nvSpPr>
          <p:cNvPr id="3" name="内容占位符 2"/>
          <p:cNvSpPr>
            <a:spLocks noGrp="1"/>
          </p:cNvSpPr>
          <p:nvPr>
            <p:ph idx="1"/>
            <p:custDataLst>
              <p:tags r:id="rId2"/>
            </p:custDataLst>
          </p:nvPr>
        </p:nvSpPr>
        <p:spPr/>
        <p:txBody>
          <a:bodyPr/>
          <a:p>
            <a:r>
              <a:rPr lang="en-US" altLang="zh-CN"/>
              <a:t>Optimizer</a:t>
            </a:r>
            <a:endParaRPr lang="en-US" altLang="zh-CN"/>
          </a:p>
          <a:p>
            <a:pPr marL="0" indent="0">
              <a:buNone/>
            </a:pPr>
            <a:r>
              <a:rPr lang="en-US" altLang="zh-CN"/>
              <a:t>PyTorch </a:t>
            </a:r>
            <a:r>
              <a:rPr lang="zh-CN" altLang="en-US"/>
              <a:t>原生</a:t>
            </a:r>
            <a:r>
              <a:rPr lang="en-US" altLang="zh-CN"/>
              <a:t> AdamW; </a:t>
            </a:r>
            <a:endParaRPr lang="en-US" altLang="zh-CN"/>
          </a:p>
          <a:p>
            <a:pPr marL="0" indent="0">
              <a:buNone/>
            </a:pPr>
            <a:r>
              <a:rPr lang="zh-CN" altLang="en-US"/>
              <a:t>若</a:t>
            </a:r>
            <a:r>
              <a:rPr lang="en-US" altLang="zh-CN"/>
              <a:t>VRAM</a:t>
            </a:r>
            <a:r>
              <a:rPr lang="zh-CN" altLang="en-US"/>
              <a:t>开销大，</a:t>
            </a:r>
            <a:r>
              <a:rPr lang="en-US" altLang="zh-CN"/>
              <a:t> Sophia </a:t>
            </a:r>
            <a:r>
              <a:rPr lang="zh-CN" altLang="en-US"/>
              <a:t>或</a:t>
            </a:r>
            <a:r>
              <a:rPr lang="en-US" altLang="zh-CN"/>
              <a:t> Adafactor </a:t>
            </a:r>
            <a:r>
              <a:rPr lang="zh-CN" altLang="en-US"/>
              <a:t>这类技术</a:t>
            </a:r>
            <a:r>
              <a:rPr lang="zh-CN" altLang="en-US"/>
              <a:t>的显存占用</a:t>
            </a:r>
            <a:r>
              <a:rPr lang="zh-CN" altLang="en-US"/>
              <a:t>可能更小，步长</a:t>
            </a:r>
            <a:r>
              <a:rPr lang="zh-CN" altLang="en-US"/>
              <a:t>可能更稳定</a:t>
            </a:r>
            <a:endParaRPr lang="zh-CN" altLang="en-US"/>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Estimated Parameter </a:t>
            </a:r>
            <a:r>
              <a:rPr lang="en-US" altLang="zh-CN"/>
              <a:t>Setting</a:t>
            </a:r>
            <a:endParaRPr lang="en-US" altLang="zh-CN"/>
          </a:p>
        </p:txBody>
      </p:sp>
      <p:sp>
        <p:nvSpPr>
          <p:cNvPr id="3" name="内容占位符 2"/>
          <p:cNvSpPr>
            <a:spLocks noGrp="1"/>
          </p:cNvSpPr>
          <p:nvPr>
            <p:ph idx="1"/>
            <p:custDataLst>
              <p:tags r:id="rId2"/>
            </p:custDataLst>
          </p:nvPr>
        </p:nvSpPr>
        <p:spPr/>
        <p:txBody>
          <a:bodyPr/>
          <a:p>
            <a:pPr marL="0" indent="0">
              <a:buNone/>
            </a:pPr>
            <a:r>
              <a:rPr lang="zh-CN" altLang="en-US"/>
              <a:t>预估的参数值（需要很多经验</a:t>
            </a:r>
            <a:r>
              <a:rPr lang="zh-CN" altLang="en-US"/>
              <a:t>欸）</a:t>
            </a:r>
            <a:endParaRPr lang="zh-CN" altLang="en-US"/>
          </a:p>
        </p:txBody>
      </p:sp>
      <p:graphicFrame>
        <p:nvGraphicFramePr>
          <p:cNvPr id="4" name="表格 3"/>
          <p:cNvGraphicFramePr/>
          <p:nvPr/>
        </p:nvGraphicFramePr>
        <p:xfrm>
          <a:off x="853440" y="2486660"/>
          <a:ext cx="4920615" cy="3696970"/>
        </p:xfrm>
        <a:graphic>
          <a:graphicData uri="http://schemas.openxmlformats.org/drawingml/2006/table">
            <a:tbl>
              <a:tblPr/>
              <a:tblGrid>
                <a:gridCol w="1640205"/>
                <a:gridCol w="1640205"/>
                <a:gridCol w="1640205"/>
              </a:tblGrid>
              <a:tr h="527050">
                <a:tc>
                  <a:txBody>
                    <a:bodyPr/>
                    <a:p>
                      <a:pPr marL="0" indent="0" algn="just">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Component</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txBody>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12700">
                      <a:solidFill>
                        <a:schemeClr val="tx1"/>
                      </a:solidFill>
                      <a:prstDash val="soli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HyperParameter</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12700">
                      <a:solidFill>
                        <a:schemeClr val="tx1"/>
                      </a:solidFill>
                      <a:prstDash val="soli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Value</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12700">
                      <a:solidFill>
                        <a:schemeClr val="tx1"/>
                      </a:solidFill>
                      <a:prstDash val="solid"/>
                    </a:lnT>
                    <a:lnB w="3175" cap="flat" cmpd="sng">
                      <a:solidFill>
                        <a:srgbClr val="434346"/>
                      </a:solidFill>
                      <a:prstDash val="solid"/>
                      <a:headEnd type="none" w="med" len="med"/>
                      <a:tailEnd type="none" w="med" len="med"/>
                    </a:lnB>
                    <a:noFill/>
                  </a:tcPr>
                </a:tc>
              </a:tr>
              <a:tr h="527050">
                <a:tc rowSpan="3">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Base LLM</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p>
                      <a:pPr marL="0" indent="0" algn="just">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txBody>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Model Size</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7B/ 8B/14B</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r>
              <a:tr h="527050">
                <a:tc vMerge="1">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Max Seq Len</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4096-8192</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r>
              <a:tr h="534670">
                <a:tc vMerge="1">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LR (SFT Phase)</a:t>
                      </a:r>
                      <a:r>
                        <a:rPr lang="zh-CN" altLang="en-US" sz="1400">
                          <a:solidFill>
                            <a:schemeClr val="tx1"/>
                          </a:solidFill>
                          <a:latin typeface="Arial" panose="020B0604020202020204" pitchFamily="34" charset="0"/>
                          <a:ea typeface="Calibri" panose="020F0502020204030204"/>
                          <a:cs typeface="Arial" panose="020B0604020202020204" pitchFamily="34" charset="0"/>
                        </a:rPr>
                        <a:t>学习率</a:t>
                      </a:r>
                      <a:endParaRPr lang="zh-CN" altLang="en-US"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2e-5-5e5</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r>
              <a:tr h="527050">
                <a:tc rowSpan="3">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Router</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p>
                      <a:pPr marL="0" indent="0" algn="just">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a:spcBef>
                          <a:spcPct val="0"/>
                        </a:spcBef>
                        <a:spcAft>
                          <a:spcPct val="0"/>
                        </a:spcAft>
                      </a:pPr>
                      <a:r>
                        <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rPr>
                        <a:t> </a:t>
                      </a:r>
                      <a:endParaRPr lang="en-US" altLang="zh-CN" sz="1400">
                        <a:solidFill>
                          <a:schemeClr val="tx1"/>
                        </a:solidFill>
                        <a:latin typeface="Arial" panose="020B0604020202020204" pitchFamily="34" charset="0"/>
                        <a:ea typeface="宋体" panose="02010600030101010101" pitchFamily="2" charset="-122"/>
                        <a:cs typeface="Arial" panose="020B0604020202020204" pitchFamily="34" charset="0"/>
                      </a:endParaRPr>
                    </a:p>
                  </a:txBody>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Hidden Dim</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768-1024</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r>
              <a:tr h="527050">
                <a:tc vMerge="1">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Num Layers</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6-12</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r>
              <a:tr h="527050">
                <a:tc vMerge="1">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LR (RL Phase)</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marL="0" indent="0" algn="just">
                        <a:spcBef>
                          <a:spcPct val="0"/>
                        </a:spcBef>
                        <a:spcAft>
                          <a:spcPct val="0"/>
                        </a:spcAft>
                      </a:pPr>
                      <a:r>
                        <a:rPr lang="en-US" altLang="zh-CN" sz="1400">
                          <a:solidFill>
                            <a:schemeClr val="tx1"/>
                          </a:solidFill>
                          <a:latin typeface="Arial" panose="020B0604020202020204" pitchFamily="34" charset="0"/>
                          <a:ea typeface="Calibri" panose="020F0502020204030204"/>
                          <a:cs typeface="Arial" panose="020B0604020202020204" pitchFamily="34" charset="0"/>
                        </a:rPr>
                        <a:t>1e-4-5e-4</a:t>
                      </a:r>
                      <a:endParaRPr lang="en-US" altLang="zh-CN" sz="1400">
                        <a:solidFill>
                          <a:schemeClr val="tx1"/>
                        </a:solidFill>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graphicFrame>
        <p:nvGraphicFramePr>
          <p:cNvPr id="5" name="表格 4"/>
          <p:cNvGraphicFramePr/>
          <p:nvPr/>
        </p:nvGraphicFramePr>
        <p:xfrm>
          <a:off x="6478270" y="2485390"/>
          <a:ext cx="4297680" cy="3698240"/>
        </p:xfrm>
        <a:graphic>
          <a:graphicData uri="http://schemas.openxmlformats.org/drawingml/2006/table">
            <a:tbl>
              <a:tblPr/>
              <a:tblGrid>
                <a:gridCol w="1432560"/>
                <a:gridCol w="1432560"/>
                <a:gridCol w="1432560"/>
              </a:tblGrid>
              <a:tr h="894080">
                <a:tc rowSpan="4">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Training</a:t>
                      </a:r>
                      <a:endParaRPr lang="en-US" altLang="zh-CN" sz="1400">
                        <a:latin typeface="Arial" panose="020B0604020202020204" pitchFamily="34" charset="0"/>
                        <a:ea typeface="Calibri" panose="020F0502020204030204"/>
                        <a:cs typeface="Arial" panose="020B0604020202020204" pitchFamily="34" charset="0"/>
                      </a:endParaRPr>
                    </a:p>
                    <a:p>
                      <a:pPr marL="0" algn="just">
                        <a:buClrTx/>
                        <a:buSzTx/>
                        <a:buFontTx/>
                      </a:pPr>
                      <a:r>
                        <a:rPr lang="en-US" altLang="zh-CN" sz="1100">
                          <a:latin typeface="Arial" panose="020B0604020202020204" pitchFamily="34" charset="0"/>
                          <a:ea typeface="Calibri" panose="020F0502020204030204"/>
                          <a:cs typeface="Arial" panose="020B0604020202020204" pitchFamily="34" charset="0"/>
                        </a:rPr>
                        <a:t> </a:t>
                      </a:r>
                      <a:endParaRPr lang="en-US" altLang="zh-CN" sz="1100">
                        <a:latin typeface="Arial" panose="020B0604020202020204" pitchFamily="34" charset="0"/>
                        <a:ea typeface="Calibri" panose="020F0502020204030204"/>
                        <a:cs typeface="Arial" panose="020B0604020202020204" pitchFamily="34" charset="0"/>
                      </a:endParaRPr>
                    </a:p>
                    <a:p>
                      <a:pPr marL="0" algn="just">
                        <a:buClrTx/>
                        <a:buSzTx/>
                        <a:buFontTx/>
                      </a:pPr>
                      <a:r>
                        <a:rPr lang="en-US" altLang="zh-CN" sz="1100">
                          <a:latin typeface="Arial" panose="020B0604020202020204" pitchFamily="34" charset="0"/>
                          <a:ea typeface="Calibri" panose="020F0502020204030204"/>
                          <a:cs typeface="Arial" panose="020B0604020202020204" pitchFamily="34" charset="0"/>
                        </a:rPr>
                        <a:t> </a:t>
                      </a:r>
                      <a:endParaRPr lang="en-US" altLang="zh-CN" sz="1100">
                        <a:latin typeface="Arial" panose="020B0604020202020204" pitchFamily="34" charset="0"/>
                        <a:ea typeface="Calibri" panose="020F0502020204030204"/>
                        <a:cs typeface="Arial" panose="020B0604020202020204" pitchFamily="34" charset="0"/>
                      </a:endParaRPr>
                    </a:p>
                    <a:p>
                      <a:pPr marL="0" algn="just">
                        <a:buClrTx/>
                        <a:buSzTx/>
                        <a:buFontTx/>
                      </a:pPr>
                      <a:r>
                        <a:rPr lang="en-US" altLang="zh-CN" sz="1100">
                          <a:latin typeface="Arial" panose="020B0604020202020204" pitchFamily="34" charset="0"/>
                          <a:ea typeface="Calibri" panose="020F0502020204030204"/>
                          <a:cs typeface="Arial" panose="020B0604020202020204" pitchFamily="34" charset="0"/>
                        </a:rPr>
                        <a:t> </a:t>
                      </a:r>
                      <a:endParaRPr lang="en-US" altLang="zh-CN" sz="1100">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noFill/>
                  </a:tcPr>
                </a:tc>
                <a:tc>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Batch Size</a:t>
                      </a:r>
                      <a:endParaRPr lang="en-US" altLang="zh-CN" sz="1400">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12700" cap="flat" cmpd="sng">
                      <a:solidFill>
                        <a:schemeClr val="tx1"/>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64-128</a:t>
                      </a:r>
                      <a:endParaRPr lang="en-US" altLang="zh-CN" sz="1400">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175" cap="flat" cmpd="sng">
                      <a:solidFill>
                        <a:srgbClr val="434346"/>
                      </a:solidFill>
                      <a:prstDash val="solid"/>
                      <a:headEnd type="none" w="med" len="med"/>
                      <a:tailEnd type="none" w="med" len="med"/>
                    </a:lnB>
                    <a:noFill/>
                  </a:tcPr>
                </a:tc>
              </a:tr>
              <a:tr h="955040">
                <a:tc vMerge="1">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Max Actions</a:t>
                      </a:r>
                      <a:endParaRPr lang="en-US" altLang="zh-CN" sz="1400">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10-20</a:t>
                      </a:r>
                      <a:r>
                        <a:rPr lang="zh-CN" altLang="en-US" sz="1400">
                          <a:latin typeface="Arial" panose="020B0604020202020204" pitchFamily="34" charset="0"/>
                          <a:ea typeface="宋体" panose="02010600030101010101" pitchFamily="2" charset="-122"/>
                          <a:cs typeface="Arial" panose="020B0604020202020204" pitchFamily="34" charset="0"/>
                        </a:rPr>
                        <a:t>（限制最长推理步数，或许</a:t>
                      </a:r>
                      <a:r>
                        <a:rPr lang="zh-CN" altLang="en-US" sz="1400">
                          <a:latin typeface="Arial" panose="020B0604020202020204" pitchFamily="34" charset="0"/>
                          <a:ea typeface="宋体" panose="02010600030101010101" pitchFamily="2" charset="-122"/>
                          <a:cs typeface="Arial" panose="020B0604020202020204" pitchFamily="34" charset="0"/>
                        </a:rPr>
                        <a:t>可以防止死循环）</a:t>
                      </a:r>
                      <a:endParaRPr lang="zh-CN" altLang="en-US" sz="1400">
                        <a:latin typeface="Arial" panose="020B0604020202020204" pitchFamily="34" charset="0"/>
                        <a:ea typeface="宋体" panose="02010600030101010101" pitchFamily="2" charset="-122"/>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r>
              <a:tr h="894080">
                <a:tc vMerge="1">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λBCL (Bellman Loss) </a:t>
                      </a:r>
                      <a:r>
                        <a:rPr lang="zh-CN" altLang="en-US" sz="1400">
                          <a:latin typeface="Arial" panose="020B0604020202020204" pitchFamily="34" charset="0"/>
                          <a:ea typeface="Calibri" panose="020F0502020204030204"/>
                          <a:cs typeface="Arial" panose="020B0604020202020204" pitchFamily="34" charset="0"/>
                        </a:rPr>
                        <a:t>一致性约束的</a:t>
                      </a:r>
                      <a:r>
                        <a:rPr lang="zh-CN" altLang="en-US" sz="1400">
                          <a:latin typeface="Arial" panose="020B0604020202020204" pitchFamily="34" charset="0"/>
                          <a:ea typeface="Calibri" panose="020F0502020204030204"/>
                          <a:cs typeface="Arial" panose="020B0604020202020204" pitchFamily="34" charset="0"/>
                        </a:rPr>
                        <a:t>强度</a:t>
                      </a:r>
                      <a:endParaRPr lang="zh-CN" altLang="en-US" sz="1400">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c>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0.05/0.1/0.2</a:t>
                      </a:r>
                      <a:endParaRPr lang="en-US" altLang="zh-CN" sz="1400">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3175" cap="flat" cmpd="sng">
                      <a:solidFill>
                        <a:srgbClr val="434346"/>
                      </a:solidFill>
                      <a:prstDash val="solid"/>
                      <a:headEnd type="none" w="med" len="med"/>
                      <a:tailEnd type="none" w="med" len="med"/>
                    </a:lnB>
                    <a:noFill/>
                  </a:tcPr>
                </a:tc>
              </a:tr>
              <a:tr h="955040">
                <a:tc vMerge="1">
                  <a:tcPr marL="101600" marR="101600" marT="50800" marB="50800" anchor="t" anchorCtr="0">
                    <a:lnL w="12700">
                      <a:solidFill>
                        <a:schemeClr val="tx1"/>
                      </a:solidFill>
                      <a:prstDash val="soli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12700">
                      <a:solidFill>
                        <a:schemeClr val="tx1"/>
                      </a:solidFill>
                      <a:prstDash val="solid"/>
                    </a:lnB>
                    <a:noFill/>
                  </a:tcPr>
                </a:tc>
                <a:tc>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λSparse </a:t>
                      </a:r>
                      <a:endParaRPr lang="en-US" altLang="zh-CN" sz="1400">
                        <a:latin typeface="Arial" panose="020B0604020202020204" pitchFamily="34" charset="0"/>
                        <a:ea typeface="Calibri" panose="020F0502020204030204"/>
                        <a:cs typeface="Arial" panose="020B0604020202020204" pitchFamily="34" charset="0"/>
                      </a:endParaRPr>
                    </a:p>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(Efficiency</a:t>
                      </a:r>
                      <a:endParaRPr lang="en-US" altLang="zh-CN" sz="1400">
                        <a:latin typeface="Arial" panose="020B0604020202020204" pitchFamily="34" charset="0"/>
                        <a:ea typeface="Calibri" panose="020F0502020204030204"/>
                        <a:cs typeface="Arial" panose="020B0604020202020204" pitchFamily="34" charset="0"/>
                      </a:endParaRPr>
                    </a:p>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 Penalty) </a:t>
                      </a:r>
                      <a:r>
                        <a:rPr lang="zh-CN" altLang="en-US" sz="1400">
                          <a:latin typeface="Arial" panose="020B0604020202020204" pitchFamily="34" charset="0"/>
                          <a:ea typeface="Calibri" panose="020F0502020204030204"/>
                          <a:cs typeface="Arial" panose="020B0604020202020204" pitchFamily="34" charset="0"/>
                        </a:rPr>
                        <a:t>验证约束</a:t>
                      </a:r>
                      <a:r>
                        <a:rPr lang="zh-CN" altLang="en-US" sz="1400">
                          <a:latin typeface="Arial" panose="020B0604020202020204" pitchFamily="34" charset="0"/>
                          <a:ea typeface="Calibri" panose="020F0502020204030204"/>
                          <a:cs typeface="Arial" panose="020B0604020202020204" pitchFamily="34" charset="0"/>
                        </a:rPr>
                        <a:t>强度</a:t>
                      </a:r>
                      <a:endParaRPr lang="zh-CN" altLang="en-US" sz="1400">
                        <a:latin typeface="Arial" panose="020B0604020202020204" pitchFamily="34" charset="0"/>
                        <a:ea typeface="Calibri" panose="020F0502020204030204"/>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3175" cap="flat" cmpd="sng">
                      <a:solidFill>
                        <a:srgbClr val="434346"/>
                      </a:solidFill>
                      <a:prstDash val="solid"/>
                      <a:headEnd type="none" w="med" len="med"/>
                      <a:tailEnd type="none" w="med" len="med"/>
                    </a:lnR>
                    <a:lnT w="3175" cap="flat" cmpd="sng">
                      <a:solidFill>
                        <a:srgbClr val="434346"/>
                      </a:solidFill>
                      <a:prstDash val="solid"/>
                      <a:headEnd type="none" w="med" len="med"/>
                      <a:tailEnd type="none" w="med" len="med"/>
                    </a:lnT>
                    <a:lnB w="12700">
                      <a:solidFill>
                        <a:schemeClr val="tx1"/>
                      </a:solidFill>
                      <a:prstDash val="solid"/>
                    </a:lnB>
                    <a:noFill/>
                  </a:tcPr>
                </a:tc>
                <a:tc>
                  <a:txBody>
                    <a:bodyPr/>
                    <a:p>
                      <a:pPr marL="0" algn="just">
                        <a:buClrTx/>
                        <a:buSzTx/>
                        <a:buFontTx/>
                      </a:pPr>
                      <a:r>
                        <a:rPr lang="en-US" altLang="zh-CN" sz="1400">
                          <a:latin typeface="Arial" panose="020B0604020202020204" pitchFamily="34" charset="0"/>
                          <a:ea typeface="Calibri" panose="020F0502020204030204"/>
                          <a:cs typeface="Arial" panose="020B0604020202020204" pitchFamily="34" charset="0"/>
                        </a:rPr>
                        <a:t>0-0.01</a:t>
                      </a:r>
                      <a:r>
                        <a:rPr lang="zh-CN" altLang="en-US" sz="1400">
                          <a:latin typeface="Arial" panose="020B0604020202020204" pitchFamily="34" charset="0"/>
                          <a:ea typeface="宋体" panose="02010600030101010101" pitchFamily="2" charset="-122"/>
                          <a:cs typeface="Arial" panose="020B0604020202020204" pitchFamily="34" charset="0"/>
                        </a:rPr>
                        <a:t>（鼓励少用</a:t>
                      </a:r>
                      <a:r>
                        <a:rPr lang="en-US" altLang="zh-CN" sz="1400">
                          <a:latin typeface="Arial" panose="020B0604020202020204" pitchFamily="34" charset="0"/>
                          <a:ea typeface="宋体" panose="02010600030101010101" pitchFamily="2" charset="-122"/>
                          <a:cs typeface="Arial" panose="020B0604020202020204" pitchFamily="34" charset="0"/>
                        </a:rPr>
                        <a:t> Ver </a:t>
                      </a:r>
                      <a:r>
                        <a:rPr lang="zh-CN" altLang="en-US" sz="1400">
                          <a:latin typeface="Arial" panose="020B0604020202020204" pitchFamily="34" charset="0"/>
                          <a:ea typeface="宋体" panose="02010600030101010101" pitchFamily="2" charset="-122"/>
                          <a:cs typeface="Arial" panose="020B0604020202020204" pitchFamily="34" charset="0"/>
                        </a:rPr>
                        <a:t>动作）</a:t>
                      </a:r>
                      <a:endParaRPr lang="zh-CN" altLang="en-US" sz="1400">
                        <a:latin typeface="Arial" panose="020B0604020202020204" pitchFamily="34" charset="0"/>
                        <a:ea typeface="宋体" panose="02010600030101010101" pitchFamily="2" charset="-122"/>
                        <a:cs typeface="Arial" panose="020B0604020202020204" pitchFamily="34" charset="0"/>
                      </a:endParaRPr>
                    </a:p>
                  </a:txBody>
                  <a:tcPr marL="101600" marR="101600" marT="50800" marB="50800" anchor="t" anchorCtr="0">
                    <a:lnL w="3175" cap="flat" cmpd="sng">
                      <a:solidFill>
                        <a:srgbClr val="434346"/>
                      </a:solidFill>
                      <a:prstDash val="solid"/>
                      <a:headEnd type="none" w="med" len="med"/>
                      <a:tailEnd type="none" w="med" len="med"/>
                    </a:lnL>
                    <a:lnR w="12700" cap="flat" cmpd="sng">
                      <a:solidFill>
                        <a:schemeClr val="tx1"/>
                      </a:solidFill>
                      <a:prstDash val="solid"/>
                      <a:headEnd type="none" w="med" len="med"/>
                      <a:tailEnd type="none" w="med" len="med"/>
                    </a:lnR>
                    <a:lnT w="3175" cap="flat" cmpd="sng">
                      <a:solidFill>
                        <a:srgbClr val="434346"/>
                      </a:solidFill>
                      <a:prstDash val="solid"/>
                      <a:headEnd type="none" w="med" len="med"/>
                      <a:tailEnd type="none" w="med" len="med"/>
                    </a:lnT>
                    <a:lnB w="12700">
                      <a:solidFill>
                        <a:schemeClr val="tx1"/>
                      </a:solidFill>
                      <a:prstDash val="solid"/>
                    </a:lnB>
                    <a:noFill/>
                  </a:tcPr>
                </a:tc>
              </a:tr>
            </a:tbl>
          </a:graphicData>
        </a:graphic>
      </p:graphicFrame>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Expected Training Procedures</a:t>
            </a:r>
            <a:endParaRPr lang="en-US" altLang="zh-CN"/>
          </a:p>
        </p:txBody>
      </p:sp>
      <p:sp>
        <p:nvSpPr>
          <p:cNvPr id="3" name="内容占位符 2"/>
          <p:cNvSpPr>
            <a:spLocks noGrp="1"/>
          </p:cNvSpPr>
          <p:nvPr>
            <p:ph idx="1"/>
            <p:custDataLst>
              <p:tags r:id="rId2"/>
            </p:custDataLst>
          </p:nvPr>
        </p:nvSpPr>
        <p:spPr/>
        <p:txBody>
          <a:bodyPr/>
          <a:p>
            <a:r>
              <a:rPr lang="zh-CN" altLang="en-US"/>
              <a:t>阶段一：</a:t>
            </a:r>
            <a:r>
              <a:rPr lang="en-US" altLang="zh-CN"/>
              <a:t>Base LLM</a:t>
            </a:r>
            <a:r>
              <a:rPr lang="zh-CN" altLang="en-US"/>
              <a:t>能力初始化</a:t>
            </a:r>
            <a:endParaRPr lang="zh-CN" altLang="en-US"/>
          </a:p>
          <a:p>
            <a:pPr marL="0" indent="0">
              <a:buNone/>
            </a:pPr>
            <a:r>
              <a:rPr lang="zh-CN" altLang="en-US"/>
              <a:t>目标：</a:t>
            </a:r>
            <a:r>
              <a:rPr lang="en-US" altLang="zh-CN"/>
              <a:t> </a:t>
            </a:r>
            <a:r>
              <a:rPr lang="zh-CN" altLang="en-US"/>
              <a:t>让</a:t>
            </a:r>
            <a:r>
              <a:rPr lang="en-US" altLang="zh-CN"/>
              <a:t> LLM </a:t>
            </a:r>
            <a:r>
              <a:rPr lang="zh-CN" altLang="en-US"/>
              <a:t>学会基本的</a:t>
            </a:r>
            <a:r>
              <a:rPr lang="en-US" altLang="zh-CN"/>
              <a:t> CoT </a:t>
            </a:r>
            <a:r>
              <a:rPr lang="zh-CN" altLang="en-US"/>
              <a:t>推理；初始化价值头。</a:t>
            </a:r>
            <a:endParaRPr lang="zh-CN" altLang="en-US"/>
          </a:p>
          <a:p>
            <a:endParaRPr lang="en-US" altLang="zh-CN"/>
          </a:p>
          <a:p>
            <a:pPr marL="0" indent="0">
              <a:buNone/>
            </a:pPr>
            <a:r>
              <a:rPr lang="en-US" altLang="zh-CN"/>
              <a:t>SFT (Supervised Fine-tuning):</a:t>
            </a:r>
            <a:endParaRPr lang="en-US" altLang="zh-CN"/>
          </a:p>
          <a:p>
            <a:pPr marL="0" indent="0">
              <a:buNone/>
            </a:pPr>
            <a:r>
              <a:rPr lang="zh-CN" altLang="en-US"/>
              <a:t>数据：</a:t>
            </a:r>
            <a:r>
              <a:rPr lang="en-US" altLang="zh-CN"/>
              <a:t>GSM8K / MATH </a:t>
            </a:r>
            <a:r>
              <a:rPr lang="zh-CN" altLang="en-US"/>
              <a:t>训练集（</a:t>
            </a:r>
            <a:r>
              <a:rPr lang="zh-CN" altLang="en-US"/>
              <a:t>需要带标准</a:t>
            </a:r>
            <a:r>
              <a:rPr lang="en-US" altLang="zh-CN"/>
              <a:t> CoT</a:t>
            </a:r>
            <a:r>
              <a:rPr lang="zh-CN" altLang="en-US"/>
              <a:t>）。</a:t>
            </a:r>
            <a:endParaRPr lang="zh-CN" altLang="en-US"/>
          </a:p>
          <a:p>
            <a:pPr marL="0" indent="0">
              <a:buNone/>
            </a:pPr>
            <a:r>
              <a:rPr lang="en-US" altLang="zh-CN"/>
              <a:t>Loss</a:t>
            </a:r>
            <a:r>
              <a:rPr lang="zh-CN" altLang="en-US"/>
              <a:t>：试一下</a:t>
            </a:r>
            <a:r>
              <a:rPr lang="zh-CN" altLang="en-US"/>
              <a:t>就用标准</a:t>
            </a:r>
            <a:r>
              <a:rPr lang="en-US" altLang="zh-CN"/>
              <a:t> CrossEntropy Loss</a:t>
            </a:r>
            <a:r>
              <a:rPr lang="zh-CN" altLang="en-US"/>
              <a:t>。</a:t>
            </a:r>
            <a:endParaRPr lang="zh-CN" altLang="en-US"/>
          </a:p>
          <a:p>
            <a:pPr marL="0" indent="0">
              <a:buNone/>
            </a:pPr>
            <a:r>
              <a:rPr lang="zh-CN" altLang="en-US"/>
              <a:t>在</a:t>
            </a:r>
            <a:r>
              <a:rPr lang="en-US" altLang="zh-CN"/>
              <a:t> SFT </a:t>
            </a:r>
            <a:r>
              <a:rPr lang="zh-CN" altLang="en-US"/>
              <a:t>阶段，我们是否可以预训练</a:t>
            </a:r>
            <a:r>
              <a:rPr lang="en-US" altLang="zh-CN"/>
              <a:t> Value Head</a:t>
            </a:r>
            <a:r>
              <a:rPr lang="zh-CN" altLang="en-US"/>
              <a:t>？虽然此时没有</a:t>
            </a:r>
            <a:r>
              <a:rPr lang="en-US" altLang="zh-CN"/>
              <a:t> Reward</a:t>
            </a:r>
            <a:r>
              <a:rPr lang="zh-CN" altLang="en-US"/>
              <a:t>，但我们可以拟合一个所谓的</a:t>
            </a:r>
            <a:r>
              <a:rPr lang="en-US" altLang="zh-CN"/>
              <a:t>“Teacher Forcing”</a:t>
            </a:r>
            <a:r>
              <a:rPr lang="zh-CN" altLang="en-US"/>
              <a:t>，旨在让</a:t>
            </a:r>
            <a:r>
              <a:rPr lang="en-US" altLang="zh-CN"/>
              <a:t> Value Head </a:t>
            </a:r>
            <a:r>
              <a:rPr lang="zh-CN" altLang="en-US"/>
              <a:t>学习区分</a:t>
            </a:r>
            <a:r>
              <a:rPr lang="en-US" altLang="zh-CN"/>
              <a:t> Gold Trace </a:t>
            </a:r>
            <a:r>
              <a:rPr lang="zh-CN" altLang="en-US"/>
              <a:t>和</a:t>
            </a:r>
            <a:r>
              <a:rPr lang="en-US" altLang="zh-CN"/>
              <a:t> Random Trace</a:t>
            </a:r>
            <a:r>
              <a:rPr lang="zh-CN" altLang="en-US"/>
              <a:t>。这给</a:t>
            </a:r>
            <a:r>
              <a:rPr lang="en-US" altLang="zh-CN"/>
              <a:t> RL </a:t>
            </a:r>
            <a:r>
              <a:rPr lang="zh-CN" altLang="en-US"/>
              <a:t>一个热启动，可以减缓后续</a:t>
            </a:r>
            <a:r>
              <a:rPr lang="zh-CN" altLang="en-US"/>
              <a:t>学习难度。</a:t>
            </a:r>
            <a:endParaRPr lang="zh-CN" altLang="en-US"/>
          </a:p>
          <a:p>
            <a:pPr marL="0" indent="0">
              <a:buNone/>
            </a:pPr>
            <a:r>
              <a:rPr lang="zh-CN" altLang="en-US"/>
              <a:t>混合精度</a:t>
            </a:r>
            <a:r>
              <a:rPr lang="en-US" altLang="zh-CN"/>
              <a:t>: </a:t>
            </a:r>
            <a:r>
              <a:rPr lang="zh-CN" altLang="en-US"/>
              <a:t>可以试一下使用</a:t>
            </a:r>
            <a:r>
              <a:rPr lang="en-US" altLang="zh-CN"/>
              <a:t> bf16 (Bfloat16) </a:t>
            </a:r>
            <a:r>
              <a:rPr lang="zh-CN" altLang="en-US"/>
              <a:t>进行训练，</a:t>
            </a:r>
            <a:r>
              <a:rPr lang="zh-CN" altLang="en-US"/>
              <a:t>据说节省显存，稳定。</a:t>
            </a:r>
            <a:endParaRPr lang="zh-CN" altLang="en-US"/>
          </a:p>
        </p:txBody>
      </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Expected Training Procedures</a:t>
            </a:r>
            <a:endParaRPr lang="zh-CN" altLang="en-US"/>
          </a:p>
        </p:txBody>
      </p:sp>
      <p:sp>
        <p:nvSpPr>
          <p:cNvPr id="3" name="内容占位符 2"/>
          <p:cNvSpPr>
            <a:spLocks noGrp="1"/>
          </p:cNvSpPr>
          <p:nvPr>
            <p:ph idx="1"/>
            <p:custDataLst>
              <p:tags r:id="rId2"/>
            </p:custDataLst>
          </p:nvPr>
        </p:nvSpPr>
        <p:spPr/>
        <p:txBody>
          <a:bodyPr>
            <a:normAutofit lnSpcReduction="20000"/>
          </a:bodyPr>
          <a:p>
            <a:r>
              <a:rPr lang="zh-CN" altLang="en-US"/>
              <a:t>阶段二：联合强化学习</a:t>
            </a:r>
            <a:endParaRPr lang="zh-CN" altLang="en-US"/>
          </a:p>
          <a:p>
            <a:pPr marL="0" indent="0">
              <a:buNone/>
            </a:pPr>
            <a:r>
              <a:rPr lang="zh-CN" altLang="en-US"/>
              <a:t>目标：</a:t>
            </a:r>
            <a:r>
              <a:rPr lang="en-US" altLang="en-US"/>
              <a:t> </a:t>
            </a:r>
            <a:r>
              <a:rPr lang="zh-CN" altLang="en-US"/>
              <a:t>训练路由器决策，同时微调底座以适应</a:t>
            </a:r>
            <a:r>
              <a:rPr lang="en-US" altLang="zh-CN"/>
              <a:t>“</a:t>
            </a:r>
            <a:r>
              <a:rPr lang="zh-CN" altLang="en-US"/>
              <a:t>生成</a:t>
            </a:r>
            <a:r>
              <a:rPr lang="en-US" altLang="zh-CN"/>
              <a:t>-</a:t>
            </a:r>
            <a:r>
              <a:rPr lang="zh-CN" altLang="en-US"/>
              <a:t>验证</a:t>
            </a:r>
            <a:r>
              <a:rPr lang="en-US" altLang="zh-CN"/>
              <a:t>”</a:t>
            </a:r>
            <a:r>
              <a:rPr lang="zh-CN" altLang="en-US"/>
              <a:t>交替的模式。</a:t>
            </a:r>
            <a:endParaRPr lang="zh-CN" altLang="en-US"/>
          </a:p>
          <a:p>
            <a:pPr marL="0" indent="0">
              <a:buNone/>
            </a:pPr>
            <a:r>
              <a:rPr lang="zh-CN" altLang="en-US"/>
              <a:t>算法：</a:t>
            </a:r>
            <a:r>
              <a:rPr lang="en-US" altLang="en-US"/>
              <a:t> </a:t>
            </a:r>
            <a:r>
              <a:rPr lang="en-US" altLang="zh-CN"/>
              <a:t>PPO  </a:t>
            </a:r>
            <a:r>
              <a:rPr lang="zh-CN" altLang="en-US"/>
              <a:t>或</a:t>
            </a:r>
            <a:r>
              <a:rPr lang="en-US" altLang="zh-CN"/>
              <a:t> REINFORCE (Variance Reduced)</a:t>
            </a:r>
            <a:r>
              <a:rPr lang="zh-CN" altLang="en-US"/>
              <a:t>。</a:t>
            </a:r>
            <a:endParaRPr lang="zh-CN" altLang="en-US"/>
          </a:p>
          <a:p>
            <a:pPr marL="0" indent="0">
              <a:buNone/>
            </a:pPr>
            <a:r>
              <a:rPr lang="zh-CN" altLang="en-US"/>
              <a:t>采样策略</a:t>
            </a:r>
            <a:r>
              <a:rPr lang="en-US" altLang="zh-CN"/>
              <a:t>:</a:t>
            </a:r>
            <a:endParaRPr lang="en-US" altLang="zh-CN"/>
          </a:p>
          <a:p>
            <a:pPr marL="0" indent="0">
              <a:buNone/>
            </a:pPr>
            <a:r>
              <a:rPr lang="zh-CN" altLang="en-US"/>
              <a:t>给定</a:t>
            </a:r>
            <a:r>
              <a:rPr lang="en-US" altLang="zh-CN"/>
              <a:t> Question</a:t>
            </a:r>
            <a:r>
              <a:rPr lang="zh-CN" altLang="en-US"/>
              <a:t>，</a:t>
            </a:r>
            <a:r>
              <a:rPr lang="en-US" altLang="zh-CN"/>
              <a:t>Router </a:t>
            </a:r>
            <a:r>
              <a:rPr lang="zh-CN" altLang="en-US"/>
              <a:t>采样一条动作序列</a:t>
            </a:r>
            <a:r>
              <a:rPr lang="en-US" altLang="en-US"/>
              <a:t> </a:t>
            </a:r>
            <a:r>
              <a:rPr lang="en-US" altLang="zh-CN"/>
              <a:t>τ</a:t>
            </a:r>
            <a:r>
              <a:rPr lang="zh-CN" altLang="en-US"/>
              <a:t>。</a:t>
            </a:r>
            <a:endParaRPr lang="zh-CN" altLang="en-US"/>
          </a:p>
          <a:p>
            <a:pPr marL="0" indent="0">
              <a:buNone/>
            </a:pPr>
            <a:r>
              <a:rPr lang="zh-CN" altLang="en-US"/>
              <a:t>执行动作序列，获得最终</a:t>
            </a:r>
            <a:r>
              <a:rPr lang="en-US" altLang="zh-CN"/>
              <a:t> Reward</a:t>
            </a:r>
            <a:r>
              <a:rPr lang="en-US" altLang="en-US"/>
              <a:t> </a:t>
            </a:r>
            <a:r>
              <a:rPr lang="en-US" altLang="zh-CN"/>
              <a:t>RR</a:t>
            </a:r>
            <a:r>
              <a:rPr lang="en-US" altLang="en-US"/>
              <a:t> </a:t>
            </a:r>
            <a:r>
              <a:rPr lang="zh-CN" altLang="en-US"/>
              <a:t>和</a:t>
            </a:r>
            <a:r>
              <a:rPr lang="en-US" altLang="zh-CN"/>
              <a:t> </a:t>
            </a:r>
            <a:r>
              <a:rPr lang="zh-CN" altLang="en-US"/>
              <a:t>价值轨迹</a:t>
            </a:r>
            <a:r>
              <a:rPr lang="en-US" altLang="en-US"/>
              <a:t> </a:t>
            </a:r>
            <a:r>
              <a:rPr lang="en-US" altLang="zh-CN"/>
              <a:t>V1:T</a:t>
            </a:r>
            <a:r>
              <a:rPr lang="zh-CN" altLang="en-US"/>
              <a:t>。</a:t>
            </a:r>
            <a:endParaRPr lang="zh-CN" altLang="en-US"/>
          </a:p>
          <a:p>
            <a:pPr marL="0" indent="0">
              <a:buNone/>
            </a:pPr>
            <a:r>
              <a:rPr lang="zh-CN" altLang="en-US"/>
              <a:t>计算</a:t>
            </a:r>
            <a:r>
              <a:rPr lang="en-US" altLang="zh-CN"/>
              <a:t> Bellman Consistency Loss</a:t>
            </a:r>
            <a:r>
              <a:rPr lang="en-US" altLang="en-US"/>
              <a:t> </a:t>
            </a:r>
            <a:r>
              <a:rPr lang="en-US" altLang="zh-CN"/>
              <a:t>LBCL=∑(Vt−Vt−1)^2(</a:t>
            </a:r>
            <a:r>
              <a:rPr lang="zh-CN" altLang="en-US"/>
              <a:t>仅在验证动作处计算</a:t>
            </a:r>
            <a:r>
              <a:rPr lang="en-US" altLang="zh-CN"/>
              <a:t>)</a:t>
            </a:r>
            <a:r>
              <a:rPr lang="zh-CN" altLang="en-US"/>
              <a:t>。</a:t>
            </a:r>
            <a:endParaRPr lang="zh-CN" altLang="en-US"/>
          </a:p>
          <a:p>
            <a:pPr marL="0" indent="0">
              <a:buNone/>
            </a:pPr>
            <a:endParaRPr lang="zh-CN" altLang="en-US"/>
          </a:p>
          <a:p>
            <a:pPr marL="0" indent="0">
              <a:buNone/>
            </a:pPr>
            <a:r>
              <a:rPr lang="zh-CN" altLang="en-US"/>
              <a:t>多任务学习</a:t>
            </a:r>
            <a:r>
              <a:rPr lang="en-US" altLang="zh-CN"/>
              <a:t>:</a:t>
            </a:r>
            <a:endParaRPr lang="en-US" altLang="zh-CN"/>
          </a:p>
          <a:p>
            <a:pPr marL="0" indent="0">
              <a:buNone/>
            </a:pPr>
            <a:endParaRPr lang="en-US" altLang="zh-CN"/>
          </a:p>
          <a:p>
            <a:r>
              <a:rPr lang="zh-CN" altLang="en-US"/>
              <a:t>更新：</a:t>
            </a:r>
            <a:r>
              <a:rPr lang="en-US" altLang="en-US"/>
              <a:t> </a:t>
            </a:r>
            <a:r>
              <a:rPr lang="zh-CN" altLang="en-US"/>
              <a:t>梯度更新</a:t>
            </a:r>
            <a:r>
              <a:rPr lang="en-US" altLang="zh-CN"/>
              <a:t> Router </a:t>
            </a:r>
            <a:r>
              <a:rPr lang="zh-CN" altLang="en-US"/>
              <a:t>参数；全量或</a:t>
            </a:r>
            <a:r>
              <a:rPr lang="en-US" altLang="zh-CN"/>
              <a:t> LoRA </a:t>
            </a:r>
            <a:r>
              <a:rPr lang="zh-CN" altLang="en-US"/>
              <a:t>更新</a:t>
            </a:r>
            <a:r>
              <a:rPr lang="en-US" altLang="zh-CN"/>
              <a:t> LLM </a:t>
            </a:r>
            <a:r>
              <a:rPr lang="zh-CN" altLang="en-US"/>
              <a:t>参数。</a:t>
            </a:r>
            <a:endParaRPr lang="zh-CN" altLang="en-US"/>
          </a:p>
        </p:txBody>
      </p:sp>
      <p:pic>
        <p:nvPicPr>
          <p:cNvPr id="4" name="图片 3"/>
          <p:cNvPicPr>
            <a:picLocks noChangeAspect="1"/>
          </p:cNvPicPr>
          <p:nvPr/>
        </p:nvPicPr>
        <p:blipFill>
          <a:blip r:embed="rId3"/>
          <a:stretch>
            <a:fillRect/>
          </a:stretch>
        </p:blipFill>
        <p:spPr>
          <a:xfrm>
            <a:off x="785495" y="5377180"/>
            <a:ext cx="7448550" cy="371475"/>
          </a:xfrm>
          <a:prstGeom prst="rect">
            <a:avLst/>
          </a:prstGeom>
        </p:spPr>
      </p:pic>
    </p:spTree>
    <p:custDataLst>
      <p:tags r:id="rId4"/>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Metrics and </a:t>
            </a:r>
            <a:r>
              <a:rPr lang="en-US" altLang="zh-CN"/>
              <a:t>Baseline</a:t>
            </a:r>
            <a:endParaRPr lang="en-US" altLang="zh-CN"/>
          </a:p>
        </p:txBody>
      </p:sp>
      <p:sp>
        <p:nvSpPr>
          <p:cNvPr id="3" name="内容占位符 2"/>
          <p:cNvSpPr>
            <a:spLocks noGrp="1"/>
          </p:cNvSpPr>
          <p:nvPr>
            <p:ph idx="1"/>
            <p:custDataLst>
              <p:tags r:id="rId2"/>
            </p:custDataLst>
          </p:nvPr>
        </p:nvSpPr>
        <p:spPr/>
        <p:txBody>
          <a:bodyPr>
            <a:normAutofit/>
          </a:bodyPr>
          <a:p>
            <a:r>
              <a:rPr lang="zh-CN" altLang="en-US"/>
              <a:t>常规的</a:t>
            </a:r>
            <a:r>
              <a:rPr lang="en-US" altLang="zh-CN"/>
              <a:t> Accuracy</a:t>
            </a:r>
            <a:r>
              <a:rPr lang="zh-CN" altLang="en-US"/>
              <a:t>：加上</a:t>
            </a:r>
            <a:r>
              <a:rPr lang="en-US" altLang="zh-CN"/>
              <a:t> Action Distribution:</a:t>
            </a:r>
            <a:r>
              <a:rPr lang="en-US" altLang="en-US"/>
              <a:t> </a:t>
            </a:r>
            <a:r>
              <a:rPr lang="zh-CN" altLang="en-US"/>
              <a:t>统计</a:t>
            </a:r>
            <a:r>
              <a:rPr lang="en-US" altLang="en-US"/>
              <a:t> </a:t>
            </a:r>
            <a:r>
              <a:rPr lang="en-US" altLang="zh-CN"/>
              <a:t>P(agen),P(aver),P(afin)</a:t>
            </a:r>
            <a:r>
              <a:rPr lang="zh-CN" altLang="en-US"/>
              <a:t>的比例。</a:t>
            </a:r>
            <a:endParaRPr lang="zh-CN" altLang="en-US"/>
          </a:p>
          <a:p>
            <a:r>
              <a:rPr lang="zh-CN" altLang="en-US"/>
              <a:t>预期</a:t>
            </a:r>
            <a:r>
              <a:rPr lang="en-US" altLang="zh-CN"/>
              <a:t>:</a:t>
            </a:r>
            <a:r>
              <a:rPr lang="zh-CN" altLang="en-US"/>
              <a:t>难题</a:t>
            </a:r>
            <a:r>
              <a:rPr lang="en-US" altLang="en-US"/>
              <a:t> </a:t>
            </a:r>
            <a:r>
              <a:rPr lang="en-US" altLang="zh-CN"/>
              <a:t>aver​</a:t>
            </a:r>
            <a:r>
              <a:rPr lang="en-US" altLang="en-US"/>
              <a:t> </a:t>
            </a:r>
            <a:r>
              <a:rPr lang="zh-CN" altLang="en-US"/>
              <a:t>比例高，简单题</a:t>
            </a:r>
            <a:r>
              <a:rPr lang="en-US" altLang="en-US"/>
              <a:t> </a:t>
            </a:r>
            <a:r>
              <a:rPr lang="en-US" altLang="zh-CN"/>
              <a:t>agen</a:t>
            </a:r>
            <a:r>
              <a:rPr lang="en-US" altLang="en-US"/>
              <a:t> </a:t>
            </a:r>
            <a:r>
              <a:rPr lang="zh-CN" altLang="en-US"/>
              <a:t>主导。</a:t>
            </a:r>
            <a:endParaRPr lang="zh-CN" altLang="en-US"/>
          </a:p>
          <a:p>
            <a:pPr marL="0" indent="0">
              <a:buNone/>
            </a:pPr>
            <a:r>
              <a:rPr lang="en-US" altLang="zh-CN"/>
              <a:t>Value Smoothness:</a:t>
            </a:r>
            <a:r>
              <a:rPr lang="en-US" altLang="en-US"/>
              <a:t> </a:t>
            </a:r>
            <a:r>
              <a:rPr lang="zh-CN" altLang="en-US"/>
              <a:t>计算正确样本中</a:t>
            </a:r>
            <a:r>
              <a:rPr lang="en-US" altLang="zh-CN"/>
              <a:t> Value </a:t>
            </a:r>
            <a:r>
              <a:rPr lang="zh-CN" altLang="en-US"/>
              <a:t>轨迹的方差。</a:t>
            </a:r>
            <a:endParaRPr lang="zh-CN" altLang="en-US"/>
          </a:p>
          <a:p>
            <a:pPr marL="0" indent="0">
              <a:buNone/>
            </a:pPr>
            <a:r>
              <a:rPr lang="en-US" altLang="zh-CN"/>
              <a:t>Efficiency:</a:t>
            </a:r>
            <a:r>
              <a:rPr lang="en-US" altLang="en-US"/>
              <a:t> </a:t>
            </a:r>
            <a:r>
              <a:rPr lang="zh-CN" altLang="en-US"/>
              <a:t>平均</a:t>
            </a:r>
            <a:r>
              <a:rPr lang="en-US" altLang="zh-CN"/>
              <a:t> Token </a:t>
            </a:r>
            <a:r>
              <a:rPr lang="zh-CN" altLang="en-US"/>
              <a:t>消耗和平均步数。</a:t>
            </a:r>
            <a:endParaRPr lang="zh-CN" altLang="en-US"/>
          </a:p>
          <a:p>
            <a:pPr marL="0" indent="0">
              <a:buNone/>
            </a:pPr>
            <a:r>
              <a:rPr lang="en-US" altLang="zh-CN"/>
              <a:t>Baseline </a:t>
            </a:r>
            <a:r>
              <a:rPr lang="zh-CN" altLang="en-US"/>
              <a:t>设置</a:t>
            </a:r>
            <a:endParaRPr lang="en-US" altLang="zh-CN"/>
          </a:p>
          <a:p>
            <a:r>
              <a:rPr lang="en-US" altLang="zh-CN"/>
              <a:t>Baseline 1 (Vanilla BCR):</a:t>
            </a:r>
            <a:r>
              <a:rPr lang="en-US" altLang="en-US"/>
              <a:t> </a:t>
            </a:r>
            <a:r>
              <a:rPr lang="zh-CN" altLang="en-US" i="1"/>
              <a:t>论文原版方法（如果他们有）</a:t>
            </a:r>
            <a:r>
              <a:rPr lang="zh-CN" altLang="en-US"/>
              <a:t>，每步都加</a:t>
            </a:r>
            <a:r>
              <a:rPr lang="en-US" altLang="zh-CN"/>
              <a:t> Bellman Loss</a:t>
            </a:r>
            <a:r>
              <a:rPr lang="zh-CN" altLang="en-US"/>
              <a:t>（无</a:t>
            </a:r>
            <a:r>
              <a:rPr lang="en-US" altLang="zh-CN"/>
              <a:t> Router</a:t>
            </a:r>
            <a:r>
              <a:rPr lang="zh-CN" altLang="en-US"/>
              <a:t>）。</a:t>
            </a:r>
            <a:endParaRPr lang="zh-CN" altLang="en-US"/>
          </a:p>
          <a:p>
            <a:r>
              <a:rPr lang="en-US" altLang="zh-CN"/>
              <a:t>Baseline 2 (Fixed-Action):</a:t>
            </a:r>
            <a:r>
              <a:rPr lang="en-US" altLang="en-US"/>
              <a:t> </a:t>
            </a:r>
            <a:r>
              <a:rPr lang="zh-CN" altLang="en-US"/>
              <a:t>强制</a:t>
            </a:r>
            <a:r>
              <a:rPr lang="zh-CN" altLang="en-US"/>
              <a:t>比如每</a:t>
            </a:r>
            <a:r>
              <a:rPr lang="en-US" altLang="zh-CN"/>
              <a:t> 3 </a:t>
            </a:r>
            <a:r>
              <a:rPr lang="zh-CN" altLang="en-US"/>
              <a:t>步生成、</a:t>
            </a:r>
            <a:r>
              <a:rPr lang="en-US" altLang="zh-CN"/>
              <a:t>1 </a:t>
            </a:r>
            <a:r>
              <a:rPr lang="zh-CN" altLang="en-US"/>
              <a:t>步验证的固定策略。</a:t>
            </a:r>
            <a:endParaRPr lang="zh-CN" altLang="en-US"/>
          </a:p>
          <a:p>
            <a:r>
              <a:rPr lang="en-US" altLang="zh-CN"/>
              <a:t>Baseline 3 (AnyMAC-Adapt):</a:t>
            </a:r>
            <a:r>
              <a:rPr lang="en-US" altLang="en-US"/>
              <a:t> </a:t>
            </a:r>
            <a:r>
              <a:rPr lang="zh-CN" altLang="en-US"/>
              <a:t>直接用</a:t>
            </a:r>
            <a:r>
              <a:rPr lang="en-US" altLang="zh-CN"/>
              <a:t> AnyMAC </a:t>
            </a:r>
            <a:r>
              <a:rPr lang="zh-CN" altLang="en-US"/>
              <a:t>框架，设置多个</a:t>
            </a:r>
            <a:r>
              <a:rPr lang="en-US" altLang="zh-CN"/>
              <a:t> Generator Agent </a:t>
            </a:r>
            <a:r>
              <a:rPr lang="zh-CN" altLang="en-US"/>
              <a:t>和</a:t>
            </a:r>
            <a:r>
              <a:rPr lang="en-US" altLang="zh-CN"/>
              <a:t> Verifier Agent</a:t>
            </a:r>
            <a:r>
              <a:rPr lang="zh-CN" altLang="en-US"/>
              <a:t>，不做内部</a:t>
            </a:r>
            <a:r>
              <a:rPr lang="en-US" altLang="zh-CN"/>
              <a:t> Value Constraint</a:t>
            </a:r>
            <a:r>
              <a:rPr lang="zh-CN" altLang="en-US"/>
              <a:t>。</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0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BEAUTIFY_FLAG" val="#wm#"/>
  <p:tag name="KSO_WM_TEMPLATE_CATEGORY" val="custom"/>
  <p:tag name="KSO_WM_TEMPLATE_INDEX" val="2020508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BEAUTIFY_FLAG" val="#wm#"/>
  <p:tag name="KSO_WM_TEMPLATE_CATEGORY" val="custom"/>
  <p:tag name="KSO_WM_TEMPLATE_INDEX" val="2020508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WM_BEAUTIFY_FLAG" val="#wm#"/>
  <p:tag name="KSO_WM_TEMPLATE_CATEGORY" val="custom"/>
  <p:tag name="KSO_WM_TEMPLATE_INDEX" val="2020508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p="http://schemas.openxmlformats.org/presentationml/2006/main">
  <p:tag name="KSO_WM_BEAUTIFY_FLAG" val="#wm#"/>
  <p:tag name="KSO_WM_TEMPLATE_CATEGORY" val="custom"/>
  <p:tag name="KSO_WM_TEMPLATE_INDEX" val="20205081"/>
</p:tagLst>
</file>

<file path=ppt/tags/tag119.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2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p="http://schemas.openxmlformats.org/presentationml/2006/main">
  <p:tag name="KSO_WM_BEAUTIFY_FLAG" val="#wm#"/>
  <p:tag name="KSO_WM_TEMPLATE_CATEGORY" val="custom"/>
  <p:tag name="KSO_WM_TEMPLATE_INDEX" val="2020508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p="http://schemas.openxmlformats.org/presentationml/2006/main">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p="http://schemas.openxmlformats.org/presentationml/2006/main">
  <p:tag name="KSO_WM_BEAUTIFY_FLAG" val="#wm#"/>
  <p:tag name="KSO_WM_TEMPLATE_CATEGORY" val="custom"/>
  <p:tag name="KSO_WM_TEMPLATE_INDEX" val="2020508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TEMPLATE_CATEGORY" val="custom"/>
  <p:tag name="KSO_WM_TEMPLATE_INDEX" val="2020508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BEAUTIFY_FLAG" val="#wm#"/>
  <p:tag name="KSO_WM_TEMPLATE_CATEGORY" val="custom"/>
  <p:tag name="KSO_WM_TEMPLATE_INDEX" val="2020508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p="http://schemas.openxmlformats.org/presentationml/2006/main">
  <p:tag name="KSO_WM_BEAUTIFY_FLAG" val="#wm#"/>
  <p:tag name="KSO_WM_TEMPLATE_CATEGORY" val="custom"/>
  <p:tag name="KSO_WM_TEMPLATE_INDEX" val="2020508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BEAUTIFY_FLAG" val="#wm#"/>
  <p:tag name="KSO_WM_TEMPLATE_CATEGORY" val="custom"/>
  <p:tag name="KSO_WM_TEMPLATE_INDEX" val="2020508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p="http://schemas.openxmlformats.org/presentationml/2006/main">
  <p:tag name="KSO_WM_BEAUTIFY_FLAG" val="#wm#"/>
  <p:tag name="KSO_WM_TEMPLATE_CATEGORY" val="custom"/>
  <p:tag name="KSO_WM_TEMPLATE_INDEX" val="2020508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p="http://schemas.openxmlformats.org/presentationml/2006/main">
  <p:tag name="KSO_WM_BEAUTIFY_FLAG" val="#wm#"/>
  <p:tag name="KSO_WM_TEMPLATE_CATEGORY" val="custom"/>
  <p:tag name="KSO_WM_TEMPLATE_INDEX" val="2020508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9247</Words>
  <Application>WPS 演示</Application>
  <PresentationFormat>宽屏</PresentationFormat>
  <Paragraphs>377</Paragraphs>
  <Slides>30</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Arial</vt:lpstr>
      <vt:lpstr>宋体</vt:lpstr>
      <vt:lpstr>Wingdings</vt:lpstr>
      <vt:lpstr>Wingdings</vt:lpstr>
      <vt:lpstr>微软雅黑</vt:lpstr>
      <vt:lpstr>Arial Unicode MS</vt:lpstr>
      <vt:lpstr>Calibri</vt:lpstr>
      <vt:lpstr>Consolas</vt:lpstr>
      <vt:lpstr>Calibri</vt:lpstr>
      <vt:lpstr>WPS</vt:lpstr>
      <vt:lpstr>BCR on step level</vt:lpstr>
      <vt:lpstr>BCR limitation analysis</vt:lpstr>
      <vt:lpstr>BCR limitation analysis</vt:lpstr>
      <vt:lpstr>AnyMAC’s Superiority over BCR</vt:lpstr>
      <vt:lpstr>Formulate a new method on BCR： ABR</vt:lpstr>
      <vt:lpstr> Next-Reasoning-Action Prediction (NRAP)</vt:lpstr>
      <vt:lpstr> Next-Reasoning-Action Prediction (NRAP)</vt:lpstr>
      <vt:lpstr>Target-Step Selection (TSS) </vt:lpstr>
      <vt:lpstr>Target-Step Selection (TSS) </vt:lpstr>
      <vt:lpstr>A simple control flow</vt:lpstr>
      <vt:lpstr>How to train</vt:lpstr>
      <vt:lpstr>How to train</vt:lpstr>
      <vt:lpstr>Strengths Over BCR</vt:lpstr>
      <vt:lpstr>Further Discussion</vt:lpstr>
      <vt:lpstr>Discussion 1: Novelty</vt:lpstr>
      <vt:lpstr>Discussion 2: Stability</vt:lpstr>
      <vt:lpstr>Discussion 3: Action Definition</vt:lpstr>
      <vt:lpstr>Discussion 4: Efficiency</vt:lpstr>
      <vt:lpstr>Discussion 5: Reward Design</vt:lpstr>
      <vt:lpstr>Tech Details Discussion</vt:lpstr>
      <vt:lpstr>ABR (Adaptive Bellman Reasoning) - Overview</vt:lpstr>
      <vt:lpstr>Base LLM</vt:lpstr>
      <vt:lpstr>Base LLM: Value Head</vt:lpstr>
      <vt:lpstr>Router</vt:lpstr>
      <vt:lpstr>Router： Input Embedding</vt:lpstr>
      <vt:lpstr>Optimizer</vt:lpstr>
      <vt:lpstr>Estimated Parameter Setting</vt:lpstr>
      <vt:lpstr>Expected Training Procedures</vt:lpstr>
      <vt:lpstr>Expected Training Procedures</vt:lpstr>
      <vt:lpstr>Metrics and Baseline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SunriseMoors</cp:lastModifiedBy>
  <cp:revision>189</cp:revision>
  <dcterms:created xsi:type="dcterms:W3CDTF">2019-06-19T02:08:00Z</dcterms:created>
  <dcterms:modified xsi:type="dcterms:W3CDTF">2026-02-21T21:18:07Z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2052-12.1.0.23539</vt:lpwstr>
  </property>
  <property fmtid="{D5CDD505-2E9C-101B-9397-08002B2CF9AE}" pid="3" name="ICV">
    <vt:lpwstr>B4FB6759AC6D4C96A2E3838C9D2790A6_13</vt:lpwstr>
  </property>
</Properties>
</file>