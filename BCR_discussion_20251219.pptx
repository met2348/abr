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7" r:id="rId4"/>
    <p:sldId id="257" r:id="rId5"/>
    <p:sldId id="258" r:id="rId6"/>
    <p:sldId id="259" r:id="rId7"/>
    <p:sldId id="260" r:id="rId8"/>
    <p:sldId id="261" r:id="rId9"/>
    <p:sldId id="262" r:id="rId10"/>
    <p:sldId id="263" r:id="rId11"/>
    <p:sldId id="264" r:id="rId12"/>
    <p:sldId id="265" r:id="rId13"/>
    <p:sldId id="266" r:id="rId14"/>
    <p:sldId id="267" r:id="rId15"/>
    <p:sldId id="268" r:id="rId16"/>
    <p:sldId id="276" r:id="rId17"/>
    <p:sldId id="269" r:id="rId18"/>
    <p:sldId id="270" r:id="rId19"/>
    <p:sldId id="271" r:id="rId20"/>
    <p:sldId id="272" r:id="rId21"/>
    <p:sldId id="273" r:id="rId22"/>
    <p:sldId id="274" r:id="rId23"/>
    <p:sldId id="275" r:id="rId24"/>
    <p:sldId id="279" r:id="rId25"/>
    <p:sldId id="278" r:id="rId26"/>
    <p:sldId id="280" r:id="rId27"/>
    <p:sldId id="281" r:id="rId28"/>
    <p:sldId id="282" r:id="rId29"/>
    <p:sldId id="283" r:id="rId30"/>
    <p:sldId id="284"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8.xml"/><Relationship Id="rId3" Type="http://schemas.openxmlformats.org/officeDocument/2006/relationships/image" Target="../media/image1.png"/><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6.xml"/><Relationship Id="rId2" Type="http://schemas.openxmlformats.org/officeDocument/2006/relationships/tags" Target="../tags/tag85.xml"/><Relationship Id="rId1" Type="http://schemas.openxmlformats.org/officeDocument/2006/relationships/tags" Target="../tags/tag84.xml"/></Relationships>
</file>

<file path=ppt/slides/_rels/slide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tags" Target="../tags/tag87.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2.xml"/><Relationship Id="rId2" Type="http://schemas.openxmlformats.org/officeDocument/2006/relationships/tags" Target="../tags/tag91.xml"/><Relationship Id="rId1" Type="http://schemas.openxmlformats.org/officeDocument/2006/relationships/tags" Target="../tags/tag90.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5.xml"/><Relationship Id="rId2" Type="http://schemas.openxmlformats.org/officeDocument/2006/relationships/tags" Target="../tags/tag94.xml"/><Relationship Id="rId1" Type="http://schemas.openxmlformats.org/officeDocument/2006/relationships/tags" Target="../tags/tag9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8.xml"/><Relationship Id="rId2" Type="http://schemas.openxmlformats.org/officeDocument/2006/relationships/tags" Target="../tags/tag97.xml"/><Relationship Id="rId1" Type="http://schemas.openxmlformats.org/officeDocument/2006/relationships/tags" Target="../tags/tag9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0.xml"/><Relationship Id="rId1" Type="http://schemas.openxmlformats.org/officeDocument/2006/relationships/tags" Target="../tags/tag99.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3.xml"/><Relationship Id="rId2" Type="http://schemas.openxmlformats.org/officeDocument/2006/relationships/tags" Target="../tags/tag102.xml"/><Relationship Id="rId1" Type="http://schemas.openxmlformats.org/officeDocument/2006/relationships/tags" Target="../tags/tag101.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6.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105.xml"/><Relationship Id="rId1" Type="http://schemas.openxmlformats.org/officeDocument/2006/relationships/tags" Target="../tags/tag104.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9.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tags" Target="../tags/tag108.xml"/><Relationship Id="rId1" Type="http://schemas.openxmlformats.org/officeDocument/2006/relationships/tags" Target="../tags/tag107.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2.xml"/><Relationship Id="rId3" Type="http://schemas.openxmlformats.org/officeDocument/2006/relationships/image" Target="../media/image6.png"/><Relationship Id="rId2" Type="http://schemas.openxmlformats.org/officeDocument/2006/relationships/tags" Target="../tags/tag111.xml"/><Relationship Id="rId1" Type="http://schemas.openxmlformats.org/officeDocument/2006/relationships/tags" Target="../tags/tag110.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5.xml"/><Relationship Id="rId3" Type="http://schemas.openxmlformats.org/officeDocument/2006/relationships/image" Target="../media/image7.png"/><Relationship Id="rId2" Type="http://schemas.openxmlformats.org/officeDocument/2006/relationships/tags" Target="../tags/tag114.xml"/><Relationship Id="rId1" Type="http://schemas.openxmlformats.org/officeDocument/2006/relationships/tags" Target="../tags/tag113.xml"/></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18.xml"/><Relationship Id="rId2" Type="http://schemas.openxmlformats.org/officeDocument/2006/relationships/tags" Target="../tags/tag117.xml"/><Relationship Id="rId1" Type="http://schemas.openxmlformats.org/officeDocument/2006/relationships/tags" Target="../tags/tag116.xml"/></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4.xml"/><Relationship Id="rId2" Type="http://schemas.openxmlformats.org/officeDocument/2006/relationships/tags" Target="../tags/tag123.xml"/><Relationship Id="rId1" Type="http://schemas.openxmlformats.org/officeDocument/2006/relationships/tags" Target="../tags/tag122.xml"/></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27.xml"/><Relationship Id="rId2" Type="http://schemas.openxmlformats.org/officeDocument/2006/relationships/tags" Target="../tags/tag126.xml"/><Relationship Id="rId1" Type="http://schemas.openxmlformats.org/officeDocument/2006/relationships/tags" Target="../tags/tag125.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30.xml"/><Relationship Id="rId3" Type="http://schemas.openxmlformats.org/officeDocument/2006/relationships/image" Target="../media/image8.png"/><Relationship Id="rId2" Type="http://schemas.openxmlformats.org/officeDocument/2006/relationships/tags" Target="../tags/tag129.xml"/><Relationship Id="rId1" Type="http://schemas.openxmlformats.org/officeDocument/2006/relationships/tags" Target="../tags/tag128.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tags" Target="../tags/tag134.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39.xml"/><Relationship Id="rId2" Type="http://schemas.openxmlformats.org/officeDocument/2006/relationships/tags" Target="../tags/tag138.xml"/><Relationship Id="rId1" Type="http://schemas.openxmlformats.org/officeDocument/2006/relationships/tags" Target="../tags/tag137.xml"/></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2.xml"/><Relationship Id="rId2" Type="http://schemas.openxmlformats.org/officeDocument/2006/relationships/tags" Target="../tags/tag141.xml"/><Relationship Id="rId1" Type="http://schemas.openxmlformats.org/officeDocument/2006/relationships/tags" Target="../tags/tag140.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5.xml"/><Relationship Id="rId2" Type="http://schemas.openxmlformats.org/officeDocument/2006/relationships/tags" Target="../tags/tag144.xml"/><Relationship Id="rId1" Type="http://schemas.openxmlformats.org/officeDocument/2006/relationships/tags" Target="../tags/tag143.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8.xml"/><Relationship Id="rId2" Type="http://schemas.openxmlformats.org/officeDocument/2006/relationships/tags" Target="../tags/tag147.xml"/><Relationship Id="rId1" Type="http://schemas.openxmlformats.org/officeDocument/2006/relationships/tags" Target="../tags/tag1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720090"/>
            <a:ext cx="9799200" cy="2570400"/>
          </a:xfrm>
        </p:spPr>
        <p:txBody>
          <a:bodyPr/>
          <a:p>
            <a:r>
              <a:rPr lang="en-US" altLang="zh-CN"/>
              <a:t>Discussion on BCR</a:t>
            </a:r>
            <a:endParaRPr lang="en-US" altLang="zh-CN"/>
          </a:p>
        </p:txBody>
      </p:sp>
      <p:sp>
        <p:nvSpPr>
          <p:cNvPr id="3" name="副标题 2"/>
          <p:cNvSpPr>
            <a:spLocks noGrp="1"/>
          </p:cNvSpPr>
          <p:nvPr>
            <p:ph type="subTitle" idx="1"/>
            <p:custDataLst>
              <p:tags r:id="rId2"/>
            </p:custDataLst>
          </p:nvPr>
        </p:nvSpPr>
        <p:spPr/>
        <p:txBody>
          <a:bodyPr/>
          <a:p>
            <a:r>
              <a:rPr lang="en-US" altLang="zh-CN"/>
              <a:t>20251219</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Dataset: A comprehesive study</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1386840" y="2014220"/>
            <a:ext cx="7467600" cy="282892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Dataset - </a:t>
            </a:r>
            <a:r>
              <a:rPr lang="en-US" altLang="zh-CN">
                <a:sym typeface="+mn-ea"/>
              </a:rPr>
              <a:t>GSM8K </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GSM8K :  8500 Elementary School Level Math:</a:t>
            </a:r>
            <a:endParaRPr lang="en-US" altLang="zh-CN"/>
          </a:p>
          <a:p>
            <a:r>
              <a:rPr lang="en-US" altLang="zh-CN"/>
              <a:t>Published at: https://arxiv.org/abs/2110.14168</a:t>
            </a:r>
            <a:endParaRPr lang="en-US" altLang="zh-CN"/>
          </a:p>
          <a:p>
            <a:r>
              <a:rPr lang="en-US" altLang="zh-CN"/>
              <a:t>link: </a:t>
            </a:r>
            <a:r>
              <a:rPr lang="en-US" altLang="zh-CN" u="sng">
                <a:solidFill>
                  <a:srgbClr val="0070C0"/>
                </a:solidFill>
              </a:rPr>
              <a:t>https://huggingface.co/datasets/gsm8k</a:t>
            </a:r>
            <a:endParaRPr lang="en-US" altLang="zh-CN"/>
          </a:p>
          <a:p>
            <a:r>
              <a:rPr lang="en-US" altLang="zh-CN"/>
              <a:t>Goal: Natural Language decomposed math steps</a:t>
            </a:r>
            <a:endParaRPr lang="en-US" altLang="zh-CN"/>
          </a:p>
          <a:p>
            <a:pPr marL="0" indent="0">
              <a:buNone/>
            </a:pPr>
            <a:r>
              <a:rPr lang="en-US" altLang="zh-CN"/>
              <a:t>sample:</a:t>
            </a:r>
            <a:endParaRPr lang="en-US" altLang="zh-CN"/>
          </a:p>
          <a:p>
            <a:pPr marL="0" indent="0">
              <a:buNone/>
            </a:pPr>
            <a:r>
              <a:rPr lang="en-US" altLang="zh-CN" i="1"/>
              <a:t>Natalia sold clips to 48 of her friends in 3 different classes. If the same number of clips were sold to each class, how many clips did each class buy</a:t>
            </a:r>
            <a:endParaRPr lang="en-US" altLang="zh-CN" i="1"/>
          </a:p>
          <a:p>
            <a:pPr marL="0" indent="0">
              <a:buNone/>
            </a:pPr>
            <a:r>
              <a:rPr lang="en-US" altLang="zh-CN"/>
              <a:t>Good answer: (step by step)</a:t>
            </a:r>
            <a:endParaRPr lang="en-US" altLang="zh-CN"/>
          </a:p>
          <a:p>
            <a:pPr marL="0" indent="0">
              <a:buNone/>
            </a:pPr>
            <a:r>
              <a:rPr lang="en-US" altLang="zh-CN" i="1"/>
              <a:t>Natalia sold clips to 48 friends in total. She sold them in 3 different classes. To find out how many clips each class bought, we need to divide the total number of clips by the number of classes. 48 / 3 = 16. Each class bought 16 clips. The answer is 16.</a:t>
            </a:r>
            <a:endParaRPr lang="en-US" altLang="zh-CN" i="1"/>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GSM8K - Usage</a:t>
            </a:r>
            <a:endParaRPr lang="zh-CN" altLang="en-US"/>
          </a:p>
        </p:txBody>
      </p:sp>
      <p:sp>
        <p:nvSpPr>
          <p:cNvPr id="3" name="内容占位符 2"/>
          <p:cNvSpPr>
            <a:spLocks noGrp="1"/>
          </p:cNvSpPr>
          <p:nvPr>
            <p:ph idx="1"/>
            <p:custDataLst>
              <p:tags r:id="rId2"/>
            </p:custDataLst>
          </p:nvPr>
        </p:nvSpPr>
        <p:spPr/>
        <p:txBody>
          <a:bodyPr/>
          <a:p>
            <a:r>
              <a:rPr lang="en-US" altLang="zh-CN"/>
              <a:t>check if: true answer, wrong steps</a:t>
            </a:r>
            <a:endParaRPr lang="en-US" altLang="zh-CN"/>
          </a:p>
          <a:p>
            <a:r>
              <a:rPr lang="en-US" altLang="zh-CN"/>
              <a:t>to see:</a:t>
            </a:r>
            <a:endParaRPr lang="en-US" altLang="zh-CN"/>
          </a:p>
          <a:p>
            <a:pPr lvl="1"/>
            <a:r>
              <a:rPr lang="en-US" altLang="zh-CN"/>
              <a:t> in wrong steps, model reward or value funcs drop drastically</a:t>
            </a:r>
            <a:endParaRPr lang="en-US" altLang="zh-CN"/>
          </a:p>
          <a:p>
            <a:pPr lvl="1"/>
            <a:r>
              <a:rPr lang="en-US" altLang="zh-CN"/>
              <a:t> even later steps correct, the value should fluctuate within a significant maglitude</a:t>
            </a:r>
            <a:endParaRPr lang="en-US" altLang="zh-CN"/>
          </a:p>
          <a:p>
            <a:endParaRPr lang="en-US" altLang="zh-CN"/>
          </a:p>
          <a:p>
            <a:r>
              <a:rPr lang="en-US" altLang="zh-CN"/>
              <a:t>indicator: ACC; “Smoothness”: | Vt+1 - Vt |</a:t>
            </a:r>
            <a:endParaRPr lang="en-US" altLang="zh-CN"/>
          </a:p>
          <a:p>
            <a:r>
              <a:rPr lang="en-US" altLang="zh-CN"/>
              <a:t>to use: manually add wrong steps with “minor” mistakes (like reverting “+” -&gt; “-”), to see if fluctuations are present.</a:t>
            </a:r>
            <a:endParaRPr lang="en-US" altLang="zh-CN"/>
          </a:p>
          <a:p>
            <a:r>
              <a:rPr lang="en-US" altLang="zh-CN"/>
              <a:t>to check halluciation</a:t>
            </a:r>
            <a:endParaRPr lang="en-US" altLang="zh-CN"/>
          </a:p>
          <a:p>
            <a:endParaRPr lang="en-US" altLang="zh-CN"/>
          </a:p>
          <a:p>
            <a:endParaRPr lang="en-US" altLang="zh-CN"/>
          </a:p>
          <a:p>
            <a:endParaRPr lang="en-US" altLang="zh-CN"/>
          </a:p>
          <a:p>
            <a:endParaRPr lang="en-US" altLang="zh-CN"/>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Dataset - </a:t>
            </a:r>
            <a:r>
              <a:rPr lang="en-US" altLang="zh-CN">
                <a:sym typeface="+mn-ea"/>
              </a:rPr>
              <a:t>Strategy QA</a:t>
            </a:r>
            <a:endParaRPr lang="zh-CN" altLang="en-US"/>
          </a:p>
        </p:txBody>
      </p:sp>
      <p:sp>
        <p:nvSpPr>
          <p:cNvPr id="3" name="内容占位符 2"/>
          <p:cNvSpPr>
            <a:spLocks noGrp="1"/>
          </p:cNvSpPr>
          <p:nvPr>
            <p:ph idx="1"/>
            <p:custDataLst>
              <p:tags r:id="rId2"/>
            </p:custDataLst>
          </p:nvPr>
        </p:nvSpPr>
        <p:spPr/>
        <p:txBody>
          <a:bodyPr>
            <a:normAutofit lnSpcReduction="10000"/>
          </a:bodyPr>
          <a:p>
            <a:pPr marL="0" indent="0">
              <a:buNone/>
            </a:pPr>
            <a:r>
              <a:rPr lang="en-US" altLang="zh-CN"/>
              <a:t>Goal: implicit inference, multi steps, common sense.</a:t>
            </a:r>
            <a:endParaRPr lang="en-US" altLang="zh-CN"/>
          </a:p>
          <a:p>
            <a:pPr marL="0" indent="0">
              <a:buNone/>
            </a:pPr>
            <a:r>
              <a:rPr lang="en-US" altLang="zh-CN"/>
              <a:t>the answer is T/F + chain of factual explanation</a:t>
            </a:r>
            <a:endParaRPr lang="en-US" altLang="zh-CN"/>
          </a:p>
          <a:p>
            <a:pPr marL="0" indent="0">
              <a:buNone/>
            </a:pPr>
            <a:r>
              <a:rPr lang="en-US" altLang="zh-CN"/>
              <a:t>Sample:</a:t>
            </a:r>
            <a:endParaRPr lang="en-US" altLang="zh-CN"/>
          </a:p>
          <a:p>
            <a:pPr marL="0" indent="0">
              <a:buNone/>
            </a:pPr>
            <a:r>
              <a:rPr lang="en-US" altLang="zh-CN" i="1"/>
              <a:t>Could a bee replace a human worker in a factory that makes small objects</a:t>
            </a:r>
            <a:endParaRPr lang="en-US" altLang="zh-CN" i="1"/>
          </a:p>
          <a:p>
            <a:pPr marL="0" indent="0">
              <a:buNone/>
            </a:pPr>
            <a:r>
              <a:rPr lang="en-US" altLang="zh-CN"/>
              <a:t>-&gt; </a:t>
            </a:r>
            <a:r>
              <a:rPr lang="en-US" altLang="zh-CN" i="1"/>
              <a:t>A bee is an insect. Insects are very small. A factory that makes small objects would require a worker with fine motor skills. Bees do not have fine motor skills to operate machinery. Therefore, a bee could not replace a human worker in such a factory. The answer is no.</a:t>
            </a:r>
            <a:endParaRPr lang="en-US" altLang="zh-CN"/>
          </a:p>
          <a:p>
            <a:pPr marL="0" indent="0">
              <a:buNone/>
            </a:pPr>
            <a:r>
              <a:rPr lang="en-US" altLang="zh-CN"/>
              <a:t>Repo:</a:t>
            </a:r>
            <a:endParaRPr lang="zh-CN" altLang="en-US"/>
          </a:p>
          <a:p>
            <a:r>
              <a:rPr lang="en-US" altLang="zh-CN" u="sng">
                <a:solidFill>
                  <a:srgbClr val="0070C0"/>
                </a:solidFill>
              </a:rPr>
              <a:t>https://huggingface.co/datasets/strategyqa</a:t>
            </a:r>
            <a:endParaRPr lang="en-US" altLang="zh-CN" u="sng">
              <a:solidFill>
                <a:srgbClr val="0070C0"/>
              </a:solidFill>
            </a:endParaRPr>
          </a:p>
          <a:p>
            <a:r>
              <a:rPr lang="en-US" altLang="zh-CN" u="sng">
                <a:solidFill>
                  <a:srgbClr val="0070C0"/>
                </a:solidFill>
              </a:rPr>
              <a:t>https://strategyqa.github.io/</a:t>
            </a:r>
            <a:endParaRPr lang="en-US" altLang="zh-CN" u="sng">
              <a:solidFill>
                <a:srgbClr val="0070C0"/>
              </a:solidFill>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Strategy QA - Usage</a:t>
            </a:r>
            <a:endParaRPr lang="zh-CN" altLang="en-US"/>
          </a:p>
        </p:txBody>
      </p:sp>
      <p:sp>
        <p:nvSpPr>
          <p:cNvPr id="3" name="内容占位符 2"/>
          <p:cNvSpPr>
            <a:spLocks noGrp="1"/>
          </p:cNvSpPr>
          <p:nvPr>
            <p:ph idx="1"/>
            <p:custDataLst>
              <p:tags r:id="rId2"/>
            </p:custDataLst>
          </p:nvPr>
        </p:nvSpPr>
        <p:spPr/>
        <p:txBody>
          <a:bodyPr/>
          <a:p>
            <a:r>
              <a:rPr lang="en-US" altLang="zh-CN"/>
              <a:t>counter “</a:t>
            </a:r>
            <a:r>
              <a:rPr lang="zh-CN" altLang="en-US"/>
              <a:t>事后合理化</a:t>
            </a:r>
            <a:r>
              <a:rPr lang="en-US" altLang="zh-CN"/>
              <a:t>” : the model retrieved the answer by statistics, and based on the answer to “make up” the inference --&gt; the inference chain is shortened, with abrupt jumps</a:t>
            </a:r>
            <a:endParaRPr lang="en-US" altLang="zh-CN"/>
          </a:p>
          <a:p>
            <a:endParaRPr lang="en-US" altLang="zh-CN"/>
          </a:p>
          <a:p>
            <a:r>
              <a:rPr lang="en-US" altLang="zh-CN"/>
              <a:t>At the jumps, the semantics changes suddenly. Expected results should show where wrong steps come:</a:t>
            </a:r>
            <a:endParaRPr lang="en-US" altLang="zh-CN"/>
          </a:p>
          <a:p>
            <a:pPr lvl="1"/>
            <a:r>
              <a:rPr lang="en-US" altLang="zh-CN"/>
              <a:t>halluciation: confidence rise with no reasons</a:t>
            </a:r>
            <a:endParaRPr lang="en-US" altLang="zh-CN"/>
          </a:p>
          <a:p>
            <a:pPr lvl="1"/>
            <a:r>
              <a:rPr lang="en-US" altLang="zh-CN"/>
              <a:t>broken logic chain: decrease in value </a:t>
            </a:r>
            <a:endParaRPr lang="en-US" altLang="zh-CN"/>
          </a:p>
          <a:p>
            <a:pPr lvl="1"/>
            <a:endParaRPr lang="en-US" altLang="zh-CN"/>
          </a:p>
          <a:p>
            <a:pPr lvl="0"/>
            <a:r>
              <a:rPr lang="en-US" altLang="zh-CN" sz="1800"/>
              <a:t>Manually delete one chain of the whole CoT to check if the value func fluctuates a lot</a:t>
            </a:r>
            <a:endParaRPr lang="en-US" altLang="zh-CN"/>
          </a:p>
          <a:p>
            <a:endParaRPr lang="en-US" altLang="zh-CN"/>
          </a:p>
          <a:p>
            <a:endParaRPr lang="en-US" altLang="zh-CN"/>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Additional Datasets</a:t>
            </a:r>
            <a:endParaRPr lang="en-US" altLang="zh-CN"/>
          </a:p>
        </p:txBody>
      </p:sp>
      <p:sp>
        <p:nvSpPr>
          <p:cNvPr id="3" name="内容占位符 2"/>
          <p:cNvSpPr>
            <a:spLocks noGrp="1"/>
          </p:cNvSpPr>
          <p:nvPr>
            <p:ph idx="1"/>
            <p:custDataLst>
              <p:tags r:id="rId2"/>
            </p:custDataLst>
          </p:nvPr>
        </p:nvSpPr>
        <p:spPr/>
        <p:txBody>
          <a:bodyPr/>
          <a:p>
            <a:endParaRPr lang="en-US" altLang="zh-CN"/>
          </a:p>
          <a:p>
            <a:r>
              <a:rPr lang="en-US" altLang="zh-CN" sz="2000"/>
              <a:t>MATH</a:t>
            </a:r>
            <a:endParaRPr lang="en-US" altLang="zh-CN" sz="2000"/>
          </a:p>
          <a:p>
            <a:r>
              <a:rPr lang="en-US" altLang="zh-CN" sz="2000"/>
              <a:t>ProofWriter</a:t>
            </a:r>
            <a:endParaRPr lang="en-US" altLang="zh-CN" sz="2000"/>
          </a:p>
          <a:p>
            <a:r>
              <a:rPr lang="en-US" altLang="zh-CN" sz="2000"/>
              <a:t>LogiQA</a:t>
            </a:r>
            <a:endParaRPr lang="en-US" altLang="zh-CN" sz="2000"/>
          </a:p>
          <a:p>
            <a:r>
              <a:rPr lang="en-US" altLang="zh-CN" sz="2000"/>
              <a:t>BBH</a:t>
            </a:r>
            <a:endParaRPr lang="en-US" altLang="zh-CN" sz="2000"/>
          </a:p>
          <a:p>
            <a:r>
              <a:rPr lang="en-US" altLang="zh-CN" sz="2000"/>
              <a:t>DROP</a:t>
            </a:r>
            <a:endParaRPr lang="en-US" altLang="zh-CN" sz="2000"/>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MATH*</a:t>
            </a:r>
            <a:endParaRPr lang="en-US" altLang="zh-CN"/>
          </a:p>
        </p:txBody>
      </p:sp>
      <p:sp>
        <p:nvSpPr>
          <p:cNvPr id="3" name="内容占位符 2"/>
          <p:cNvSpPr>
            <a:spLocks noGrp="1"/>
          </p:cNvSpPr>
          <p:nvPr>
            <p:ph idx="1"/>
            <p:custDataLst>
              <p:tags r:id="rId2"/>
            </p:custDataLst>
          </p:nvPr>
        </p:nvSpPr>
        <p:spPr/>
        <p:txBody>
          <a:bodyPr>
            <a:normAutofit lnSpcReduction="10000"/>
          </a:bodyPr>
          <a:p>
            <a:pPr marL="0" indent="0">
              <a:buNone/>
            </a:pPr>
            <a:r>
              <a:rPr lang="en-US" altLang="zh-CN"/>
              <a:t>12500 High School Math Olympiad: multiple steps of </a:t>
            </a:r>
            <a:r>
              <a:rPr lang="en-US" altLang="zh-CN" b="1"/>
              <a:t>abstract symbolic operations</a:t>
            </a:r>
            <a:endParaRPr lang="en-US" altLang="zh-CN"/>
          </a:p>
          <a:p>
            <a:pPr marL="0" indent="0">
              <a:buNone/>
            </a:pPr>
            <a:r>
              <a:rPr lang="en-US" altLang="zh-CN"/>
              <a:t>algebra, geometry, calculus, ...</a:t>
            </a:r>
            <a:endParaRPr lang="en-US" altLang="zh-CN"/>
          </a:p>
          <a:p>
            <a:pPr marL="0" indent="0">
              <a:buNone/>
            </a:pPr>
            <a:r>
              <a:rPr lang="en-US" altLang="zh-CN" b="1"/>
              <a:t>sample:</a:t>
            </a:r>
            <a:endParaRPr lang="en-US" altLang="zh-CN" b="1"/>
          </a:p>
          <a:p>
            <a:pPr marL="0" indent="0">
              <a:buNone/>
            </a:pPr>
            <a:r>
              <a:rPr lang="en-US" altLang="zh-CN" i="1"/>
              <a:t>Find the sum of all positive integer values of n such that n2 - 13n + 40 is perfect square</a:t>
            </a:r>
            <a:endParaRPr lang="en-US" altLang="zh-CN" i="1"/>
          </a:p>
          <a:p>
            <a:pPr marL="0" indent="0">
              <a:buNone/>
            </a:pPr>
            <a:r>
              <a:rPr lang="en-US" altLang="zh-CN" i="1"/>
              <a:t>-&gt; We want to find n such that </a:t>
            </a:r>
            <a:r>
              <a:rPr lang="en-US" altLang="zh-CN" i="1">
                <a:sym typeface="+mn-ea"/>
              </a:rPr>
              <a:t>n2 - 13n + 40 = k2 </a:t>
            </a:r>
            <a:r>
              <a:rPr lang="en-US" altLang="zh-CN" i="1"/>
              <a:t>for some integer k. This can be rewritten as a quadratic Diophantine equation… [ a series of algebraic manipulations and case analysis] … Therefore, the sum of all positive integer values of n is 14</a:t>
            </a:r>
            <a:endParaRPr lang="en-US" altLang="zh-CN" i="1"/>
          </a:p>
          <a:p>
            <a:pPr marL="0" indent="0">
              <a:buNone/>
            </a:pPr>
            <a:r>
              <a:rPr lang="en-US" altLang="zh-CN" b="1"/>
              <a:t>Repo:</a:t>
            </a:r>
            <a:endParaRPr lang="en-US" altLang="zh-CN" b="1"/>
          </a:p>
          <a:p>
            <a:r>
              <a:rPr lang="en-US" altLang="zh-CN" u="sng">
                <a:solidFill>
                  <a:srgbClr val="0070C0"/>
                </a:solidFill>
              </a:rPr>
              <a:t>https://huggingface.co/datasets/hendrycks/competition_math</a:t>
            </a:r>
            <a:endParaRPr lang="en-US" altLang="zh-CN" u="sng">
              <a:solidFill>
                <a:srgbClr val="0070C0"/>
              </a:solidFill>
            </a:endParaRPr>
          </a:p>
          <a:p>
            <a:r>
              <a:rPr lang="en-US" altLang="zh-CN" u="sng">
                <a:solidFill>
                  <a:srgbClr val="0070C0"/>
                </a:solidFill>
              </a:rPr>
              <a:t>https://arxiv.org/abs/2103.03874</a:t>
            </a:r>
            <a:endParaRPr lang="en-US" altLang="zh-CN" u="sng">
              <a:solidFill>
                <a:srgbClr val="0070C0"/>
              </a:solidFill>
            </a:endParaRPr>
          </a:p>
          <a:p>
            <a:pPr marL="0" indent="0">
              <a:buNone/>
            </a:pPr>
            <a:endParaRPr lang="en-US" altLang="zh-CN" u="sng">
              <a:solidFill>
                <a:srgbClr val="0070C0"/>
              </a:solidFill>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ProofWriter*</a:t>
            </a:r>
            <a:endParaRPr lang="en-US" altLang="zh-CN"/>
          </a:p>
        </p:txBody>
      </p:sp>
      <p:sp>
        <p:nvSpPr>
          <p:cNvPr id="3" name="内容占位符 2"/>
          <p:cNvSpPr>
            <a:spLocks noGrp="1"/>
          </p:cNvSpPr>
          <p:nvPr>
            <p:ph idx="1"/>
            <p:custDataLst>
              <p:tags r:id="rId2"/>
            </p:custDataLst>
          </p:nvPr>
        </p:nvSpPr>
        <p:spPr>
          <a:xfrm>
            <a:off x="608330" y="1400175"/>
            <a:ext cx="10968990" cy="4849495"/>
          </a:xfrm>
        </p:spPr>
        <p:txBody>
          <a:bodyPr>
            <a:normAutofit/>
          </a:bodyPr>
          <a:p>
            <a:pPr marL="0" indent="0">
              <a:buNone/>
            </a:pPr>
            <a:r>
              <a:rPr lang="en-US" altLang="zh-CN">
                <a:sym typeface="+mn-ea"/>
              </a:rPr>
              <a:t>Evaluate </a:t>
            </a:r>
            <a:r>
              <a:rPr lang="en-US" altLang="zh-CN" b="1">
                <a:solidFill>
                  <a:srgbClr val="0070C0"/>
                </a:solidFill>
                <a:sym typeface="+mn-ea"/>
              </a:rPr>
              <a:t>neuro-symbolic inference</a:t>
            </a:r>
            <a:r>
              <a:rPr lang="en-US" altLang="zh-CN">
                <a:sym typeface="+mn-ea"/>
              </a:rPr>
              <a:t> ability: from a set of </a:t>
            </a:r>
            <a:r>
              <a:rPr lang="en-US" altLang="zh-CN" b="1">
                <a:sym typeface="+mn-ea"/>
              </a:rPr>
              <a:t>premise </a:t>
            </a:r>
            <a:r>
              <a:rPr lang="en-US" altLang="zh-CN">
                <a:sym typeface="+mn-ea"/>
              </a:rPr>
              <a:t>to check if an answer can be </a:t>
            </a:r>
            <a:r>
              <a:rPr lang="en-US" altLang="zh-CN" b="1">
                <a:sym typeface="+mn-ea"/>
              </a:rPr>
              <a:t>derived </a:t>
            </a:r>
            <a:r>
              <a:rPr lang="en-US" altLang="zh-CN">
                <a:sym typeface="+mn-ea"/>
              </a:rPr>
              <a:t>based on those.</a:t>
            </a:r>
            <a:endParaRPr lang="en-US" altLang="zh-CN"/>
          </a:p>
          <a:p>
            <a:pPr marL="0" indent="0">
              <a:buNone/>
            </a:pPr>
            <a:r>
              <a:rPr lang="en-US" altLang="zh-CN"/>
              <a:t>Repo:</a:t>
            </a:r>
            <a:endParaRPr lang="en-US" altLang="zh-CN"/>
          </a:p>
          <a:p>
            <a:r>
              <a:rPr lang="en-US" altLang="zh-CN" u="sng">
                <a:solidFill>
                  <a:srgbClr val="0070C0"/>
                </a:solidFill>
              </a:rPr>
              <a:t>https://huggingface.co/datasets/proofwriter</a:t>
            </a:r>
            <a:endParaRPr lang="en-US" altLang="zh-CN" u="sng">
              <a:solidFill>
                <a:srgbClr val="0070C0"/>
              </a:solidFill>
            </a:endParaRPr>
          </a:p>
          <a:p>
            <a:r>
              <a:rPr lang="en-US" altLang="zh-CN" u="sng">
                <a:solidFill>
                  <a:srgbClr val="0070C0"/>
                </a:solidFill>
              </a:rPr>
              <a:t>https://arxiv.org/abs/2011.02620</a:t>
            </a:r>
            <a:endParaRPr lang="en-US" altLang="zh-CN" u="sng">
              <a:solidFill>
                <a:srgbClr val="0070C0"/>
              </a:solidFill>
            </a:endParaRPr>
          </a:p>
          <a:p>
            <a:pPr marL="0" indent="0">
              <a:buNone/>
            </a:pPr>
            <a:r>
              <a:rPr lang="en-US" altLang="zh-CN"/>
              <a:t>sample: </a:t>
            </a:r>
            <a:endParaRPr lang="en-US" altLang="zh-CN"/>
          </a:p>
          <a:p>
            <a:pPr marL="0" indent="0">
              <a:buNone/>
            </a:pPr>
            <a:r>
              <a:rPr lang="en-US" altLang="zh-CN" i="1"/>
              <a:t>Premises: [All cats are mammals. All mammals are animals.]. Question: Is the conclusion ‘All cats are animals’ true?  -&gt; </a:t>
            </a:r>
            <a:endParaRPr lang="en-US" altLang="zh-CN" i="1"/>
          </a:p>
          <a:p>
            <a:pPr marL="0" indent="0">
              <a:buNone/>
            </a:pPr>
            <a:r>
              <a:rPr lang="en-US" altLang="zh-CN" i="1"/>
              <a:t>Step 1: From ‘All cats are mammals’ and ‘All mammals are animals’, we can infer that ‘All cats are animals’ by the rule of transitivity. Therefore, the conclusion is true.</a:t>
            </a:r>
            <a:endParaRPr lang="en-US" altLang="zh-CN" i="1"/>
          </a:p>
          <a:p>
            <a:pPr marL="0" indent="0">
              <a:buNone/>
            </a:pPr>
            <a:endParaRPr lang="en-US" altLang="zh-CN" i="1"/>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LogiQA</a:t>
            </a:r>
            <a:endParaRPr lang="en-US" altLang="zh-CN"/>
          </a:p>
        </p:txBody>
      </p:sp>
      <p:sp>
        <p:nvSpPr>
          <p:cNvPr id="3" name="内容占位符 2"/>
          <p:cNvSpPr>
            <a:spLocks noGrp="1"/>
          </p:cNvSpPr>
          <p:nvPr>
            <p:ph idx="1"/>
            <p:custDataLst>
              <p:tags r:id="rId2"/>
            </p:custDataLst>
          </p:nvPr>
        </p:nvSpPr>
        <p:spPr>
          <a:xfrm>
            <a:off x="608330" y="1490345"/>
            <a:ext cx="10968990" cy="4849495"/>
          </a:xfrm>
        </p:spPr>
        <p:txBody>
          <a:bodyPr/>
          <a:p>
            <a:r>
              <a:rPr lang="zh-CN" altLang="en-US"/>
              <a:t>中国</a:t>
            </a:r>
            <a:r>
              <a:rPr lang="en-US" altLang="zh-CN"/>
              <a:t>, </a:t>
            </a:r>
            <a:r>
              <a:rPr lang="zh-CN" altLang="en-US"/>
              <a:t>公务员考试。</a:t>
            </a:r>
            <a:r>
              <a:rPr lang="en-US" altLang="zh-CN"/>
              <a:t>induction, deduction, analogy, ...</a:t>
            </a:r>
            <a:endParaRPr lang="en-US" altLang="zh-CN"/>
          </a:p>
          <a:p>
            <a:pPr marL="0" indent="0">
              <a:buNone/>
            </a:pPr>
            <a:r>
              <a:rPr lang="en-US" altLang="zh-CN"/>
              <a:t>different culture background: to see if able to </a:t>
            </a:r>
            <a:r>
              <a:rPr lang="en-US" altLang="zh-CN" b="1">
                <a:solidFill>
                  <a:srgbClr val="0070C0"/>
                </a:solidFill>
              </a:rPr>
              <a:t>generalize </a:t>
            </a:r>
            <a:r>
              <a:rPr lang="en-US" altLang="zh-CN"/>
              <a:t>to </a:t>
            </a:r>
            <a:r>
              <a:rPr lang="en-US" altLang="zh-CN" b="1">
                <a:solidFill>
                  <a:srgbClr val="0070C0"/>
                </a:solidFill>
              </a:rPr>
              <a:t>cross-culture </a:t>
            </a:r>
            <a:r>
              <a:rPr lang="en-US" altLang="zh-CN"/>
              <a:t>scenarios</a:t>
            </a:r>
            <a:endParaRPr lang="en-US" altLang="zh-CN"/>
          </a:p>
          <a:p>
            <a:pPr marL="0" indent="0">
              <a:buNone/>
            </a:pPr>
            <a:r>
              <a:rPr lang="en-US" altLang="zh-CN"/>
              <a:t>Sample: 1 Q with 4 Options</a:t>
            </a:r>
            <a:endParaRPr lang="en-US" altLang="zh-CN"/>
          </a:p>
          <a:p>
            <a:pPr marL="0" indent="0">
              <a:buNone/>
            </a:pPr>
            <a:r>
              <a:rPr lang="en-US" altLang="zh-CN"/>
              <a:t>Repo:</a:t>
            </a:r>
            <a:endParaRPr lang="en-US" altLang="zh-CN"/>
          </a:p>
          <a:p>
            <a:pPr marL="0" indent="0">
              <a:buNone/>
            </a:pPr>
            <a:r>
              <a:rPr lang="en-US" altLang="zh-CN" u="sng">
                <a:solidFill>
                  <a:srgbClr val="0070C0"/>
                </a:solidFill>
              </a:rPr>
              <a:t>https://huggingface.co/datasets/logiqa</a:t>
            </a:r>
            <a:endParaRPr lang="en-US" altLang="zh-CN" u="sng">
              <a:solidFill>
                <a:srgbClr val="0070C0"/>
              </a:solidFill>
            </a:endParaRPr>
          </a:p>
          <a:p>
            <a:pPr marL="0" indent="0">
              <a:buNone/>
            </a:pPr>
            <a:r>
              <a:rPr lang="en-US" altLang="zh-CN" u="sng">
                <a:solidFill>
                  <a:srgbClr val="0070C0"/>
                </a:solidFill>
              </a:rPr>
              <a:t>https://arxiv.org/abs/2005.00778</a:t>
            </a:r>
            <a:endParaRPr lang="en-US" altLang="zh-CN" u="sng">
              <a:solidFill>
                <a:srgbClr val="0070C0"/>
              </a:solidFill>
            </a:endParaRPr>
          </a:p>
          <a:p>
            <a:pPr marL="0" indent="0">
              <a:buNone/>
            </a:pPr>
            <a:r>
              <a:rPr lang="zh-CN" altLang="en-US" i="1"/>
              <a:t>某公司有甲、乙、丙、丁四名员工，他们的籍贯各不相同。甲不是北京人，乙不是上海人，北京人不是程序员，上海人是程序员。请问，谁是上海人？</a:t>
            </a:r>
            <a:r>
              <a:rPr lang="en-US" altLang="zh-CN" i="1"/>
              <a:t> A. </a:t>
            </a:r>
            <a:r>
              <a:rPr lang="zh-CN" altLang="en-US" i="1"/>
              <a:t>甲</a:t>
            </a:r>
            <a:r>
              <a:rPr lang="en-US" altLang="zh-CN" i="1"/>
              <a:t> B. </a:t>
            </a:r>
            <a:r>
              <a:rPr lang="zh-CN" altLang="en-US" i="1"/>
              <a:t>乙</a:t>
            </a:r>
            <a:r>
              <a:rPr lang="en-US" altLang="zh-CN" i="1"/>
              <a:t> C. </a:t>
            </a:r>
            <a:r>
              <a:rPr lang="zh-CN" altLang="en-US" i="1"/>
              <a:t>丙</a:t>
            </a:r>
            <a:r>
              <a:rPr lang="en-US" altLang="zh-CN" i="1"/>
              <a:t> D. </a:t>
            </a:r>
            <a:r>
              <a:rPr lang="zh-CN" altLang="en-US" i="1"/>
              <a:t>丁</a:t>
            </a:r>
            <a:endParaRPr lang="zh-CN" altLang="en-US" i="1"/>
          </a:p>
          <a:p>
            <a:pPr marL="0" indent="0">
              <a:buNone/>
            </a:pPr>
            <a:r>
              <a:rPr lang="en-US" altLang="zh-CN" i="1"/>
              <a:t>-&gt; </a:t>
            </a:r>
            <a:r>
              <a:rPr lang="zh-CN" altLang="en-US" i="1"/>
              <a:t>根据题干，上海人是程序员。乙不是上海人，所以乙不是程序员。北京人不是程序员，所以乙不是北京人。因此，乙的籍贯既不是北京也不是上海</a:t>
            </a:r>
            <a:r>
              <a:rPr lang="en-US" altLang="zh-CN" i="1"/>
              <a:t>… [</a:t>
            </a:r>
            <a:r>
              <a:rPr lang="zh-CN" altLang="en-US" i="1"/>
              <a:t>通过排除法</a:t>
            </a:r>
            <a:r>
              <a:rPr lang="en-US" altLang="zh-CN" i="1"/>
              <a:t>] … </a:t>
            </a:r>
            <a:r>
              <a:rPr lang="zh-CN" altLang="en-US" i="1"/>
              <a:t>所以，丁是上海人。</a:t>
            </a:r>
            <a:endParaRPr lang="zh-CN" altLang="en-US" i="1"/>
          </a:p>
          <a:p>
            <a:pPr marL="0" indent="0">
              <a:buNone/>
            </a:pPr>
            <a:endParaRPr lang="en-US" altLang="zh-CN" i="1"/>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383610"/>
            <a:ext cx="10969200" cy="705600"/>
          </a:xfrm>
        </p:spPr>
        <p:txBody>
          <a:bodyPr/>
          <a:p>
            <a:r>
              <a:rPr lang="en-US" altLang="zh-CN"/>
              <a:t>BIG-Bench Hard</a:t>
            </a:r>
            <a:endParaRPr lang="en-US" altLang="zh-CN"/>
          </a:p>
        </p:txBody>
      </p:sp>
      <p:sp>
        <p:nvSpPr>
          <p:cNvPr id="3" name="内容占位符 2"/>
          <p:cNvSpPr>
            <a:spLocks noGrp="1"/>
          </p:cNvSpPr>
          <p:nvPr>
            <p:ph idx="1"/>
            <p:custDataLst>
              <p:tags r:id="rId2"/>
            </p:custDataLst>
          </p:nvPr>
        </p:nvSpPr>
        <p:spPr>
          <a:xfrm>
            <a:off x="608330" y="1234440"/>
            <a:ext cx="10968990" cy="5506085"/>
          </a:xfrm>
        </p:spPr>
        <p:txBody>
          <a:bodyPr/>
          <a:p>
            <a:r>
              <a:rPr lang="en-US" altLang="zh-CN"/>
              <a:t>“BBH”, selected from BB, top-23 hardest tasks. -&gt; </a:t>
            </a:r>
            <a:r>
              <a:rPr lang="en-US" altLang="zh-CN" b="1">
                <a:solidFill>
                  <a:srgbClr val="0070C0"/>
                </a:solidFill>
              </a:rPr>
              <a:t>Pressure Test</a:t>
            </a:r>
            <a:endParaRPr lang="en-US" altLang="zh-CN" b="1">
              <a:solidFill>
                <a:srgbClr val="0070C0"/>
              </a:solidFill>
            </a:endParaRPr>
          </a:p>
          <a:p>
            <a:pPr marL="0" indent="0">
              <a:buNone/>
            </a:pPr>
            <a:r>
              <a:rPr lang="en-US" altLang="zh-CN" u="sng">
                <a:solidFill>
                  <a:srgbClr val="0070C0"/>
                </a:solidFill>
              </a:rPr>
              <a:t>https://huggingface.co/datasets/bigbench/bigbenchhard</a:t>
            </a:r>
            <a:endParaRPr lang="en-US" altLang="zh-CN" u="sng">
              <a:solidFill>
                <a:srgbClr val="0070C0"/>
              </a:solidFill>
            </a:endParaRPr>
          </a:p>
          <a:p>
            <a:pPr marL="0" indent="0">
              <a:buNone/>
            </a:pPr>
            <a:r>
              <a:rPr lang="en-US" altLang="zh-CN" u="sng">
                <a:solidFill>
                  <a:srgbClr val="0070C0"/>
                </a:solidFill>
              </a:rPr>
              <a:t>https://arxiv.org/abs/2210.09261</a:t>
            </a:r>
            <a:endParaRPr lang="en-US" altLang="zh-CN" u="sng">
              <a:solidFill>
                <a:srgbClr val="0070C0"/>
              </a:solidFill>
            </a:endParaRPr>
          </a:p>
          <a:p>
            <a:pPr marL="0" indent="0">
              <a:buNone/>
            </a:pPr>
            <a:r>
              <a:rPr lang="en-US" altLang="zh-CN"/>
              <a:t>the tasks are distributed very widely, the tasks are not similar(calc, logic, symbolic,...)</a:t>
            </a:r>
            <a:endParaRPr lang="en-US" altLang="zh-CN"/>
          </a:p>
          <a:p>
            <a:pPr marL="0" indent="0">
              <a:buNone/>
            </a:pPr>
            <a:r>
              <a:rPr lang="en-US" altLang="zh-CN"/>
              <a:t>to see which type our model is good at (or not) -&gt; to provide provisions for further enhancement</a:t>
            </a:r>
            <a:endParaRPr lang="en-US" altLang="zh-CN"/>
          </a:p>
          <a:p>
            <a:pPr marL="0" indent="0">
              <a:buNone/>
            </a:pPr>
            <a:r>
              <a:rPr lang="en-US" altLang="zh-CN"/>
              <a:t>Check ACC on each</a:t>
            </a:r>
            <a:r>
              <a:rPr lang="en-US" altLang="zh-CN">
                <a:sym typeface="+mn-ea"/>
              </a:rPr>
              <a:t> sub-tasks </a:t>
            </a:r>
            <a:r>
              <a:rPr lang="en-US" altLang="zh-CN"/>
              <a:t> / average; and the smoothness of value on differed tasks</a:t>
            </a:r>
            <a:endParaRPr lang="en-US" altLang="zh-CN"/>
          </a:p>
          <a:p>
            <a:pPr marL="0" indent="0">
              <a:buNone/>
            </a:pPr>
            <a:r>
              <a:rPr lang="en-US" altLang="zh-CN"/>
              <a:t>Example: case </a:t>
            </a:r>
            <a:r>
              <a:rPr lang="en-US" altLang="zh-CN" u="sng"/>
              <a:t>Multistep Arithmetic</a:t>
            </a:r>
            <a:endParaRPr lang="en-US" altLang="zh-CN" u="sng"/>
          </a:p>
          <a:p>
            <a:pPr marL="0" indent="0">
              <a:buNone/>
            </a:pPr>
            <a:r>
              <a:rPr lang="en-US" altLang="zh-CN" i="1"/>
              <a:t>A toy store sells 5 types of toys. The first type costs $10, the second$20, the third $30, the fourth$40, and the fifth $50. If you buy one of each type, what is the total cost?</a:t>
            </a:r>
            <a:endParaRPr lang="en-US" altLang="zh-CN" i="1"/>
          </a:p>
          <a:p>
            <a:pPr marL="0" indent="0">
              <a:buNone/>
            </a:pPr>
            <a:r>
              <a:rPr lang="en-US" altLang="zh-CN" i="1"/>
              <a:t>-&gt; The total cost is the sum of the prices of all five toys. 10 + 20 + 30 + 40 + 50 = 150. The answer is 150</a:t>
            </a:r>
            <a:endParaRPr lang="en-US" altLang="zh-CN" i="1"/>
          </a:p>
        </p:txBody>
      </p:sp>
    </p:spTree>
    <p:custDataLst>
      <p:tags r:id="rId3"/>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DROP </a:t>
            </a:r>
            <a:endParaRPr lang="en-US" altLang="zh-CN"/>
          </a:p>
        </p:txBody>
      </p:sp>
      <p:sp>
        <p:nvSpPr>
          <p:cNvPr id="3" name="内容占位符 2"/>
          <p:cNvSpPr>
            <a:spLocks noGrp="1"/>
          </p:cNvSpPr>
          <p:nvPr>
            <p:ph idx="1"/>
            <p:custDataLst>
              <p:tags r:id="rId2"/>
            </p:custDataLst>
          </p:nvPr>
        </p:nvSpPr>
        <p:spPr/>
        <p:txBody>
          <a:bodyPr>
            <a:normAutofit fontScale="90000" lnSpcReduction="20000"/>
          </a:bodyPr>
          <a:p>
            <a:r>
              <a:rPr lang="en-US" altLang="zh-CN"/>
              <a:t>Reading Comprehension with Numerical Reasoning</a:t>
            </a:r>
            <a:endParaRPr lang="en-US" altLang="zh-CN"/>
          </a:p>
          <a:p>
            <a:pPr marL="0" indent="0">
              <a:buNone/>
            </a:pPr>
            <a:r>
              <a:rPr lang="en-US" altLang="zh-CN"/>
              <a:t>the answer must be retrieved from somehow numerical inference (add, sub, compare,..)</a:t>
            </a:r>
            <a:endParaRPr lang="en-US" altLang="zh-CN"/>
          </a:p>
          <a:p>
            <a:pPr marL="0" indent="0">
              <a:buNone/>
            </a:pPr>
            <a:r>
              <a:rPr lang="en-US" altLang="zh-CN"/>
              <a:t>-&gt; to check BCR on mixed inference (numerical + reading)</a:t>
            </a:r>
            <a:endParaRPr lang="en-US" altLang="zh-CN"/>
          </a:p>
          <a:p>
            <a:pPr marL="0" indent="0">
              <a:buNone/>
            </a:pPr>
            <a:r>
              <a:rPr lang="en-US" altLang="zh-CN"/>
              <a:t>check if model retrieved info from wrong places but still calc right</a:t>
            </a:r>
            <a:endParaRPr lang="en-US" altLang="zh-CN"/>
          </a:p>
          <a:p>
            <a:r>
              <a:rPr lang="en-US" altLang="zh-CN"/>
              <a:t>Sample:</a:t>
            </a:r>
            <a:endParaRPr lang="en-US" altLang="zh-CN"/>
          </a:p>
          <a:p>
            <a:pPr marL="0" indent="0">
              <a:buNone/>
            </a:pPr>
            <a:r>
              <a:rPr lang="en-US" altLang="zh-CN" i="1"/>
              <a:t>Passage: ‘The 1925 Stanley Cup Finals was contested by the Victoria Cougars and the Montreal Canadiens… The Canadiens won the series, 3–1.’ Question: ‘How many more games did the Canadiens win than the Cougars?’”</a:t>
            </a:r>
            <a:r>
              <a:rPr lang="en-US" altLang="zh-CN"/>
              <a:t> -&gt;</a:t>
            </a:r>
            <a:endParaRPr lang="en-US" altLang="zh-CN"/>
          </a:p>
          <a:p>
            <a:pPr marL="0" indent="0">
              <a:buNone/>
            </a:pPr>
            <a:r>
              <a:rPr lang="en-US" altLang="zh-CN" i="1"/>
              <a:t>The passage states that the Canadiens won 3 games and the Cougars won 1 game. The difference is 3 - 1 = 2. The answer is 2.</a:t>
            </a:r>
            <a:endParaRPr lang="en-US" altLang="zh-CN" i="1"/>
          </a:p>
          <a:p>
            <a:pPr marL="0" indent="0">
              <a:buNone/>
            </a:pPr>
            <a:r>
              <a:rPr lang="en-US" altLang="zh-CN"/>
              <a:t>Repo:</a:t>
            </a:r>
            <a:endParaRPr lang="en-US" altLang="zh-CN"/>
          </a:p>
          <a:p>
            <a:pPr marL="0" indent="0">
              <a:buNone/>
            </a:pPr>
            <a:r>
              <a:rPr lang="en-US" altLang="zh-CN" u="sng">
                <a:solidFill>
                  <a:srgbClr val="0070C0"/>
                </a:solidFill>
              </a:rPr>
              <a:t>https://huggingface.co/datasets/drop</a:t>
            </a:r>
            <a:endParaRPr lang="en-US" altLang="zh-CN" u="sng">
              <a:solidFill>
                <a:srgbClr val="0070C0"/>
              </a:solidFill>
            </a:endParaRPr>
          </a:p>
          <a:p>
            <a:pPr marL="0" indent="0">
              <a:buNone/>
            </a:pPr>
            <a:r>
              <a:rPr lang="en-US" altLang="zh-CN" u="sng">
                <a:solidFill>
                  <a:srgbClr val="0070C0"/>
                </a:solidFill>
              </a:rPr>
              <a:t>https://arxiv.org/abs/1903.00161</a:t>
            </a:r>
            <a:endParaRPr lang="en-US" altLang="zh-CN" u="sng">
              <a:solidFill>
                <a:srgbClr val="0070C0"/>
              </a:solidFill>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Strategy</a:t>
            </a:r>
            <a:endParaRPr lang="en-US" altLang="zh-CN"/>
          </a:p>
        </p:txBody>
      </p:sp>
      <p:graphicFrame>
        <p:nvGraphicFramePr>
          <p:cNvPr id="4" name="表格 3"/>
          <p:cNvGraphicFramePr/>
          <p:nvPr/>
        </p:nvGraphicFramePr>
        <p:xfrm>
          <a:off x="853440" y="1993900"/>
          <a:ext cx="10609580" cy="3637280"/>
        </p:xfrm>
        <a:graphic>
          <a:graphicData uri="http://schemas.openxmlformats.org/drawingml/2006/table">
            <a:tbl>
              <a:tblPr/>
              <a:tblGrid>
                <a:gridCol w="1844675"/>
                <a:gridCol w="3460115"/>
                <a:gridCol w="2222500"/>
                <a:gridCol w="3082290"/>
              </a:tblGrid>
              <a:tr h="418465">
                <a:tc>
                  <a:txBody>
                    <a:bodyPr/>
                    <a:p>
                      <a:pPr marL="0" indent="0" algn="l" fontAlgn="ctr">
                        <a:lnSpc>
                          <a:spcPts val="1400"/>
                        </a:lnSpc>
                        <a:spcBef>
                          <a:spcPct val="0"/>
                        </a:spcBef>
                        <a:spcAft>
                          <a:spcPct val="0"/>
                        </a:spcAft>
                      </a:pPr>
                      <a:r>
                        <a:rPr lang="zh-CN" altLang="en-US" sz="1400" b="0" i="0">
                          <a:latin typeface="等线" panose="02010600030101010101" charset="-122"/>
                          <a:ea typeface="等线" panose="02010600030101010101" charset="-122"/>
                        </a:rPr>
                        <a:t>相关工作</a:t>
                      </a:r>
                      <a:endParaRPr lang="zh-CN" altLang="en-US" sz="1400" b="0" i="0">
                        <a:latin typeface="等线" panose="02010600030101010101" charset="-122"/>
                        <a:ea typeface="等线" panose="02010600030101010101" charset="-122"/>
                      </a:endParaRPr>
                    </a:p>
                  </a:txBody>
                  <a:tcPr marL="127317" marR="127317" marT="76517" marB="76517" anchor="ctr" anchorCtr="0">
                    <a:lnL>
                      <a:noFill/>
                    </a:lnL>
                    <a:lnR w="4445" cap="flat" cmpd="sng">
                      <a:solidFill>
                        <a:srgbClr val="434346"/>
                      </a:solidFill>
                      <a:prstDash val="solid"/>
                      <a:headEnd type="none" w="med" len="med"/>
                      <a:tailEnd type="none" w="med" len="med"/>
                    </a:lnR>
                    <a:lnT>
                      <a:noFill/>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400" b="0" i="0">
                          <a:latin typeface="等线" panose="02010600030101010101" charset="-122"/>
                          <a:ea typeface="等线" panose="02010600030101010101" charset="-122"/>
                        </a:rPr>
                        <a:t>核心方法</a:t>
                      </a:r>
                      <a:endParaRPr lang="zh-CN" altLang="en-US" sz="14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a:noFill/>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en-US" altLang="zh-CN" sz="1400" b="0" i="0">
                          <a:latin typeface="等线" panose="02010600030101010101" charset="-122"/>
                          <a:ea typeface="等线" panose="02010600030101010101" charset="-122"/>
                          <a:cs typeface="Arial" panose="020B0604020202020204" pitchFamily="34" charset="0"/>
                        </a:rPr>
                        <a:t>Experiemts</a:t>
                      </a:r>
                      <a:endParaRPr lang="en-US" altLang="zh-CN" sz="1400" b="0" i="0">
                        <a:latin typeface="等线" panose="02010600030101010101" charset="-122"/>
                        <a:ea typeface="等线" panose="02010600030101010101" charset="-122"/>
                        <a:cs typeface="Arial" panose="020B0604020202020204" pitchFamily="34" charset="0"/>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a:noFill/>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400" b="0" i="0">
                          <a:latin typeface="等线" panose="02010600030101010101" charset="-122"/>
                          <a:ea typeface="等线" panose="02010600030101010101" charset="-122"/>
                        </a:rPr>
                        <a:t>主要数据集</a:t>
                      </a:r>
                      <a:endParaRPr lang="zh-CN" altLang="en-US" sz="14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a:noFill/>
                    </a:lnR>
                    <a:lnT>
                      <a:noFill/>
                    </a:lnT>
                    <a:lnB w="4445" cap="flat" cmpd="sng">
                      <a:solidFill>
                        <a:srgbClr val="434346"/>
                      </a:solidFill>
                      <a:prstDash val="solid"/>
                      <a:headEnd type="none" w="med" len="med"/>
                      <a:tailEnd type="none" w="med" len="med"/>
                    </a:lnB>
                    <a:noFill/>
                  </a:tcPr>
                </a:tc>
              </a:tr>
              <a:tr h="643890">
                <a:tc>
                  <a:txBody>
                    <a:bodyPr/>
                    <a:p>
                      <a:pPr marL="0" indent="0" algn="l" fontAlgn="base">
                        <a:lnSpc>
                          <a:spcPts val="1400"/>
                        </a:lnSpc>
                        <a:spcBef>
                          <a:spcPct val="0"/>
                        </a:spcBef>
                        <a:spcAft>
                          <a:spcPct val="0"/>
                        </a:spcAft>
                      </a:pPr>
                      <a:r>
                        <a:rPr lang="en-US" altLang="zh-CN" sz="1200" b="0" i="0">
                          <a:latin typeface="+mj-lt"/>
                          <a:ea typeface="宋体" panose="02010600030101010101" pitchFamily="2" charset="-122"/>
                          <a:cs typeface="+mj-lt"/>
                        </a:rPr>
                        <a:t>PRMs</a:t>
                      </a:r>
                      <a:endParaRPr lang="en-US" altLang="zh-CN" sz="1200" b="0" i="0">
                        <a:latin typeface="+mj-lt"/>
                        <a:ea typeface="宋体" panose="02010600030101010101" pitchFamily="2" charset="-122"/>
                        <a:cs typeface="+mj-lt"/>
                      </a:endParaRPr>
                    </a:p>
                  </a:txBody>
                  <a:tcPr marL="127317" marR="127317" marT="76517" marB="76517" anchor="ctr" anchorCtr="0">
                    <a:lnL>
                      <a:noFill/>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rPr>
                        <a:t>训练一个步骤级的奖励模型，用束搜索选择最优路径</a:t>
                      </a:r>
                      <a:endParaRPr lang="zh-CN" altLang="en-US" sz="12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cs typeface="等线" panose="02010600030101010101" charset="-122"/>
                        </a:rPr>
                        <a:t>训练 </a:t>
                      </a:r>
                      <a:r>
                        <a:rPr lang="en-US" altLang="zh-CN" sz="1200" b="0" i="0">
                          <a:latin typeface="等线" panose="02010600030101010101" charset="-122"/>
                          <a:ea typeface="等线" panose="02010600030101010101" charset="-122"/>
                          <a:cs typeface="等线" panose="02010600030101010101" charset="-122"/>
                        </a:rPr>
                        <a:t>+ </a:t>
                      </a:r>
                      <a:r>
                        <a:rPr lang="zh-CN" altLang="en-US" sz="1200" b="0" i="0">
                          <a:latin typeface="等线" panose="02010600030101010101" charset="-122"/>
                          <a:ea typeface="等线" panose="02010600030101010101" charset="-122"/>
                          <a:cs typeface="等线" panose="02010600030101010101" charset="-122"/>
                        </a:rPr>
                        <a:t>推理时搜索</a:t>
                      </a:r>
                      <a:endParaRPr lang="zh-CN" altLang="en-US" sz="1200" b="0" i="0">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en-US" altLang="zh-CN" sz="1200" b="0" i="0">
                          <a:latin typeface="等线" panose="02010600030101010101" charset="-122"/>
                          <a:ea typeface="等线" panose="02010600030101010101" charset="-122"/>
                          <a:cs typeface="+mn-lt"/>
                        </a:rPr>
                        <a:t>MATH, GSM8K</a:t>
                      </a:r>
                      <a:endParaRPr lang="en-US" altLang="zh-CN" sz="1200" b="0" i="0">
                        <a:latin typeface="等线" panose="02010600030101010101" charset="-122"/>
                        <a:ea typeface="等线" panose="02010600030101010101" charset="-122"/>
                        <a:cs typeface="+mn-lt"/>
                      </a:endParaRPr>
                    </a:p>
                  </a:txBody>
                  <a:tcPr marL="127317" marR="127317" marT="76517" marB="76517" anchor="ctr" anchorCtr="0">
                    <a:lnL w="4445" cap="flat" cmpd="sng">
                      <a:solidFill>
                        <a:srgbClr val="434346"/>
                      </a:solidFill>
                      <a:prstDash val="solid"/>
                      <a:headEnd type="none" w="med" len="med"/>
                      <a:tailEnd type="none" w="med" len="med"/>
                    </a:lnL>
                    <a:lnR>
                      <a:noFill/>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r>
              <a:tr h="643890">
                <a:tc>
                  <a:txBody>
                    <a:bodyPr/>
                    <a:p>
                      <a:pPr marL="0" indent="0" algn="l" fontAlgn="base">
                        <a:lnSpc>
                          <a:spcPts val="1400"/>
                        </a:lnSpc>
                        <a:spcBef>
                          <a:spcPct val="0"/>
                        </a:spcBef>
                        <a:spcAft>
                          <a:spcPct val="0"/>
                        </a:spcAft>
                      </a:pPr>
                      <a:r>
                        <a:rPr lang="en-US" altLang="zh-CN" sz="1200" b="0" i="0">
                          <a:latin typeface="+mj-lt"/>
                          <a:ea typeface="宋体" panose="02010600030101010101" pitchFamily="2" charset="-122"/>
                          <a:cs typeface="+mj-lt"/>
                        </a:rPr>
                        <a:t>Entropy Min.</a:t>
                      </a:r>
                      <a:endParaRPr lang="en-US" altLang="zh-CN" sz="1200" b="0" i="0">
                        <a:latin typeface="+mj-lt"/>
                        <a:ea typeface="宋体" panose="02010600030101010101" pitchFamily="2" charset="-122"/>
                        <a:cs typeface="+mj-lt"/>
                      </a:endParaRPr>
                    </a:p>
                  </a:txBody>
                  <a:tcPr marL="127317" marR="127317" marT="76517" marB="76517" anchor="ctr" anchorCtr="0">
                    <a:lnL>
                      <a:noFill/>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cs typeface="等线" panose="02010600030101010101" charset="-122"/>
                        </a:rPr>
                        <a:t>在</a:t>
                      </a:r>
                      <a:r>
                        <a:rPr lang="en-US" altLang="zh-CN" sz="1200" b="0" i="0">
                          <a:latin typeface="等线" panose="02010600030101010101" charset="-122"/>
                          <a:ea typeface="等线" panose="02010600030101010101" charset="-122"/>
                          <a:cs typeface="等线" panose="02010600030101010101" charset="-122"/>
                        </a:rPr>
                        <a:t>SFT</a:t>
                      </a:r>
                      <a:r>
                        <a:rPr lang="zh-CN" altLang="en-US" sz="1200" b="0" i="0">
                          <a:latin typeface="等线" panose="02010600030101010101" charset="-122"/>
                          <a:ea typeface="等线" panose="02010600030101010101" charset="-122"/>
                          <a:cs typeface="等线" panose="02010600030101010101" charset="-122"/>
                        </a:rPr>
                        <a:t>损失中加入熵正则化项，迫使模型更自信</a:t>
                      </a:r>
                      <a:endParaRPr lang="zh-CN" altLang="en-US" sz="1200" b="0" i="0">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rPr>
                        <a:t>训练时优化</a:t>
                      </a:r>
                      <a:endParaRPr lang="zh-CN" altLang="en-US" sz="12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en-US" altLang="zh-CN" sz="1200" b="0" i="0">
                          <a:latin typeface="等线" panose="02010600030101010101" charset="-122"/>
                          <a:ea typeface="等线" panose="02010600030101010101" charset="-122"/>
                          <a:cs typeface="+mn-lt"/>
                        </a:rPr>
                        <a:t>GSM8K, MATH, BBH, MMLU</a:t>
                      </a:r>
                      <a:endParaRPr lang="en-US" altLang="zh-CN" sz="1200" b="0" i="0">
                        <a:latin typeface="等线" panose="02010600030101010101" charset="-122"/>
                        <a:ea typeface="等线" panose="02010600030101010101" charset="-122"/>
                        <a:cs typeface="+mn-lt"/>
                      </a:endParaRPr>
                    </a:p>
                  </a:txBody>
                  <a:tcPr marL="127317" marR="127317" marT="76517" marB="76517" anchor="ctr" anchorCtr="0">
                    <a:lnL w="4445" cap="flat" cmpd="sng">
                      <a:solidFill>
                        <a:srgbClr val="434346"/>
                      </a:solidFill>
                      <a:prstDash val="solid"/>
                      <a:headEnd type="none" w="med" len="med"/>
                      <a:tailEnd type="none" w="med" len="med"/>
                    </a:lnL>
                    <a:lnR>
                      <a:noFill/>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r>
              <a:tr h="643255">
                <a:tc>
                  <a:txBody>
                    <a:bodyPr/>
                    <a:p>
                      <a:pPr marL="0" indent="0" algn="l" fontAlgn="base">
                        <a:lnSpc>
                          <a:spcPts val="1400"/>
                        </a:lnSpc>
                        <a:spcBef>
                          <a:spcPct val="0"/>
                        </a:spcBef>
                        <a:spcAft>
                          <a:spcPct val="0"/>
                        </a:spcAft>
                      </a:pPr>
                      <a:r>
                        <a:rPr lang="en-US" altLang="zh-CN" sz="1200" b="0" i="0">
                          <a:latin typeface="+mj-lt"/>
                          <a:ea typeface="宋体" panose="02010600030101010101" pitchFamily="2" charset="-122"/>
                          <a:cs typeface="+mj-lt"/>
                        </a:rPr>
                        <a:t>Self-Correction RL</a:t>
                      </a:r>
                      <a:endParaRPr lang="en-US" altLang="zh-CN" sz="1200" b="0" i="0">
                        <a:latin typeface="+mj-lt"/>
                        <a:ea typeface="宋体" panose="02010600030101010101" pitchFamily="2" charset="-122"/>
                        <a:cs typeface="+mj-lt"/>
                      </a:endParaRPr>
                    </a:p>
                  </a:txBody>
                  <a:tcPr marL="127317" marR="127317" marT="76517" marB="76517" anchor="ctr" anchorCtr="0">
                    <a:lnL>
                      <a:noFill/>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cs typeface="等线" panose="02010600030101010101" charset="-122"/>
                        </a:rPr>
                        <a:t>训练模型进行多轮的“生成</a:t>
                      </a:r>
                      <a:r>
                        <a:rPr lang="en-US" altLang="zh-CN" sz="1200" b="0" i="0">
                          <a:latin typeface="等线" panose="02010600030101010101" charset="-122"/>
                          <a:ea typeface="等线" panose="02010600030101010101" charset="-122"/>
                          <a:cs typeface="等线" panose="02010600030101010101" charset="-122"/>
                        </a:rPr>
                        <a:t>-</a:t>
                      </a:r>
                      <a:r>
                        <a:rPr lang="zh-CN" altLang="en-US" sz="1200" b="0" i="0">
                          <a:latin typeface="等线" panose="02010600030101010101" charset="-122"/>
                          <a:ea typeface="等线" panose="02010600030101010101" charset="-122"/>
                          <a:cs typeface="等线" panose="02010600030101010101" charset="-122"/>
                        </a:rPr>
                        <a:t>批判</a:t>
                      </a:r>
                      <a:r>
                        <a:rPr lang="en-US" altLang="zh-CN" sz="1200" b="0" i="0">
                          <a:latin typeface="等线" panose="02010600030101010101" charset="-122"/>
                          <a:ea typeface="等线" panose="02010600030101010101" charset="-122"/>
                          <a:cs typeface="等线" panose="02010600030101010101" charset="-122"/>
                        </a:rPr>
                        <a:t>-</a:t>
                      </a:r>
                      <a:r>
                        <a:rPr lang="zh-CN" altLang="en-US" sz="1200" b="0" i="0">
                          <a:latin typeface="等线" panose="02010600030101010101" charset="-122"/>
                          <a:ea typeface="等线" panose="02010600030101010101" charset="-122"/>
                          <a:cs typeface="等线" panose="02010600030101010101" charset="-122"/>
                        </a:rPr>
                        <a:t>修正”循环</a:t>
                      </a:r>
                      <a:endParaRPr lang="zh-CN" altLang="en-US" sz="1200" b="0" i="0">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cs typeface="等线" panose="02010600030101010101" charset="-122"/>
                        </a:rPr>
                        <a:t>训练时多轮</a:t>
                      </a:r>
                      <a:r>
                        <a:rPr lang="en-US" altLang="zh-CN" sz="1200" b="0" i="0">
                          <a:latin typeface="等线" panose="02010600030101010101" charset="-122"/>
                          <a:ea typeface="等线" panose="02010600030101010101" charset="-122"/>
                          <a:cs typeface="等线" panose="02010600030101010101" charset="-122"/>
                        </a:rPr>
                        <a:t>RL</a:t>
                      </a:r>
                      <a:r>
                        <a:rPr lang="zh-CN" altLang="en-US" sz="1200" b="0" i="0">
                          <a:latin typeface="等线" panose="02010600030101010101" charset="-122"/>
                          <a:ea typeface="等线" panose="02010600030101010101" charset="-122"/>
                          <a:cs typeface="等线" panose="02010600030101010101" charset="-122"/>
                        </a:rPr>
                        <a:t>优化</a:t>
                      </a:r>
                      <a:endParaRPr lang="zh-CN" altLang="en-US" sz="1200" b="0" i="0">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en-US" altLang="zh-CN" sz="1200" b="0" i="0">
                          <a:latin typeface="等线" panose="02010600030101010101" charset="-122"/>
                          <a:ea typeface="等线" panose="02010600030101010101" charset="-122"/>
                          <a:cs typeface="+mn-lt"/>
                        </a:rPr>
                        <a:t>GSM8K, HumanEval, FEVER</a:t>
                      </a:r>
                      <a:endParaRPr lang="en-US" altLang="zh-CN" sz="1200" b="0" i="0">
                        <a:latin typeface="等线" panose="02010600030101010101" charset="-122"/>
                        <a:ea typeface="等线" panose="02010600030101010101" charset="-122"/>
                        <a:cs typeface="+mn-lt"/>
                      </a:endParaRPr>
                    </a:p>
                  </a:txBody>
                  <a:tcPr marL="127317" marR="127317" marT="76517" marB="76517" anchor="ctr" anchorCtr="0">
                    <a:lnL w="4445" cap="flat" cmpd="sng">
                      <a:solidFill>
                        <a:srgbClr val="434346"/>
                      </a:solidFill>
                      <a:prstDash val="solid"/>
                      <a:headEnd type="none" w="med" len="med"/>
                      <a:tailEnd type="none" w="med" len="med"/>
                    </a:lnL>
                    <a:lnR>
                      <a:noFill/>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r>
              <a:tr h="643890">
                <a:tc>
                  <a:txBody>
                    <a:bodyPr/>
                    <a:p>
                      <a:pPr marL="0" indent="0" algn="l" fontAlgn="base">
                        <a:lnSpc>
                          <a:spcPts val="1400"/>
                        </a:lnSpc>
                        <a:spcBef>
                          <a:spcPct val="0"/>
                        </a:spcBef>
                        <a:spcAft>
                          <a:spcPct val="0"/>
                        </a:spcAft>
                      </a:pPr>
                      <a:r>
                        <a:rPr lang="en-US" altLang="zh-CN" sz="1200" b="0" i="0">
                          <a:latin typeface="+mj-lt"/>
                          <a:ea typeface="宋体" panose="02010600030101010101" pitchFamily="2" charset="-122"/>
                          <a:cs typeface="+mj-lt"/>
                        </a:rPr>
                        <a:t>Self-Consistency</a:t>
                      </a:r>
                      <a:endParaRPr lang="en-US" altLang="zh-CN" sz="1200" b="0" i="0">
                        <a:latin typeface="+mj-lt"/>
                        <a:ea typeface="宋体" panose="02010600030101010101" pitchFamily="2" charset="-122"/>
                        <a:cs typeface="+mj-lt"/>
                      </a:endParaRPr>
                    </a:p>
                  </a:txBody>
                  <a:tcPr marL="127317" marR="127317" marT="76517" marB="76517" anchor="ctr" anchorCtr="0">
                    <a:lnL>
                      <a:noFill/>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base">
                        <a:lnSpc>
                          <a:spcPts val="1400"/>
                        </a:lnSpc>
                        <a:spcBef>
                          <a:spcPct val="0"/>
                        </a:spcBef>
                        <a:spcAft>
                          <a:spcPct val="0"/>
                        </a:spcAft>
                      </a:pPr>
                      <a:r>
                        <a:rPr lang="zh-CN" altLang="en-US" sz="1200" b="0" i="0">
                          <a:latin typeface="等线" panose="02010600030101010101" charset="-122"/>
                          <a:ea typeface="等线" panose="02010600030101010101" charset="-122"/>
                        </a:rPr>
                        <a:t>推理时采样多条路径，通过多数投票选择答案</a:t>
                      </a:r>
                      <a:endParaRPr lang="zh-CN" altLang="en-US" sz="12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zh-CN" altLang="en-US" sz="1200" b="0" i="0">
                          <a:latin typeface="等线" panose="02010600030101010101" charset="-122"/>
                          <a:ea typeface="等线" panose="02010600030101010101" charset="-122"/>
                        </a:rPr>
                        <a:t>纯推理时</a:t>
                      </a:r>
                      <a:endParaRPr lang="zh-CN" altLang="en-US" sz="1200" b="0" i="0">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c>
                  <a:txBody>
                    <a:bodyPr/>
                    <a:p>
                      <a:pPr marL="0" indent="0" algn="l" fontAlgn="ctr">
                        <a:lnSpc>
                          <a:spcPts val="1400"/>
                        </a:lnSpc>
                        <a:spcBef>
                          <a:spcPct val="0"/>
                        </a:spcBef>
                        <a:spcAft>
                          <a:spcPct val="0"/>
                        </a:spcAft>
                      </a:pPr>
                      <a:r>
                        <a:rPr lang="en-US" altLang="zh-CN" sz="1200" b="0" i="0">
                          <a:latin typeface="等线" panose="02010600030101010101" charset="-122"/>
                          <a:ea typeface="等线" panose="02010600030101010101" charset="-122"/>
                          <a:cs typeface="+mn-lt"/>
                        </a:rPr>
                        <a:t>GSM8K, StrategyQA, Big-Bench</a:t>
                      </a:r>
                      <a:endParaRPr lang="en-US" altLang="zh-CN" sz="1200" b="0" i="0">
                        <a:latin typeface="等线" panose="02010600030101010101" charset="-122"/>
                        <a:ea typeface="等线" panose="02010600030101010101" charset="-122"/>
                        <a:cs typeface="+mn-lt"/>
                      </a:endParaRPr>
                    </a:p>
                  </a:txBody>
                  <a:tcPr marL="127317" marR="127317" marT="76517" marB="76517" anchor="ctr" anchorCtr="0">
                    <a:lnL w="4445" cap="flat" cmpd="sng">
                      <a:solidFill>
                        <a:srgbClr val="434346"/>
                      </a:solidFill>
                      <a:prstDash val="solid"/>
                      <a:headEnd type="none" w="med" len="med"/>
                      <a:tailEnd type="none" w="med" len="med"/>
                    </a:lnL>
                    <a:lnR>
                      <a:noFill/>
                    </a:lnR>
                    <a:lnT w="4445" cap="flat" cmpd="sng">
                      <a:solidFill>
                        <a:srgbClr val="434346"/>
                      </a:solidFill>
                      <a:prstDash val="solid"/>
                      <a:headEnd type="none" w="med" len="med"/>
                      <a:tailEnd type="none" w="med" len="med"/>
                    </a:lnT>
                    <a:lnB w="4445" cap="flat" cmpd="sng">
                      <a:solidFill>
                        <a:srgbClr val="434346"/>
                      </a:solidFill>
                      <a:prstDash val="solid"/>
                      <a:headEnd type="none" w="med" len="med"/>
                      <a:tailEnd type="none" w="med" len="med"/>
                    </a:lnB>
                    <a:noFill/>
                  </a:tcPr>
                </a:tc>
              </a:tr>
              <a:tr h="643890">
                <a:tc>
                  <a:txBody>
                    <a:bodyPr/>
                    <a:p>
                      <a:pPr marL="0" indent="0" algn="l" fontAlgn="base">
                        <a:lnSpc>
                          <a:spcPts val="1400"/>
                        </a:lnSpc>
                        <a:spcBef>
                          <a:spcPct val="0"/>
                        </a:spcBef>
                        <a:spcAft>
                          <a:spcPct val="0"/>
                        </a:spcAft>
                      </a:pPr>
                      <a:r>
                        <a:rPr lang="en-US" altLang="zh-CN" sz="1200" b="1" i="1">
                          <a:latin typeface="+mj-lt"/>
                          <a:ea typeface="宋体" panose="02010600030101010101" pitchFamily="2" charset="-122"/>
                          <a:cs typeface="+mj-lt"/>
                        </a:rPr>
                        <a:t>BCR (Ours)</a:t>
                      </a:r>
                      <a:endParaRPr lang="en-US" altLang="zh-CN" sz="1200" b="1" i="1">
                        <a:latin typeface="+mj-lt"/>
                        <a:ea typeface="宋体" panose="02010600030101010101" pitchFamily="2" charset="-122"/>
                        <a:cs typeface="+mj-lt"/>
                      </a:endParaRPr>
                    </a:p>
                  </a:txBody>
                  <a:tcPr marL="127317" marR="127317" marT="76517" marB="76517" anchor="ctr" anchorCtr="0">
                    <a:lnL>
                      <a:noFill/>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a:noFill/>
                    </a:lnB>
                    <a:noFill/>
                  </a:tcPr>
                </a:tc>
                <a:tc>
                  <a:txBody>
                    <a:bodyPr/>
                    <a:p>
                      <a:pPr marL="0" indent="0" algn="l" fontAlgn="ctr">
                        <a:lnSpc>
                          <a:spcPts val="1400"/>
                        </a:lnSpc>
                        <a:spcBef>
                          <a:spcPct val="0"/>
                        </a:spcBef>
                        <a:spcAft>
                          <a:spcPct val="0"/>
                        </a:spcAft>
                      </a:pPr>
                      <a:r>
                        <a:rPr lang="zh-CN" altLang="en-US" sz="1200" b="1" i="1">
                          <a:latin typeface="等线" panose="02010600030101010101" charset="-122"/>
                          <a:ea typeface="等线" panose="02010600030101010101" charset="-122"/>
                          <a:cs typeface="等线" panose="02010600030101010101" charset="-122"/>
                        </a:rPr>
                        <a:t>在</a:t>
                      </a:r>
                      <a:r>
                        <a:rPr lang="en-US" altLang="zh-CN" sz="1200" b="1" i="1">
                          <a:latin typeface="等线" panose="02010600030101010101" charset="-122"/>
                          <a:ea typeface="等线" panose="02010600030101010101" charset="-122"/>
                          <a:cs typeface="等线" panose="02010600030101010101" charset="-122"/>
                        </a:rPr>
                        <a:t>SFT</a:t>
                      </a:r>
                      <a:r>
                        <a:rPr lang="zh-CN" altLang="en-US" sz="1200" b="1" i="1">
                          <a:latin typeface="等线" panose="02010600030101010101" charset="-122"/>
                          <a:ea typeface="等线" panose="02010600030101010101" charset="-122"/>
                          <a:cs typeface="等线" panose="02010600030101010101" charset="-122"/>
                        </a:rPr>
                        <a:t>中加入贝尔曼一致性正则项，约束内部价值估计</a:t>
                      </a:r>
                      <a:endParaRPr lang="zh-CN" altLang="en-US" sz="1200" b="1" i="1">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a:noFill/>
                    </a:lnB>
                    <a:noFill/>
                  </a:tcPr>
                </a:tc>
                <a:tc>
                  <a:txBody>
                    <a:bodyPr/>
                    <a:p>
                      <a:pPr marL="0" indent="0" algn="l" fontAlgn="ctr">
                        <a:lnSpc>
                          <a:spcPts val="1400"/>
                        </a:lnSpc>
                        <a:spcBef>
                          <a:spcPct val="0"/>
                        </a:spcBef>
                        <a:spcAft>
                          <a:spcPct val="0"/>
                        </a:spcAft>
                      </a:pPr>
                      <a:r>
                        <a:rPr lang="zh-CN" altLang="en-US" sz="1200" b="1" i="1">
                          <a:latin typeface="等线" panose="02010600030101010101" charset="-122"/>
                          <a:ea typeface="等线" panose="02010600030101010101" charset="-122"/>
                        </a:rPr>
                        <a:t>训练时优化</a:t>
                      </a:r>
                      <a:r>
                        <a:rPr lang="en-US" altLang="zh-CN" sz="1200" b="1" i="1">
                          <a:latin typeface="等线" panose="02010600030101010101" charset="-122"/>
                          <a:ea typeface="等线" panose="02010600030101010101" charset="-122"/>
                        </a:rPr>
                        <a:t>?</a:t>
                      </a:r>
                      <a:endParaRPr lang="en-US" altLang="zh-CN" sz="1200" b="1" i="1">
                        <a:latin typeface="等线" panose="02010600030101010101" charset="-122"/>
                        <a:ea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w="4445" cap="flat" cmpd="sng">
                      <a:solidFill>
                        <a:srgbClr val="434346"/>
                      </a:solidFill>
                      <a:prstDash val="solid"/>
                      <a:headEnd type="none" w="med" len="med"/>
                      <a:tailEnd type="none" w="med" len="med"/>
                    </a:lnR>
                    <a:lnT w="4445" cap="flat" cmpd="sng">
                      <a:solidFill>
                        <a:srgbClr val="434346"/>
                      </a:solidFill>
                      <a:prstDash val="solid"/>
                      <a:headEnd type="none" w="med" len="med"/>
                      <a:tailEnd type="none" w="med" len="med"/>
                    </a:lnT>
                    <a:lnB>
                      <a:noFill/>
                    </a:lnB>
                    <a:noFill/>
                  </a:tcPr>
                </a:tc>
                <a:tc>
                  <a:txBody>
                    <a:bodyPr/>
                    <a:p>
                      <a:pPr marL="0" indent="0" algn="l" fontAlgn="ctr">
                        <a:lnSpc>
                          <a:spcPts val="1400"/>
                        </a:lnSpc>
                        <a:spcBef>
                          <a:spcPct val="0"/>
                        </a:spcBef>
                        <a:spcAft>
                          <a:spcPct val="0"/>
                        </a:spcAft>
                      </a:pPr>
                      <a:r>
                        <a:rPr lang="en-US" altLang="zh-CN" sz="1200" b="1" i="1">
                          <a:latin typeface="等线" panose="02010600030101010101" charset="-122"/>
                          <a:ea typeface="等线" panose="02010600030101010101" charset="-122"/>
                          <a:cs typeface="等线" panose="02010600030101010101" charset="-122"/>
                        </a:rPr>
                        <a:t>GSM8K, StrategyQA (...)</a:t>
                      </a:r>
                      <a:endParaRPr lang="en-US" altLang="zh-CN" sz="1200" b="1" i="1">
                        <a:latin typeface="等线" panose="02010600030101010101" charset="-122"/>
                        <a:ea typeface="等线" panose="02010600030101010101" charset="-122"/>
                        <a:cs typeface="等线" panose="02010600030101010101" charset="-122"/>
                      </a:endParaRPr>
                    </a:p>
                  </a:txBody>
                  <a:tcPr marL="127317" marR="127317" marT="76517" marB="76517" anchor="ctr" anchorCtr="0">
                    <a:lnL w="4445" cap="flat" cmpd="sng">
                      <a:solidFill>
                        <a:srgbClr val="434346"/>
                      </a:solidFill>
                      <a:prstDash val="solid"/>
                      <a:headEnd type="none" w="med" len="med"/>
                      <a:tailEnd type="none" w="med" len="med"/>
                    </a:lnL>
                    <a:lnR>
                      <a:noFill/>
                    </a:lnR>
                    <a:lnT w="4445" cap="flat" cmpd="sng">
                      <a:solidFill>
                        <a:srgbClr val="434346"/>
                      </a:solidFill>
                      <a:prstDash val="solid"/>
                      <a:headEnd type="none" w="med" len="med"/>
                      <a:tailEnd type="none" w="med" len="med"/>
                    </a:lnT>
                    <a:lnB>
                      <a:noFill/>
                    </a:lnB>
                    <a:noFill/>
                  </a:tcPr>
                </a:tc>
              </a:tr>
            </a:tbl>
          </a:graphicData>
        </a:graphic>
      </p:graphicFrame>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Analysis</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en-US" altLang="zh-CN"/>
              <a:t>BCR vs PRM: BCR(</a:t>
            </a:r>
            <a:r>
              <a:rPr lang="zh-CN" altLang="en-US"/>
              <a:t>试图</a:t>
            </a:r>
            <a:r>
              <a:rPr lang="en-US" altLang="zh-CN"/>
              <a:t>)</a:t>
            </a:r>
            <a:r>
              <a:rPr lang="zh-CN" altLang="en-US"/>
              <a:t>模拟</a:t>
            </a:r>
            <a:r>
              <a:rPr lang="en-US" altLang="zh-CN"/>
              <a:t>PRM</a:t>
            </a:r>
            <a:r>
              <a:rPr lang="zh-CN" altLang="en-US"/>
              <a:t>的效果，但无需昂贵的步骤级人工标注。</a:t>
            </a:r>
            <a:endParaRPr lang="zh-CN" altLang="en-US"/>
          </a:p>
          <a:p>
            <a:pPr marL="0" indent="0">
              <a:buNone/>
            </a:pPr>
            <a:r>
              <a:rPr lang="en-US" altLang="zh-CN"/>
              <a:t>BCR</a:t>
            </a:r>
            <a:r>
              <a:rPr lang="zh-CN" altLang="en-US"/>
              <a:t>自监督，</a:t>
            </a:r>
            <a:r>
              <a:rPr lang="en-US" altLang="zh-CN"/>
              <a:t>PRM</a:t>
            </a:r>
            <a:r>
              <a:rPr lang="zh-CN" altLang="en-US"/>
              <a:t>强监督。</a:t>
            </a:r>
            <a:endParaRPr lang="zh-CN" altLang="en-US"/>
          </a:p>
          <a:p>
            <a:endParaRPr lang="zh-CN" altLang="en-US"/>
          </a:p>
          <a:p>
            <a:r>
              <a:rPr lang="en-US" altLang="zh-CN"/>
              <a:t>BCR vs Entropy Min: BCR</a:t>
            </a:r>
            <a:r>
              <a:rPr lang="zh-CN" altLang="en-US"/>
              <a:t>关注一致性，</a:t>
            </a:r>
            <a:r>
              <a:rPr lang="en-US" altLang="zh-CN"/>
              <a:t>not </a:t>
            </a:r>
            <a:r>
              <a:rPr lang="zh-CN" altLang="en-US"/>
              <a:t>置信度。模型可以不确定，只要这种不确定性是稳定的。</a:t>
            </a:r>
            <a:r>
              <a:rPr lang="en-US" altLang="zh-CN"/>
              <a:t>-&gt; </a:t>
            </a:r>
            <a:r>
              <a:rPr lang="zh-CN" altLang="en-US"/>
              <a:t>避免</a:t>
            </a:r>
            <a:r>
              <a:rPr lang="en-US" altLang="zh-CN"/>
              <a:t>“</a:t>
            </a:r>
            <a:r>
              <a:rPr lang="zh-CN" altLang="en-US"/>
              <a:t>自信地犯错</a:t>
            </a:r>
            <a:r>
              <a:rPr lang="en-US" altLang="zh-CN"/>
              <a:t>”</a:t>
            </a:r>
            <a:r>
              <a:rPr lang="zh-CN" altLang="en-US"/>
              <a:t>。</a:t>
            </a:r>
            <a:endParaRPr lang="zh-CN" altLang="en-US"/>
          </a:p>
          <a:p>
            <a:endParaRPr lang="zh-CN" altLang="en-US"/>
          </a:p>
          <a:p>
            <a:r>
              <a:rPr lang="en-US" altLang="zh-CN"/>
              <a:t>BCR vs Self-Correction: BCR</a:t>
            </a:r>
            <a:r>
              <a:rPr lang="zh-CN" altLang="en-US"/>
              <a:t>是预防性的，试图在生成过程中就避免错误。</a:t>
            </a:r>
            <a:r>
              <a:rPr lang="en-US" altLang="zh-CN"/>
              <a:t>Self-Correction</a:t>
            </a:r>
            <a:r>
              <a:rPr lang="zh-CN" altLang="en-US"/>
              <a:t>是</a:t>
            </a:r>
            <a:r>
              <a:rPr lang="en-US" altLang="zh-CN"/>
              <a:t>”</a:t>
            </a:r>
            <a:r>
              <a:rPr lang="zh-CN" altLang="en-US"/>
              <a:t>治疗性</a:t>
            </a:r>
            <a:r>
              <a:rPr lang="en-US" altLang="zh-CN"/>
              <a:t>”</a:t>
            </a:r>
            <a:r>
              <a:rPr lang="zh-CN" altLang="en-US"/>
              <a:t>的，允许模型犯错后再修正。</a:t>
            </a:r>
            <a:endParaRPr lang="zh-CN" altLang="en-US"/>
          </a:p>
          <a:p>
            <a:endParaRPr lang="zh-CN" altLang="en-US"/>
          </a:p>
          <a:p>
            <a:r>
              <a:rPr lang="en-US" altLang="zh-CN"/>
              <a:t>BCR vs Self-Consistency: BCR</a:t>
            </a:r>
            <a:r>
              <a:rPr lang="zh-CN" altLang="en-US"/>
              <a:t>是训练时的方法，它改变了模型本身。</a:t>
            </a:r>
            <a:r>
              <a:rPr lang="en-US" altLang="zh-CN"/>
              <a:t>Self-Consistency</a:t>
            </a:r>
            <a:r>
              <a:rPr lang="zh-CN" altLang="en-US"/>
              <a:t>是推理时的方法，不改变模型，只改变解码策略。</a:t>
            </a: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Metrics</a:t>
            </a:r>
            <a:r>
              <a:rPr lang="zh-CN" altLang="en-US"/>
              <a:t>：</a:t>
            </a:r>
            <a:r>
              <a:rPr lang="en-US" altLang="zh-CN"/>
              <a:t>A Polished </a:t>
            </a:r>
            <a:r>
              <a:rPr lang="en-US" altLang="zh-CN"/>
              <a:t>Version</a:t>
            </a:r>
            <a:endParaRPr lang="en-US" altLang="zh-CN"/>
          </a:p>
        </p:txBody>
      </p:sp>
      <p:pic>
        <p:nvPicPr>
          <p:cNvPr id="4" name="内容占位符 3"/>
          <p:cNvPicPr>
            <a:picLocks noChangeAspect="1"/>
          </p:cNvPicPr>
          <p:nvPr>
            <p:ph idx="1"/>
            <p:custDataLst>
              <p:tags r:id="rId2"/>
            </p:custDataLst>
          </p:nvPr>
        </p:nvPicPr>
        <p:blipFill>
          <a:blip r:embed="rId3"/>
          <a:stretch>
            <a:fillRect/>
          </a:stretch>
        </p:blipFill>
        <p:spPr>
          <a:xfrm>
            <a:off x="941070" y="4250055"/>
            <a:ext cx="8486775" cy="2124075"/>
          </a:xfrm>
          <a:prstGeom prst="rect">
            <a:avLst/>
          </a:prstGeom>
        </p:spPr>
      </p:pic>
      <p:pic>
        <p:nvPicPr>
          <p:cNvPr id="5" name="图片 4"/>
          <p:cNvPicPr>
            <a:picLocks noChangeAspect="1"/>
          </p:cNvPicPr>
          <p:nvPr/>
        </p:nvPicPr>
        <p:blipFill>
          <a:blip r:embed="rId4"/>
          <a:stretch>
            <a:fillRect/>
          </a:stretch>
        </p:blipFill>
        <p:spPr>
          <a:xfrm>
            <a:off x="1149350" y="1402080"/>
            <a:ext cx="7191375" cy="2847975"/>
          </a:xfrm>
          <a:prstGeom prst="rect">
            <a:avLst/>
          </a:prstGeom>
        </p:spPr>
      </p:pic>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Critiques for smoothness</a:t>
            </a:r>
            <a:endParaRPr lang="en-US" altLang="zh-CN"/>
          </a:p>
        </p:txBody>
      </p:sp>
      <p:sp>
        <p:nvSpPr>
          <p:cNvPr id="3" name="内容占位符 2"/>
          <p:cNvSpPr>
            <a:spLocks noGrp="1"/>
          </p:cNvSpPr>
          <p:nvPr>
            <p:ph idx="1"/>
            <p:custDataLst>
              <p:tags r:id="rId2"/>
            </p:custDataLst>
          </p:nvPr>
        </p:nvSpPr>
        <p:spPr/>
        <p:txBody>
          <a:bodyPr/>
          <a:p>
            <a:r>
              <a:rPr lang="zh-CN" altLang="zh-CN"/>
              <a:t>一阶</a:t>
            </a:r>
            <a:r>
              <a:rPr lang="zh-CN" altLang="zh-CN"/>
              <a:t>平滑度：</a:t>
            </a:r>
            <a:endParaRPr lang="zh-CN" altLang="zh-CN"/>
          </a:p>
          <a:p>
            <a:pPr marL="0" indent="0">
              <a:buNone/>
            </a:pPr>
            <a:r>
              <a:rPr lang="zh-CN" altLang="en-US"/>
              <a:t>价值轨迹上所有</a:t>
            </a:r>
            <a:r>
              <a:rPr lang="en-US" altLang="zh-CN"/>
              <a:t>“</a:t>
            </a:r>
            <a:r>
              <a:rPr lang="zh-CN" altLang="en-US"/>
              <a:t>相邻点连线的斜率的绝对值</a:t>
            </a:r>
            <a:r>
              <a:rPr lang="en-US" altLang="zh-CN"/>
              <a:t>”</a:t>
            </a:r>
            <a:r>
              <a:rPr lang="zh-CN" altLang="en-US"/>
              <a:t>的平均值</a:t>
            </a:r>
            <a:endParaRPr lang="zh-CN" altLang="en-US"/>
          </a:p>
          <a:p>
            <a:pPr marL="0" indent="0">
              <a:buNone/>
            </a:pPr>
            <a:r>
              <a:rPr lang="en-US" altLang="zh-CN"/>
              <a:t>Expected Outcome</a:t>
            </a:r>
            <a:r>
              <a:rPr lang="zh-CN" altLang="en-US"/>
              <a:t>：</a:t>
            </a:r>
            <a:r>
              <a:rPr lang="en-US" altLang="zh-CN"/>
              <a:t>Faithful</a:t>
            </a:r>
            <a:r>
              <a:rPr lang="zh-CN" altLang="en-US"/>
              <a:t>的推理过程的价值函数应该是平滑递增或平稳的。</a:t>
            </a:r>
            <a:endParaRPr lang="zh-CN" altLang="en-US"/>
          </a:p>
          <a:p>
            <a:pPr marL="0" indent="0">
              <a:buNone/>
            </a:pPr>
            <a:r>
              <a:rPr lang="en-US" altLang="zh-CN"/>
              <a:t>S1(V) </a:t>
            </a:r>
            <a:r>
              <a:rPr lang="zh-CN" altLang="en-US"/>
              <a:t>的值高</a:t>
            </a:r>
            <a:r>
              <a:rPr lang="en-US" altLang="zh-CN"/>
              <a:t>-&gt;</a:t>
            </a:r>
            <a:r>
              <a:rPr lang="zh-CN" altLang="en-US"/>
              <a:t>推理过程中信心发生了剧烈的、无理由的摇摆</a:t>
            </a:r>
            <a:r>
              <a:rPr lang="en-US" altLang="zh-CN"/>
              <a:t> -&gt; “</a:t>
            </a:r>
            <a:r>
              <a:rPr lang="zh-CN" altLang="en-US"/>
              <a:t>幻觉</a:t>
            </a:r>
            <a:r>
              <a:rPr lang="en-US" altLang="zh-CN"/>
              <a:t>”</a:t>
            </a:r>
            <a:r>
              <a:rPr lang="zh-CN" altLang="en-US"/>
              <a:t>步骤的特征。</a:t>
            </a:r>
            <a:endParaRPr lang="zh-CN" altLang="en-US"/>
          </a:p>
          <a:p>
            <a:pPr marL="0" indent="0">
              <a:buNone/>
            </a:pPr>
            <a:r>
              <a:rPr lang="zh-CN" altLang="en-US"/>
              <a:t>期望</a:t>
            </a:r>
            <a:r>
              <a:rPr lang="en-US" altLang="zh-CN"/>
              <a:t>BCR</a:t>
            </a:r>
            <a:r>
              <a:rPr lang="zh-CN" altLang="en-US"/>
              <a:t>训的模型在正确推理轨迹上</a:t>
            </a:r>
            <a:r>
              <a:rPr lang="en-US" altLang="zh-CN"/>
              <a:t> S1(V) </a:t>
            </a:r>
            <a:r>
              <a:rPr lang="zh-CN" altLang="en-US"/>
              <a:t>值显著低于</a:t>
            </a:r>
            <a:r>
              <a:rPr lang="en-US" altLang="zh-CN"/>
              <a:t>SFT</a:t>
            </a:r>
            <a:r>
              <a:rPr lang="zh-CN" altLang="en-US"/>
              <a:t>基线模型</a:t>
            </a:r>
            <a:endParaRPr lang="zh-CN" altLang="en-US"/>
          </a:p>
          <a:p>
            <a:pPr marL="0" indent="0">
              <a:buNone/>
            </a:pPr>
            <a:r>
              <a:rPr lang="zh-CN" altLang="en-US" b="1"/>
              <a:t>推广：</a:t>
            </a:r>
            <a:r>
              <a:rPr lang="en-US" altLang="zh-CN" b="1"/>
              <a:t> </a:t>
            </a:r>
            <a:r>
              <a:rPr lang="zh-CN" altLang="en-US" b="1"/>
              <a:t>二阶平滑度：</a:t>
            </a:r>
            <a:endParaRPr lang="zh-CN" altLang="en-US" b="1"/>
          </a:p>
          <a:p>
            <a:pPr marL="0" indent="0">
              <a:buNone/>
            </a:pPr>
            <a:r>
              <a:rPr lang="zh-CN" altLang="en-US"/>
              <a:t>差分的差分，</a:t>
            </a:r>
            <a:r>
              <a:rPr lang="en-US" altLang="zh-CN"/>
              <a:t> </a:t>
            </a:r>
            <a:r>
              <a:rPr lang="zh-CN" altLang="en-US"/>
              <a:t>阶跃信号变成冲激信号</a:t>
            </a:r>
            <a:r>
              <a:rPr lang="en-US" altLang="zh-CN"/>
              <a:t> </a:t>
            </a:r>
            <a:r>
              <a:rPr lang="zh-CN" altLang="en-US"/>
              <a:t>（信号与系统</a:t>
            </a:r>
            <a:r>
              <a:rPr lang="en-US" altLang="zh-CN"/>
              <a:t>hh</a:t>
            </a:r>
            <a:r>
              <a:rPr lang="zh-CN" altLang="en-US"/>
              <a:t>）</a:t>
            </a:r>
            <a:endParaRPr lang="zh-CN" altLang="en-US"/>
          </a:p>
          <a:p>
            <a:pPr marL="0" indent="0">
              <a:buNone/>
            </a:pPr>
            <a:r>
              <a:rPr lang="zh-CN" altLang="en-US"/>
              <a:t>对</a:t>
            </a:r>
            <a:r>
              <a:rPr lang="en-US" altLang="zh-CN"/>
              <a:t>“</a:t>
            </a:r>
            <a:r>
              <a:rPr lang="zh-CN" altLang="en-US"/>
              <a:t>突发剧烈波动</a:t>
            </a:r>
            <a:r>
              <a:rPr lang="en-US" altLang="zh-CN"/>
              <a:t>”</a:t>
            </a:r>
            <a:r>
              <a:rPr lang="zh-CN" altLang="en-US"/>
              <a:t>非常敏感。模型在</a:t>
            </a:r>
            <a:r>
              <a:rPr lang="en-US" altLang="zh-CN"/>
              <a:t> t </a:t>
            </a:r>
            <a:r>
              <a:rPr lang="zh-CN" altLang="en-US"/>
              <a:t>步犯了一个错误，</a:t>
            </a:r>
            <a:r>
              <a:rPr lang="en-US" altLang="zh-CN"/>
              <a:t>v_t </a:t>
            </a:r>
            <a:r>
              <a:rPr lang="zh-CN" altLang="en-US"/>
              <a:t>骤降，然后在</a:t>
            </a:r>
            <a:r>
              <a:rPr lang="en-US" altLang="zh-CN"/>
              <a:t> t+1 </a:t>
            </a:r>
            <a:r>
              <a:rPr lang="zh-CN" altLang="en-US"/>
              <a:t>步</a:t>
            </a:r>
            <a:r>
              <a:rPr lang="en-US" altLang="zh-CN"/>
              <a:t>“</a:t>
            </a:r>
            <a:r>
              <a:rPr lang="zh-CN" altLang="en-US"/>
              <a:t>自我纠正</a:t>
            </a:r>
            <a:r>
              <a:rPr lang="en-US" altLang="zh-CN"/>
              <a:t>”</a:t>
            </a:r>
            <a:r>
              <a:rPr lang="zh-CN" altLang="en-US"/>
              <a:t>或</a:t>
            </a:r>
            <a:r>
              <a:rPr lang="en-US" altLang="zh-CN"/>
              <a:t>“</a:t>
            </a:r>
            <a:r>
              <a:rPr lang="zh-CN" altLang="en-US"/>
              <a:t>蒙对</a:t>
            </a:r>
            <a:r>
              <a:rPr lang="en-US" altLang="zh-CN"/>
              <a:t>”</a:t>
            </a:r>
            <a:r>
              <a:rPr lang="zh-CN" altLang="en-US"/>
              <a:t>，</a:t>
            </a:r>
            <a:r>
              <a:rPr lang="en-US" altLang="zh-CN"/>
              <a:t>v_{t+1} </a:t>
            </a:r>
            <a:r>
              <a:rPr lang="zh-CN" altLang="en-US"/>
              <a:t>又骤升。这个</a:t>
            </a:r>
            <a:r>
              <a:rPr lang="en-US" altLang="zh-CN"/>
              <a:t>“V”</a:t>
            </a:r>
            <a:r>
              <a:rPr lang="zh-CN" altLang="en-US"/>
              <a:t>型或</a:t>
            </a:r>
            <a:r>
              <a:rPr lang="en-US" altLang="zh-CN"/>
              <a:t>“Λ”</a:t>
            </a:r>
            <a:r>
              <a:rPr lang="zh-CN" altLang="en-US"/>
              <a:t>型的轨迹会产生一个巨大的</a:t>
            </a:r>
            <a:r>
              <a:rPr lang="en-US" altLang="zh-CN"/>
              <a:t> S2(V) </a:t>
            </a:r>
            <a:r>
              <a:rPr lang="zh-CN" altLang="en-US"/>
              <a:t>值。对不忠实推理过程更强有力的惩罚</a:t>
            </a:r>
            <a:endParaRPr lang="zh-CN" altLang="en-US"/>
          </a:p>
        </p:txBody>
      </p:sp>
      <p:pic>
        <p:nvPicPr>
          <p:cNvPr id="4" name="图片 3"/>
          <p:cNvPicPr>
            <a:picLocks noChangeAspect="1"/>
          </p:cNvPicPr>
          <p:nvPr/>
        </p:nvPicPr>
        <p:blipFill>
          <a:blip r:embed="rId3"/>
          <a:stretch>
            <a:fillRect/>
          </a:stretch>
        </p:blipFill>
        <p:spPr>
          <a:xfrm>
            <a:off x="8043545" y="1490345"/>
            <a:ext cx="3162300" cy="838200"/>
          </a:xfrm>
          <a:prstGeom prst="rect">
            <a:avLst/>
          </a:prstGeom>
        </p:spPr>
      </p:pic>
      <p:pic>
        <p:nvPicPr>
          <p:cNvPr id="5" name="图片 4"/>
          <p:cNvPicPr>
            <a:picLocks noChangeAspect="1"/>
          </p:cNvPicPr>
          <p:nvPr/>
        </p:nvPicPr>
        <p:blipFill>
          <a:blip r:embed="rId4"/>
          <a:stretch>
            <a:fillRect/>
          </a:stretch>
        </p:blipFill>
        <p:spPr>
          <a:xfrm>
            <a:off x="7995920" y="3888105"/>
            <a:ext cx="3800475" cy="800100"/>
          </a:xfrm>
          <a:prstGeom prst="rect">
            <a:avLst/>
          </a:prstGeom>
        </p:spPr>
      </p:pic>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Critiques for smoothness</a:t>
            </a:r>
            <a:endParaRPr lang="zh-CN" altLang="en-US"/>
          </a:p>
        </p:txBody>
      </p:sp>
      <p:sp>
        <p:nvSpPr>
          <p:cNvPr id="3" name="内容占位符 2"/>
          <p:cNvSpPr>
            <a:spLocks noGrp="1"/>
          </p:cNvSpPr>
          <p:nvPr>
            <p:ph idx="1"/>
            <p:custDataLst>
              <p:tags r:id="rId2"/>
            </p:custDataLst>
          </p:nvPr>
        </p:nvSpPr>
        <p:spPr/>
        <p:txBody>
          <a:bodyPr/>
          <a:p>
            <a:r>
              <a:rPr lang="zh-CN" altLang="en-US"/>
              <a:t>整体波动性的捕捉：</a:t>
            </a:r>
            <a:r>
              <a:rPr lang="en-US" altLang="zh-CN"/>
              <a:t> </a:t>
            </a:r>
            <a:r>
              <a:rPr lang="zh-CN" altLang="en-US"/>
              <a:t>推理轨迹上的</a:t>
            </a:r>
            <a:r>
              <a:rPr lang="zh-CN" altLang="en-US"/>
              <a:t>方差</a:t>
            </a:r>
            <a:endParaRPr lang="zh-CN" altLang="en-US"/>
          </a:p>
          <a:p>
            <a:pPr marL="0" indent="0">
              <a:buNone/>
            </a:pPr>
            <a:r>
              <a:rPr lang="zh-CN" altLang="en-US"/>
              <a:t>一个平滑的、稳定增长的价值轨迹，其方差会相对较小。一个在高低值之间剧烈振荡的轨迹，其方差会很大</a:t>
            </a:r>
            <a:endParaRPr lang="zh-CN" altLang="en-US"/>
          </a:p>
          <a:p>
            <a:r>
              <a:rPr lang="en-US" altLang="zh-CN"/>
              <a:t>? </a:t>
            </a:r>
            <a:r>
              <a:rPr lang="zh-CN" altLang="en-US"/>
              <a:t>方差很直观，</a:t>
            </a:r>
            <a:r>
              <a:rPr lang="en-US" altLang="zh-CN"/>
              <a:t> </a:t>
            </a:r>
            <a:r>
              <a:rPr lang="zh-CN" altLang="en-US"/>
              <a:t>但我有点担心如何</a:t>
            </a:r>
            <a:r>
              <a:rPr lang="en-US" altLang="zh-CN"/>
              <a:t>interpret</a:t>
            </a:r>
            <a:r>
              <a:rPr lang="zh-CN" altLang="en-US"/>
              <a:t>它：</a:t>
            </a:r>
            <a:endParaRPr lang="zh-CN" altLang="en-US"/>
          </a:p>
          <a:p>
            <a:pPr marL="0" indent="0">
              <a:buNone/>
            </a:pPr>
            <a:r>
              <a:rPr lang="zh-CN" altLang="en-US"/>
              <a:t>例如：</a:t>
            </a:r>
            <a:r>
              <a:rPr lang="en-US" altLang="zh-CN"/>
              <a:t> </a:t>
            </a:r>
            <a:r>
              <a:rPr lang="zh-CN" altLang="en-US"/>
              <a:t>一个从</a:t>
            </a:r>
            <a:r>
              <a:rPr lang="en-US" altLang="zh-CN"/>
              <a:t>0.1</a:t>
            </a:r>
            <a:r>
              <a:rPr lang="zh-CN" altLang="en-US"/>
              <a:t>稳定增长到</a:t>
            </a:r>
            <a:r>
              <a:rPr lang="en-US" altLang="zh-CN"/>
              <a:t>0.9</a:t>
            </a:r>
            <a:r>
              <a:rPr lang="zh-CN" altLang="en-US"/>
              <a:t>的轨迹，方差可能较大，但这却是好的推理过程。因此，</a:t>
            </a:r>
            <a:r>
              <a:rPr lang="en-US" altLang="zh-CN"/>
              <a:t>S3(V) </a:t>
            </a:r>
            <a:r>
              <a:rPr lang="zh-CN" altLang="en-US"/>
              <a:t>最好与</a:t>
            </a:r>
            <a:r>
              <a:rPr lang="en-US" altLang="zh-CN"/>
              <a:t> S1(V)</a:t>
            </a:r>
            <a:r>
              <a:rPr lang="zh-CN" altLang="en-US"/>
              <a:t>（一阶差分）</a:t>
            </a:r>
            <a:r>
              <a:rPr lang="en-US" altLang="zh-CN"/>
              <a:t> </a:t>
            </a:r>
            <a:r>
              <a:rPr lang="zh-CN" altLang="en-US"/>
              <a:t>和</a:t>
            </a:r>
            <a:r>
              <a:rPr lang="en-US" altLang="zh-CN"/>
              <a:t> S2(V) </a:t>
            </a:r>
            <a:r>
              <a:rPr lang="zh-CN" altLang="en-US"/>
              <a:t>（二阶</a:t>
            </a:r>
            <a:r>
              <a:rPr lang="zh-CN" altLang="en-US"/>
              <a:t>差分）结合使用，区分</a:t>
            </a:r>
            <a:r>
              <a:rPr lang="en-US" altLang="zh-CN"/>
              <a:t>“</a:t>
            </a:r>
            <a:r>
              <a:rPr lang="zh-CN" altLang="en-US"/>
              <a:t>健康的增长</a:t>
            </a:r>
            <a:r>
              <a:rPr lang="en-US" altLang="zh-CN"/>
              <a:t>”</a:t>
            </a:r>
            <a:r>
              <a:rPr lang="zh-CN" altLang="en-US"/>
              <a:t>和</a:t>
            </a:r>
            <a:r>
              <a:rPr lang="en-US" altLang="zh-CN"/>
              <a:t>“</a:t>
            </a:r>
            <a:r>
              <a:rPr lang="zh-CN" altLang="en-US"/>
              <a:t>不健康的振荡</a:t>
            </a:r>
            <a:r>
              <a:rPr lang="en-US" altLang="zh-CN"/>
              <a:t>”</a:t>
            </a:r>
            <a:r>
              <a:rPr lang="zh-CN" altLang="en-US"/>
              <a:t>。</a:t>
            </a:r>
            <a:endParaRPr lang="zh-CN" altLang="en-US"/>
          </a:p>
          <a:p>
            <a:pPr marL="0" indent="0">
              <a:buNone/>
            </a:pPr>
            <a:r>
              <a:rPr lang="zh-CN" altLang="en-US"/>
              <a:t>或者说用拟合到首尾价值点所构成的直线上的残差来衡量？</a:t>
            </a:r>
            <a:r>
              <a:rPr lang="en-US" altLang="zh-CN"/>
              <a:t> </a:t>
            </a:r>
            <a:r>
              <a:rPr lang="zh-CN" altLang="en-US"/>
              <a:t>因为一个通往正确答案的推理价值应当增长，价值的变化本来就很大，</a:t>
            </a:r>
            <a:r>
              <a:rPr lang="en-US" altLang="zh-CN"/>
              <a:t> </a:t>
            </a:r>
            <a:r>
              <a:rPr lang="zh-CN" altLang="en-US"/>
              <a:t>而线性的拟合可以去除掉这个增长带来的</a:t>
            </a:r>
            <a:r>
              <a:rPr lang="zh-CN" altLang="en-US"/>
              <a:t>影响</a:t>
            </a:r>
            <a:endParaRPr lang="zh-CN" altLang="en-US"/>
          </a:p>
        </p:txBody>
      </p:sp>
      <p:pic>
        <p:nvPicPr>
          <p:cNvPr id="4" name="图片 3"/>
          <p:cNvPicPr>
            <a:picLocks noChangeAspect="1"/>
          </p:cNvPicPr>
          <p:nvPr/>
        </p:nvPicPr>
        <p:blipFill>
          <a:blip r:embed="rId3"/>
          <a:stretch>
            <a:fillRect/>
          </a:stretch>
        </p:blipFill>
        <p:spPr>
          <a:xfrm>
            <a:off x="7972425" y="1217930"/>
            <a:ext cx="3448050" cy="781050"/>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Critiques for smoothness</a:t>
            </a:r>
            <a:endParaRPr lang="zh-CN" altLang="en-US"/>
          </a:p>
        </p:txBody>
      </p:sp>
      <p:sp>
        <p:nvSpPr>
          <p:cNvPr id="3" name="内容占位符 2"/>
          <p:cNvSpPr>
            <a:spLocks noGrp="1"/>
          </p:cNvSpPr>
          <p:nvPr>
            <p:ph idx="1"/>
            <p:custDataLst>
              <p:tags r:id="rId2"/>
            </p:custDataLst>
          </p:nvPr>
        </p:nvSpPr>
        <p:spPr/>
        <p:txBody>
          <a:bodyPr/>
          <a:p>
            <a:r>
              <a:rPr lang="zh-CN" altLang="en-US"/>
              <a:t>使用</a:t>
            </a:r>
            <a:r>
              <a:rPr lang="en-US" altLang="zh-CN"/>
              <a:t>EE</a:t>
            </a:r>
            <a:r>
              <a:rPr lang="zh-CN" altLang="en-US"/>
              <a:t>课程中学</a:t>
            </a:r>
            <a:r>
              <a:rPr lang="zh-CN" altLang="en-US"/>
              <a:t>的信号处理的知识：</a:t>
            </a:r>
            <a:r>
              <a:rPr lang="en-US" altLang="zh-CN"/>
              <a:t> </a:t>
            </a:r>
            <a:r>
              <a:rPr lang="zh-CN" altLang="en-US"/>
              <a:t>看频谱：</a:t>
            </a:r>
            <a:r>
              <a:rPr lang="en-US" altLang="zh-CN"/>
              <a:t> </a:t>
            </a:r>
            <a:r>
              <a:rPr lang="zh-CN" altLang="en-US"/>
              <a:t>做个</a:t>
            </a:r>
            <a:r>
              <a:rPr lang="en-US" altLang="zh-CN"/>
              <a:t>FFT</a:t>
            </a:r>
            <a:r>
              <a:rPr lang="zh-CN" altLang="en-US"/>
              <a:t>？</a:t>
            </a:r>
            <a:endParaRPr lang="zh-CN" altLang="en-US"/>
          </a:p>
          <a:p>
            <a:r>
              <a:rPr lang="zh-CN" altLang="en-US"/>
              <a:t>设想的</a:t>
            </a:r>
            <a:r>
              <a:rPr lang="zh-CN" altLang="en-US"/>
              <a:t>途径：</a:t>
            </a:r>
            <a:endParaRPr lang="zh-CN" altLang="en-US"/>
          </a:p>
          <a:p>
            <a:pPr marL="0" indent="0">
              <a:buNone/>
            </a:pPr>
            <a:r>
              <a:rPr lang="zh-CN" altLang="en-US"/>
              <a:t>对价值序列</a:t>
            </a:r>
            <a:r>
              <a:rPr lang="en-US" altLang="zh-CN"/>
              <a:t> V </a:t>
            </a:r>
            <a:r>
              <a:rPr lang="zh-CN" altLang="en-US"/>
              <a:t>进行快速傅里叶变换，得到其频谱表示</a:t>
            </a:r>
            <a:r>
              <a:rPr lang="en-US" altLang="zh-CN"/>
              <a:t> F = FFT(V)</a:t>
            </a:r>
            <a:r>
              <a:rPr lang="zh-CN" altLang="en-US"/>
              <a:t>。</a:t>
            </a:r>
            <a:endParaRPr lang="zh-CN" altLang="en-US"/>
          </a:p>
          <a:p>
            <a:pPr marL="0" indent="0">
              <a:buNone/>
            </a:pPr>
            <a:r>
              <a:rPr lang="zh-CN" altLang="en-US"/>
              <a:t>定义一个低频截止频率</a:t>
            </a:r>
            <a:r>
              <a:rPr lang="en-US" altLang="zh-CN"/>
              <a:t> f_c</a:t>
            </a:r>
            <a:r>
              <a:rPr lang="zh-CN" altLang="en-US"/>
              <a:t>（例如，总长度</a:t>
            </a:r>
            <a:r>
              <a:rPr lang="en-US" altLang="zh-CN"/>
              <a:t> T </a:t>
            </a:r>
            <a:r>
              <a:rPr lang="zh-CN" altLang="en-US"/>
              <a:t>的</a:t>
            </a:r>
            <a:r>
              <a:rPr lang="en-US" altLang="zh-CN"/>
              <a:t>1/4</a:t>
            </a:r>
            <a:r>
              <a:rPr lang="zh-CN" altLang="en-US"/>
              <a:t>）。</a:t>
            </a:r>
            <a:endParaRPr lang="zh-CN" altLang="en-US"/>
          </a:p>
          <a:p>
            <a:pPr marL="0" indent="0">
              <a:buNone/>
            </a:pPr>
            <a:r>
              <a:rPr lang="zh-CN" altLang="en-US"/>
              <a:t>计算低频部分的能量与总能量的比值</a:t>
            </a:r>
            <a:r>
              <a:rPr lang="en-US" altLang="zh-CN"/>
              <a:t> </a:t>
            </a:r>
            <a:r>
              <a:rPr lang="zh-CN" altLang="en-US"/>
              <a:t>（</a:t>
            </a:r>
            <a:r>
              <a:rPr lang="en-US" altLang="zh-CN"/>
              <a:t>0-1</a:t>
            </a:r>
            <a:r>
              <a:rPr lang="zh-CN" altLang="en-US"/>
              <a:t>）</a:t>
            </a:r>
            <a:endParaRPr lang="zh-CN" altLang="en-US"/>
          </a:p>
          <a:p>
            <a:r>
              <a:rPr lang="zh-CN" altLang="en-US"/>
              <a:t>值接近</a:t>
            </a:r>
            <a:r>
              <a:rPr lang="en-US" altLang="zh-CN"/>
              <a:t>1</a:t>
            </a:r>
            <a:r>
              <a:rPr lang="zh-CN" altLang="en-US"/>
              <a:t>，信号的能量几乎全部由低频分量构成，信号非常平滑。</a:t>
            </a:r>
            <a:endParaRPr lang="zh-CN" altLang="en-US"/>
          </a:p>
          <a:p>
            <a:r>
              <a:rPr lang="zh-CN" altLang="en-US"/>
              <a:t>值接近</a:t>
            </a:r>
            <a:r>
              <a:rPr lang="en-US" altLang="zh-CN"/>
              <a:t>0</a:t>
            </a:r>
            <a:r>
              <a:rPr lang="zh-CN" altLang="en-US"/>
              <a:t>，信号的能量主要来自高频分量，信号充满了剧烈的、快速的波动和噪声。</a:t>
            </a:r>
            <a:endParaRPr lang="zh-CN" altLang="en-US"/>
          </a:p>
          <a:p>
            <a:endParaRPr lang="zh-CN" altLang="en-US"/>
          </a:p>
          <a:p>
            <a:endParaRPr lang="zh-CN" altLang="en-US"/>
          </a:p>
        </p:txBody>
      </p:sp>
      <p:pic>
        <p:nvPicPr>
          <p:cNvPr id="4" name="图片 3"/>
          <p:cNvPicPr>
            <a:picLocks noChangeAspect="1"/>
          </p:cNvPicPr>
          <p:nvPr/>
        </p:nvPicPr>
        <p:blipFill>
          <a:blip r:embed="rId3"/>
          <a:stretch>
            <a:fillRect/>
          </a:stretch>
        </p:blipFill>
        <p:spPr>
          <a:xfrm>
            <a:off x="8364220" y="1633220"/>
            <a:ext cx="2526665" cy="849630"/>
          </a:xfrm>
          <a:prstGeom prst="rect">
            <a:avLst/>
          </a:prstGeom>
        </p:spPr>
      </p:pic>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Critiques for smoothness*</a:t>
            </a:r>
            <a:endParaRPr lang="zh-CN" altLang="en-US"/>
          </a:p>
        </p:txBody>
      </p:sp>
      <p:sp>
        <p:nvSpPr>
          <p:cNvPr id="3" name="内容占位符 2"/>
          <p:cNvSpPr>
            <a:spLocks noGrp="1"/>
          </p:cNvSpPr>
          <p:nvPr>
            <p:ph idx="1"/>
            <p:custDataLst>
              <p:tags r:id="rId2"/>
            </p:custDataLst>
          </p:nvPr>
        </p:nvSpPr>
        <p:spPr/>
        <p:txBody>
          <a:bodyPr>
            <a:normAutofit/>
          </a:bodyPr>
          <a:p>
            <a:r>
              <a:rPr lang="zh-CN" altLang="en-US"/>
              <a:t>这么做应该足够了吧？</a:t>
            </a:r>
            <a:r>
              <a:rPr lang="en-US" altLang="zh-CN"/>
              <a:t> </a:t>
            </a:r>
            <a:r>
              <a:rPr lang="zh-CN" altLang="en-US"/>
              <a:t>我还调查过一些别的更高级别的信号处理</a:t>
            </a:r>
            <a:r>
              <a:rPr lang="en-US" altLang="zh-CN"/>
              <a:t>/</a:t>
            </a:r>
            <a:r>
              <a:rPr lang="zh-CN" altLang="en-US"/>
              <a:t>统计</a:t>
            </a:r>
            <a:r>
              <a:rPr lang="zh-CN" altLang="en-US"/>
              <a:t>方法</a:t>
            </a:r>
            <a:endParaRPr lang="zh-CN" altLang="en-US"/>
          </a:p>
          <a:p>
            <a:pPr marL="0" indent="0">
              <a:buNone/>
            </a:pPr>
            <a:endParaRPr lang="zh-CN" altLang="en-US"/>
          </a:p>
          <a:p>
            <a:pPr marL="0" indent="0">
              <a:buNone/>
            </a:pPr>
            <a:r>
              <a:rPr lang="zh-CN" altLang="en-US"/>
              <a:t>工业级别（用于制造过程监督）：</a:t>
            </a:r>
            <a:r>
              <a:rPr lang="en-US" altLang="zh-CN"/>
              <a:t> </a:t>
            </a:r>
            <a:r>
              <a:rPr lang="zh-CN" altLang="en-US" b="1"/>
              <a:t>统计过程控制（</a:t>
            </a:r>
            <a:r>
              <a:rPr lang="en-US" altLang="zh-CN" b="1"/>
              <a:t>SPC</a:t>
            </a:r>
            <a:r>
              <a:rPr lang="zh-CN" altLang="en-US" b="1"/>
              <a:t>）的控制图</a:t>
            </a:r>
            <a:r>
              <a:rPr lang="en-US" altLang="zh-CN"/>
              <a:t> -- </a:t>
            </a:r>
            <a:r>
              <a:rPr lang="zh-CN" altLang="en-US">
                <a:sym typeface="+mn-ea"/>
              </a:rPr>
              <a:t>把价值函数的生成看作一个</a:t>
            </a:r>
            <a:r>
              <a:rPr lang="en-US" altLang="zh-CN">
                <a:sym typeface="+mn-ea"/>
              </a:rPr>
              <a:t>“</a:t>
            </a:r>
            <a:r>
              <a:rPr lang="zh-CN" altLang="en-US">
                <a:sym typeface="+mn-ea"/>
              </a:rPr>
              <a:t>制造过程</a:t>
            </a:r>
            <a:r>
              <a:rPr lang="en-US" altLang="zh-CN">
                <a:sym typeface="+mn-ea"/>
              </a:rPr>
              <a:t>”</a:t>
            </a:r>
            <a:r>
              <a:rPr lang="zh-CN" altLang="en-US"/>
              <a:t>一个稳定的过程，其输出应该在可预测的界限内波动。</a:t>
            </a:r>
            <a:r>
              <a:rPr lang="en-US" altLang="zh-CN"/>
              <a:t> --</a:t>
            </a:r>
            <a:r>
              <a:rPr lang="zh-CN" altLang="en-US"/>
              <a:t>》</a:t>
            </a:r>
            <a:r>
              <a:rPr lang="en-US" altLang="zh-CN"/>
              <a:t> </a:t>
            </a:r>
            <a:r>
              <a:rPr lang="zh-CN" altLang="en-US"/>
              <a:t>做均值图和极差图</a:t>
            </a:r>
            <a:r>
              <a:rPr lang="en-US" altLang="zh-CN"/>
              <a:t> </a:t>
            </a:r>
            <a:r>
              <a:rPr lang="zh-CN" altLang="en-US"/>
              <a:t>（分别</a:t>
            </a:r>
            <a:r>
              <a:rPr lang="en-US" altLang="zh-CN"/>
              <a:t>called X-bar </a:t>
            </a:r>
            <a:r>
              <a:rPr lang="zh-CN" altLang="en-US"/>
              <a:t>图</a:t>
            </a:r>
            <a:r>
              <a:rPr lang="en-US" altLang="zh-CN"/>
              <a:t> </a:t>
            </a:r>
            <a:r>
              <a:rPr lang="zh-CN" altLang="en-US"/>
              <a:t>和</a:t>
            </a:r>
            <a:r>
              <a:rPr lang="en-US" altLang="zh-CN"/>
              <a:t> R </a:t>
            </a:r>
            <a:r>
              <a:rPr lang="zh-CN" altLang="en-US"/>
              <a:t>图）</a:t>
            </a:r>
            <a:endParaRPr lang="zh-CN" altLang="en-US"/>
          </a:p>
          <a:p>
            <a:pPr marL="0" indent="0">
              <a:buNone/>
            </a:pPr>
            <a:r>
              <a:rPr lang="en-US" altLang="zh-CN"/>
              <a:t>X-bar</a:t>
            </a:r>
            <a:r>
              <a:rPr lang="zh-CN" altLang="en-US"/>
              <a:t>：将一个长推理链（或多个推理链的对应步骤）的价值序列</a:t>
            </a:r>
            <a:r>
              <a:rPr lang="en-US" altLang="zh-CN"/>
              <a:t> V </a:t>
            </a:r>
            <a:r>
              <a:rPr lang="zh-CN" altLang="en-US"/>
              <a:t>分成若干小子组，计算每个子组的均值，然后计算所有子组均值的总均值和标准差，</a:t>
            </a:r>
            <a:r>
              <a:rPr lang="en-US" altLang="zh-CN"/>
              <a:t> </a:t>
            </a:r>
            <a:r>
              <a:rPr lang="zh-CN" altLang="en-US"/>
              <a:t>上下控制线（</a:t>
            </a:r>
            <a:r>
              <a:rPr lang="en-US" altLang="zh-CN"/>
              <a:t>UCL, LCL</a:t>
            </a:r>
            <a:r>
              <a:rPr lang="zh-CN" altLang="en-US"/>
              <a:t>）为中心线（</a:t>
            </a:r>
            <a:r>
              <a:rPr lang="en-US" altLang="zh-CN"/>
              <a:t>CL)</a:t>
            </a:r>
            <a:r>
              <a:rPr lang="zh-CN" altLang="en-US"/>
              <a:t>±</a:t>
            </a:r>
            <a:r>
              <a:rPr lang="en-US" altLang="zh-CN"/>
              <a:t>3</a:t>
            </a:r>
            <a:r>
              <a:rPr lang="en-US" altLang="zh-CN"/>
              <a:t>σ</a:t>
            </a:r>
            <a:endParaRPr lang="en-US" altLang="zh-CN"/>
          </a:p>
          <a:p>
            <a:pPr marL="0" indent="0">
              <a:buNone/>
            </a:pPr>
            <a:r>
              <a:rPr lang="en-US" altLang="zh-CN"/>
              <a:t>R: </a:t>
            </a:r>
            <a:r>
              <a:rPr lang="zh-CN" altLang="en-US"/>
              <a:t>计算每个子组内价值的极差。然后计算平均极差</a:t>
            </a:r>
            <a:r>
              <a:rPr lang="en-US" altLang="zh-CN"/>
              <a:t>. </a:t>
            </a:r>
            <a:r>
              <a:rPr lang="zh-CN" altLang="en-US"/>
              <a:t>只管上控制线</a:t>
            </a:r>
            <a:r>
              <a:rPr lang="en-US" altLang="zh-CN"/>
              <a:t> +3σ</a:t>
            </a:r>
            <a:r>
              <a:rPr lang="zh-CN" altLang="en-US"/>
              <a:t>：价值序列的波动性（极差）突然增大，超出了</a:t>
            </a:r>
            <a:r>
              <a:rPr lang="en-US" altLang="zh-CN"/>
              <a:t>UCL -</a:t>
            </a:r>
            <a:r>
              <a:rPr lang="zh-CN" altLang="en-US"/>
              <a:t>》在某一步推理中发生了剧烈的价值跳跃</a:t>
            </a:r>
            <a:r>
              <a:rPr lang="en-US" altLang="zh-CN"/>
              <a:t> -</a:t>
            </a:r>
            <a:r>
              <a:rPr lang="zh-CN" altLang="en-US"/>
              <a:t>》</a:t>
            </a:r>
            <a:r>
              <a:rPr lang="en-US" altLang="zh-CN"/>
              <a:t> “</a:t>
            </a:r>
            <a:r>
              <a:rPr lang="zh-CN" altLang="en-US"/>
              <a:t>幻觉</a:t>
            </a:r>
            <a:r>
              <a:rPr lang="en-US" altLang="zh-CN"/>
              <a:t>”</a:t>
            </a:r>
            <a:r>
              <a:rPr lang="zh-CN" altLang="en-US"/>
              <a:t>的信号</a:t>
            </a:r>
            <a:endParaRPr lang="zh-CN" altLang="en-US"/>
          </a:p>
          <a:p>
            <a:pPr marL="0" indent="0">
              <a:buNone/>
            </a:pPr>
            <a:endParaRPr lang="en-US" altLang="zh-CN"/>
          </a:p>
        </p:txBody>
      </p:sp>
    </p:spTree>
    <p:custDataLst>
      <p:tags r:id="rId3"/>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Critiques for smoothness*</a:t>
            </a:r>
            <a:endParaRPr lang="zh-CN" altLang="en-US"/>
          </a:p>
        </p:txBody>
      </p:sp>
      <p:sp>
        <p:nvSpPr>
          <p:cNvPr id="3" name="内容占位符 2"/>
          <p:cNvSpPr>
            <a:spLocks noGrp="1"/>
          </p:cNvSpPr>
          <p:nvPr>
            <p:ph idx="1"/>
            <p:custDataLst>
              <p:tags r:id="rId2"/>
            </p:custDataLst>
          </p:nvPr>
        </p:nvSpPr>
        <p:spPr/>
        <p:txBody>
          <a:bodyPr/>
          <a:p>
            <a:r>
              <a:rPr lang="zh-CN" altLang="en-US"/>
              <a:t>时间序列的内在特性分析：</a:t>
            </a:r>
            <a:endParaRPr lang="zh-CN" altLang="en-US"/>
          </a:p>
          <a:p>
            <a:pPr marL="0" indent="0">
              <a:buNone/>
            </a:pPr>
            <a:r>
              <a:rPr lang="zh-CN" altLang="en-US" b="1"/>
              <a:t>赫斯特指数（</a:t>
            </a:r>
            <a:r>
              <a:rPr lang="en-US" altLang="zh-CN" b="1"/>
              <a:t>H</a:t>
            </a:r>
            <a:r>
              <a:rPr lang="zh-CN" altLang="en-US" b="1"/>
              <a:t>指数）</a:t>
            </a:r>
            <a:r>
              <a:rPr lang="zh-CN" altLang="en-US"/>
              <a:t>：衡量时间序列长期记忆性和趋势性。取值：</a:t>
            </a:r>
            <a:r>
              <a:rPr lang="en-US" altLang="zh-CN"/>
              <a:t>[0, 1]</a:t>
            </a:r>
            <a:endParaRPr lang="en-US" altLang="zh-CN"/>
          </a:p>
          <a:p>
            <a:pPr marL="0" indent="0">
              <a:buNone/>
            </a:pPr>
            <a:r>
              <a:rPr lang="zh-CN" altLang="en-US"/>
              <a:t>价值序列</a:t>
            </a:r>
            <a:r>
              <a:rPr lang="en-US" altLang="zh-CN"/>
              <a:t> V</a:t>
            </a:r>
            <a:r>
              <a:rPr lang="zh-CN" altLang="en-US"/>
              <a:t>，将其分成</a:t>
            </a:r>
            <a:r>
              <a:rPr lang="en-US" altLang="zh-CN"/>
              <a:t> A </a:t>
            </a:r>
            <a:r>
              <a:rPr lang="zh-CN" altLang="en-US"/>
              <a:t>个长度为</a:t>
            </a:r>
            <a:r>
              <a:rPr lang="en-US" altLang="zh-CN"/>
              <a:t> n </a:t>
            </a:r>
            <a:r>
              <a:rPr lang="zh-CN" altLang="en-US"/>
              <a:t>的连续子区间后，</a:t>
            </a:r>
            <a:r>
              <a:rPr lang="en-US" altLang="zh-CN"/>
              <a:t> </a:t>
            </a:r>
            <a:r>
              <a:rPr lang="zh-CN" altLang="en-US"/>
              <a:t>计算每个子区间的极差</a:t>
            </a:r>
            <a:r>
              <a:rPr lang="en-US" altLang="zh-CN"/>
              <a:t>R</a:t>
            </a:r>
            <a:r>
              <a:rPr lang="zh-CN" altLang="en-US"/>
              <a:t>和标准差</a:t>
            </a:r>
            <a:r>
              <a:rPr lang="en-US" altLang="zh-CN"/>
              <a:t>S</a:t>
            </a:r>
            <a:r>
              <a:rPr lang="zh-CN" altLang="en-US"/>
              <a:t>，然后计算二者的商</a:t>
            </a:r>
            <a:r>
              <a:rPr lang="en-US" altLang="zh-CN"/>
              <a:t> </a:t>
            </a:r>
            <a:r>
              <a:rPr lang="zh-CN" altLang="en-US"/>
              <a:t>（</a:t>
            </a:r>
            <a:r>
              <a:rPr lang="en-US" altLang="zh-CN"/>
              <a:t>R/S</a:t>
            </a:r>
            <a:r>
              <a:rPr lang="zh-CN" altLang="en-US"/>
              <a:t>）在所有区间上的均值，</a:t>
            </a:r>
            <a:r>
              <a:rPr lang="en-US" altLang="zh-CN"/>
              <a:t> </a:t>
            </a:r>
            <a:r>
              <a:rPr lang="zh-CN" altLang="en-US"/>
              <a:t>再取</a:t>
            </a:r>
            <a:r>
              <a:rPr lang="en-US" altLang="zh-CN"/>
              <a:t>log2</a:t>
            </a:r>
            <a:r>
              <a:rPr lang="zh-CN" altLang="en-US"/>
              <a:t>的对数，</a:t>
            </a:r>
            <a:r>
              <a:rPr lang="en-US" altLang="zh-CN"/>
              <a:t> </a:t>
            </a:r>
            <a:r>
              <a:rPr lang="zh-CN" altLang="en-US"/>
              <a:t>即得到</a:t>
            </a:r>
            <a:r>
              <a:rPr lang="en-US" altLang="zh-CN"/>
              <a:t>H</a:t>
            </a:r>
            <a:r>
              <a:rPr lang="zh-CN" altLang="en-US"/>
              <a:t>指数</a:t>
            </a:r>
            <a:endParaRPr lang="zh-CN" altLang="en-US"/>
          </a:p>
          <a:p>
            <a:pPr marL="0" indent="0">
              <a:buNone/>
            </a:pPr>
            <a:endParaRPr lang="zh-CN" altLang="en-US"/>
          </a:p>
          <a:p>
            <a:pPr marL="0" indent="0">
              <a:buNone/>
            </a:pPr>
            <a:r>
              <a:rPr lang="zh-CN" altLang="en-US"/>
              <a:t>考虑到我们期望利用</a:t>
            </a:r>
            <a:r>
              <a:rPr lang="en-US" altLang="zh-CN" b="1"/>
              <a:t>“</a:t>
            </a:r>
            <a:r>
              <a:rPr lang="zh-CN" altLang="en-US" b="1"/>
              <a:t>鞅</a:t>
            </a:r>
            <a:r>
              <a:rPr lang="en-US" altLang="zh-CN" b="1"/>
              <a:t>” martingale</a:t>
            </a:r>
            <a:r>
              <a:rPr lang="zh-CN" altLang="en-US"/>
              <a:t>的性质，</a:t>
            </a:r>
            <a:r>
              <a:rPr lang="en-US" altLang="zh-CN"/>
              <a:t> </a:t>
            </a:r>
            <a:r>
              <a:rPr lang="zh-CN" altLang="en-US"/>
              <a:t>则</a:t>
            </a:r>
            <a:r>
              <a:rPr lang="en-US" altLang="zh-CN"/>
              <a:t>H</a:t>
            </a:r>
            <a:r>
              <a:rPr lang="zh-CN" altLang="en-US"/>
              <a:t>指数提供了很好的无记忆性检查，下一步价值无法从历史预测，对应</a:t>
            </a:r>
            <a:r>
              <a:rPr lang="en-US" altLang="zh-CN"/>
              <a:t>faithful</a:t>
            </a:r>
            <a:r>
              <a:rPr lang="zh-CN" altLang="en-US"/>
              <a:t>推理的理想状态。即在没有新信息时，价值保持稳定，</a:t>
            </a:r>
            <a:r>
              <a:rPr lang="en-US" altLang="zh-CN"/>
              <a:t> </a:t>
            </a:r>
            <a:r>
              <a:rPr lang="zh-CN" altLang="en-US"/>
              <a:t>此时</a:t>
            </a:r>
            <a:r>
              <a:rPr lang="en-US" altLang="zh-CN" b="1"/>
              <a:t>H = 0.5</a:t>
            </a:r>
            <a:endParaRPr lang="en-US" altLang="zh-CN"/>
          </a:p>
          <a:p>
            <a:pPr marL="0" indent="0">
              <a:buNone/>
            </a:pPr>
            <a:r>
              <a:rPr lang="en-US" altLang="zh-CN"/>
              <a:t>H &gt; 0.5</a:t>
            </a:r>
            <a:r>
              <a:rPr lang="zh-CN" altLang="en-US"/>
              <a:t>：序列：持久性，趋势性，有持续增长或下降的趋势，模型过于自信或过于悲观；</a:t>
            </a:r>
            <a:r>
              <a:rPr lang="en-US" altLang="zh-CN"/>
              <a:t>H &lt; 0.5</a:t>
            </a:r>
            <a:r>
              <a:rPr lang="zh-CN" altLang="en-US"/>
              <a:t>时，</a:t>
            </a:r>
            <a:r>
              <a:rPr lang="en-US" altLang="zh-CN"/>
              <a:t> </a:t>
            </a:r>
            <a:r>
              <a:rPr lang="zh-CN" altLang="en-US"/>
              <a:t>序列：反持久性，均值回归。价值倾向于向均值靠拢，频繁出现剧烈的上下波动，</a:t>
            </a:r>
            <a:r>
              <a:rPr lang="en-US" altLang="zh-CN"/>
              <a:t>H</a:t>
            </a:r>
            <a:r>
              <a:rPr lang="zh-CN" altLang="en-US"/>
              <a:t>指数变小</a:t>
            </a:r>
            <a:endParaRPr lang="zh-CN" altLang="en-US"/>
          </a:p>
          <a:p>
            <a:pPr marL="0" indent="0">
              <a:buNone/>
            </a:pPr>
            <a:endParaRPr lang="en-US" altLang="zh-CN"/>
          </a:p>
        </p:txBody>
      </p: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608400" y="240100"/>
            <a:ext cx="10969200" cy="705600"/>
          </a:xfrm>
        </p:spPr>
        <p:txBody>
          <a:bodyPr/>
          <a:p>
            <a:r>
              <a:rPr lang="en-US" altLang="zh-CN">
                <a:sym typeface="+mn-ea"/>
              </a:rPr>
              <a:t>Critiques for smoothness*</a:t>
            </a:r>
            <a:endParaRPr lang="zh-CN" altLang="en-US"/>
          </a:p>
        </p:txBody>
      </p:sp>
      <p:sp>
        <p:nvSpPr>
          <p:cNvPr id="3" name="内容占位符 2"/>
          <p:cNvSpPr>
            <a:spLocks noGrp="1"/>
          </p:cNvSpPr>
          <p:nvPr>
            <p:ph idx="1"/>
            <p:custDataLst>
              <p:tags r:id="rId2"/>
            </p:custDataLst>
          </p:nvPr>
        </p:nvSpPr>
        <p:spPr>
          <a:xfrm>
            <a:off x="608330" y="1101725"/>
            <a:ext cx="10968990" cy="5755640"/>
          </a:xfrm>
        </p:spPr>
        <p:txBody>
          <a:bodyPr>
            <a:normAutofit fontScale="90000" lnSpcReduction="20000"/>
          </a:bodyPr>
          <a:p>
            <a:r>
              <a:rPr lang="en-US" altLang="zh-CN"/>
              <a:t> </a:t>
            </a:r>
            <a:r>
              <a:rPr lang="zh-CN" altLang="en-US" b="1"/>
              <a:t>样本熵</a:t>
            </a:r>
            <a:r>
              <a:rPr lang="zh-CN" altLang="en-US"/>
              <a:t>：</a:t>
            </a:r>
            <a:r>
              <a:rPr lang="en-US" altLang="zh-CN"/>
              <a:t> </a:t>
            </a:r>
            <a:r>
              <a:rPr lang="zh-CN" altLang="en-US"/>
              <a:t>衡量基于历史数据预测下一个符号的不确定性</a:t>
            </a:r>
            <a:endParaRPr lang="zh-CN" altLang="en-US"/>
          </a:p>
          <a:p>
            <a:pPr marL="0" indent="0">
              <a:buNone/>
            </a:pPr>
            <a:r>
              <a:rPr lang="zh-CN" altLang="en-US"/>
              <a:t>将连续的价值序列</a:t>
            </a:r>
            <a:r>
              <a:rPr lang="en-US" altLang="zh-CN"/>
              <a:t> V </a:t>
            </a:r>
            <a:r>
              <a:rPr lang="zh-CN" altLang="en-US"/>
              <a:t>离散化成若干个</a:t>
            </a:r>
            <a:r>
              <a:rPr lang="en-US" altLang="zh-CN"/>
              <a:t>“</a:t>
            </a:r>
            <a:r>
              <a:rPr lang="zh-CN" altLang="en-US"/>
              <a:t>符号</a:t>
            </a:r>
            <a:r>
              <a:rPr lang="en-US" altLang="zh-CN"/>
              <a:t>”</a:t>
            </a:r>
            <a:r>
              <a:rPr lang="zh-CN" altLang="en-US"/>
              <a:t>或</a:t>
            </a:r>
            <a:r>
              <a:rPr lang="en-US" altLang="zh-CN"/>
              <a:t>“</a:t>
            </a:r>
            <a:r>
              <a:rPr lang="zh-CN" altLang="en-US"/>
              <a:t>状态</a:t>
            </a:r>
            <a:r>
              <a:rPr lang="en-US" altLang="zh-CN"/>
              <a:t>”</a:t>
            </a:r>
            <a:r>
              <a:rPr lang="zh-CN" altLang="en-US"/>
              <a:t>，计算每个符号</a:t>
            </a:r>
            <a:r>
              <a:rPr lang="en-US" altLang="zh-CN"/>
              <a:t> i </a:t>
            </a:r>
            <a:r>
              <a:rPr lang="zh-CN" altLang="en-US"/>
              <a:t>出现的概率</a:t>
            </a:r>
            <a:r>
              <a:rPr lang="en-US" altLang="zh-CN"/>
              <a:t>Pi</a:t>
            </a:r>
            <a:r>
              <a:rPr lang="zh-CN" altLang="en-US"/>
              <a:t>，</a:t>
            </a:r>
            <a:r>
              <a:rPr lang="en-US" altLang="zh-CN"/>
              <a:t> </a:t>
            </a:r>
            <a:r>
              <a:rPr lang="zh-CN" altLang="en-US"/>
              <a:t>然后带入商的计算公式</a:t>
            </a:r>
            <a:r>
              <a:rPr lang="en-US" altLang="zh-CN"/>
              <a:t> </a:t>
            </a:r>
            <a:r>
              <a:rPr lang="zh-CN" altLang="en-US"/>
              <a:t>（</a:t>
            </a:r>
            <a:r>
              <a:rPr lang="en-US" altLang="zh-CN"/>
              <a:t> - p log p</a:t>
            </a:r>
            <a:r>
              <a:rPr lang="zh-CN" altLang="en-US"/>
              <a:t>）</a:t>
            </a:r>
            <a:endParaRPr lang="zh-CN" altLang="en-US"/>
          </a:p>
          <a:p>
            <a:pPr marL="0" indent="0">
              <a:buNone/>
            </a:pPr>
            <a:r>
              <a:rPr lang="zh-CN" altLang="en-US"/>
              <a:t>忠实推理时，价值函数熵值低且稳定。《</a:t>
            </a:r>
            <a:r>
              <a:rPr lang="en-US" altLang="zh-CN"/>
              <a:t>-</a:t>
            </a:r>
            <a:r>
              <a:rPr lang="zh-CN" altLang="en-US"/>
              <a:t>》</a:t>
            </a:r>
            <a:r>
              <a:rPr lang="en-US" altLang="zh-CN"/>
              <a:t> abrupt</a:t>
            </a:r>
            <a:r>
              <a:rPr lang="zh-CN" altLang="en-US"/>
              <a:t>的推理过程，价值序列的熵高</a:t>
            </a:r>
            <a:endParaRPr lang="zh-CN" altLang="en-US"/>
          </a:p>
          <a:p>
            <a:pPr marL="0" indent="0">
              <a:buNone/>
            </a:pPr>
            <a:endParaRPr lang="zh-CN" altLang="en-US"/>
          </a:p>
          <a:p>
            <a:pPr marL="0" indent="0">
              <a:buNone/>
            </a:pPr>
            <a:r>
              <a:rPr lang="zh-CN" altLang="en-US" b="1"/>
              <a:t>小波变换</a:t>
            </a:r>
            <a:r>
              <a:rPr lang="zh-CN" altLang="en-US"/>
              <a:t>？分析非平稳信号</a:t>
            </a:r>
            <a:r>
              <a:rPr lang="en-US" altLang="zh-CN"/>
              <a:t>  </a:t>
            </a:r>
            <a:r>
              <a:rPr lang="zh-CN" altLang="en-US"/>
              <a:t>同时提供时间和频率信息</a:t>
            </a:r>
            <a:r>
              <a:rPr lang="en-US" altLang="zh-CN"/>
              <a:t> </a:t>
            </a:r>
            <a:endParaRPr lang="en-US" altLang="zh-CN"/>
          </a:p>
          <a:p>
            <a:pPr marL="0" indent="0">
              <a:buNone/>
            </a:pPr>
            <a:r>
              <a:rPr lang="zh-CN" altLang="en-US"/>
              <a:t>高频成分是信号的快速、剧烈变化（突变和震荡）；低频成分代表了</a:t>
            </a:r>
            <a:r>
              <a:rPr lang="zh-CN" altLang="en-US"/>
              <a:t>价值信号整体趋势</a:t>
            </a:r>
            <a:endParaRPr lang="zh-CN" altLang="en-US"/>
          </a:p>
          <a:p>
            <a:pPr marL="0" indent="0">
              <a:buNone/>
            </a:pPr>
            <a:r>
              <a:rPr lang="zh-CN" altLang="en-US"/>
              <a:t>分析小波系数的模极大值，精确定位突变发生时间点</a:t>
            </a:r>
            <a:endParaRPr lang="zh-CN" altLang="en-US"/>
          </a:p>
          <a:p>
            <a:pPr marL="0" indent="0">
              <a:buNone/>
            </a:pPr>
            <a:r>
              <a:rPr lang="zh-CN" altLang="en-US"/>
              <a:t>检测小波系数在哪个时间点</a:t>
            </a:r>
            <a:r>
              <a:rPr lang="en-US" altLang="zh-CN"/>
              <a:t> t </a:t>
            </a:r>
            <a:r>
              <a:rPr lang="zh-CN" altLang="en-US"/>
              <a:t>出现显著的模极大值，这个</a:t>
            </a:r>
            <a:r>
              <a:rPr lang="en-US" altLang="zh-CN"/>
              <a:t> t </a:t>
            </a:r>
            <a:r>
              <a:rPr lang="zh-CN" altLang="en-US"/>
              <a:t>很可能就是</a:t>
            </a:r>
            <a:r>
              <a:rPr lang="en-US" altLang="zh-CN"/>
              <a:t>“</a:t>
            </a:r>
            <a:r>
              <a:rPr lang="zh-CN" altLang="en-US"/>
              <a:t>幻觉</a:t>
            </a:r>
            <a:r>
              <a:rPr lang="en-US" altLang="zh-CN"/>
              <a:t>”</a:t>
            </a:r>
            <a:r>
              <a:rPr lang="zh-CN" altLang="en-US"/>
              <a:t>步骤</a:t>
            </a:r>
            <a:endParaRPr lang="zh-CN" altLang="en-US"/>
          </a:p>
          <a:p>
            <a:pPr marL="0" indent="0">
              <a:buNone/>
            </a:pPr>
            <a:endParaRPr lang="zh-CN" altLang="en-US"/>
          </a:p>
          <a:p>
            <a:pPr marL="0" indent="0">
              <a:buNone/>
            </a:pPr>
            <a:r>
              <a:rPr lang="zh-CN" altLang="en-US"/>
              <a:t>其他</a:t>
            </a:r>
            <a:r>
              <a:rPr lang="zh-CN" altLang="en-US" b="1"/>
              <a:t>变点检测</a:t>
            </a:r>
            <a:r>
              <a:rPr lang="zh-CN" altLang="en-US"/>
              <a:t>的方法？</a:t>
            </a:r>
            <a:r>
              <a:rPr lang="en-US" altLang="zh-CN"/>
              <a:t> </a:t>
            </a:r>
            <a:r>
              <a:rPr lang="zh-CN" altLang="en-US"/>
              <a:t>专门用于识别时间序列中统计特性（均值、方差、分布等）突变点的</a:t>
            </a:r>
            <a:r>
              <a:rPr lang="zh-CN" altLang="en-US"/>
              <a:t>地方</a:t>
            </a:r>
            <a:endParaRPr lang="zh-CN" altLang="en-US"/>
          </a:p>
          <a:p>
            <a:pPr marL="0" indent="0">
              <a:buNone/>
            </a:pPr>
            <a:r>
              <a:rPr lang="en-US" altLang="zh-CN"/>
              <a:t>CUSUM (Cumulative Sum Control Chart)</a:t>
            </a:r>
            <a:endParaRPr lang="en-US" altLang="zh-CN"/>
          </a:p>
          <a:p>
            <a:pPr marL="0" indent="0">
              <a:buNone/>
            </a:pPr>
            <a:r>
              <a:rPr lang="en-US" altLang="zh-CN"/>
              <a:t>Bayesian Change Point Detection</a:t>
            </a:r>
            <a:endParaRPr lang="en-US" altLang="zh-CN"/>
          </a:p>
          <a:p>
            <a:pPr marL="0" indent="0">
              <a:buNone/>
            </a:pPr>
            <a:r>
              <a:rPr lang="en-US" altLang="zh-CN"/>
              <a:t>PELT (Pruned Exact Linear Time)</a:t>
            </a:r>
            <a:endParaRPr lang="en-US" altLang="zh-CN"/>
          </a:p>
          <a:p>
            <a:pPr marL="0" indent="0">
              <a:buNone/>
            </a:pPr>
            <a:endParaRPr lang="zh-CN" altLang="en-US"/>
          </a:p>
          <a:p>
            <a:pPr marL="0" indent="0">
              <a:buNone/>
            </a:pPr>
            <a:endParaRPr lang="zh-CN" altLang="en-US"/>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Leverage these technique</a:t>
            </a:r>
            <a:r>
              <a:rPr lang="en-US" altLang="zh-CN"/>
              <a:t>s </a:t>
            </a:r>
            <a:endParaRPr lang="en-US" altLang="zh-CN"/>
          </a:p>
        </p:txBody>
      </p:sp>
      <p:sp>
        <p:nvSpPr>
          <p:cNvPr id="3" name="内容占位符 2"/>
          <p:cNvSpPr>
            <a:spLocks noGrp="1"/>
          </p:cNvSpPr>
          <p:nvPr>
            <p:ph idx="1"/>
            <p:custDataLst>
              <p:tags r:id="rId2"/>
            </p:custDataLst>
          </p:nvPr>
        </p:nvSpPr>
        <p:spPr/>
        <p:txBody>
          <a:bodyPr/>
          <a:p>
            <a:endParaRPr lang="zh-CN" altLang="en-US"/>
          </a:p>
          <a:p>
            <a:r>
              <a:rPr lang="zh-CN" altLang="en-US"/>
              <a:t>关于</a:t>
            </a:r>
            <a:r>
              <a:rPr lang="en-US" altLang="zh-CN"/>
              <a:t>paper writing</a:t>
            </a:r>
            <a:r>
              <a:rPr lang="zh-CN" altLang="en-US"/>
              <a:t>部分：</a:t>
            </a:r>
            <a:endParaRPr lang="zh-CN" altLang="en-US"/>
          </a:p>
          <a:p>
            <a:endParaRPr lang="zh-CN" altLang="en-US"/>
          </a:p>
          <a:p>
            <a:pPr marL="0" indent="0">
              <a:buNone/>
            </a:pPr>
            <a:r>
              <a:rPr lang="zh-CN" altLang="en-US"/>
              <a:t>在论文的深入分析或附录（？）部分，引入小波变换和变点检测。</a:t>
            </a:r>
            <a:r>
              <a:rPr lang="zh-CN" altLang="en-US"/>
              <a:t>可否生成一些可视化图表（时频图、带变点标记的价值轨迹），</a:t>
            </a:r>
            <a:r>
              <a:rPr lang="en-US" altLang="zh-CN"/>
              <a:t> </a:t>
            </a:r>
            <a:r>
              <a:rPr lang="zh-CN" altLang="en-US"/>
              <a:t>来</a:t>
            </a:r>
            <a:r>
              <a:rPr lang="en-US" altLang="zh-CN"/>
              <a:t>impress reader</a:t>
            </a:r>
            <a:r>
              <a:rPr lang="zh-CN" altLang="en-US"/>
              <a:t>？</a:t>
            </a:r>
            <a:endParaRPr lang="zh-CN" altLang="en-US"/>
          </a:p>
          <a:p>
            <a:pPr marL="0" indent="0">
              <a:buNone/>
            </a:pPr>
            <a:endParaRPr lang="zh-CN" altLang="en-US"/>
          </a:p>
          <a:p>
            <a:r>
              <a:rPr lang="zh-CN" altLang="en-US"/>
              <a:t>（？）样本熵当辅助，用来解释为什么某个序列的</a:t>
            </a:r>
            <a:r>
              <a:rPr lang="en-US" altLang="zh-CN"/>
              <a:t>H</a:t>
            </a:r>
            <a:r>
              <a:rPr lang="zh-CN" altLang="en-US"/>
              <a:t>指数或控制图表现不佳</a:t>
            </a:r>
            <a:r>
              <a:rPr lang="en-US" altLang="zh-CN"/>
              <a:t> </a:t>
            </a:r>
            <a:r>
              <a:rPr lang="zh-CN" altLang="en-US"/>
              <a:t>（增加点理论</a:t>
            </a:r>
            <a:r>
              <a:rPr lang="zh-CN" altLang="en-US"/>
              <a:t>背景）</a:t>
            </a:r>
            <a:endParaRPr lang="zh-CN" altLang="en-US"/>
          </a:p>
        </p:txBody>
      </p:sp>
    </p:spTree>
    <p:custDataLst>
      <p:tags r:id="rId3"/>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RC reward discussion</a:t>
            </a:r>
            <a:endParaRPr lang="zh-CN" altLang="en-US"/>
          </a:p>
        </p:txBody>
      </p:sp>
      <p:pic>
        <p:nvPicPr>
          <p:cNvPr id="4" name="内容占位符 3"/>
          <p:cNvPicPr>
            <a:picLocks noChangeAspect="1"/>
          </p:cNvPicPr>
          <p:nvPr>
            <p:ph idx="1"/>
            <p:custDataLst>
              <p:tags r:id="rId2"/>
            </p:custDataLst>
          </p:nvPr>
        </p:nvPicPr>
        <p:blipFill>
          <a:blip r:embed="rId3"/>
          <a:stretch>
            <a:fillRect/>
          </a:stretch>
        </p:blipFill>
        <p:spPr>
          <a:xfrm>
            <a:off x="1339850" y="2320925"/>
            <a:ext cx="9692005" cy="3333115"/>
          </a:xfrm>
          <a:prstGeom prst="rect">
            <a:avLst/>
          </a:prstGeom>
        </p:spPr>
      </p:pic>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RC reward discussion</a:t>
            </a:r>
            <a:endParaRPr lang="en-US" altLang="zh-CN"/>
          </a:p>
        </p:txBody>
      </p:sp>
      <p:sp>
        <p:nvSpPr>
          <p:cNvPr id="3" name="内容占位符 2"/>
          <p:cNvSpPr>
            <a:spLocks noGrp="1"/>
          </p:cNvSpPr>
          <p:nvPr>
            <p:ph idx="1"/>
            <p:custDataLst>
              <p:tags r:id="rId2"/>
            </p:custDataLst>
          </p:nvPr>
        </p:nvSpPr>
        <p:spPr/>
        <p:txBody>
          <a:bodyPr/>
          <a:p>
            <a:r>
              <a:rPr lang="zh-CN" altLang="en-US"/>
              <a:t>插值</a:t>
            </a:r>
            <a:r>
              <a:rPr lang="zh-CN" altLang="en-US"/>
              <a:t>方法：我认为的好处和潜在</a:t>
            </a:r>
            <a:r>
              <a:rPr lang="zh-CN" altLang="en-US"/>
              <a:t>问题：</a:t>
            </a:r>
            <a:endParaRPr lang="zh-CN" altLang="en-US"/>
          </a:p>
          <a:p>
            <a:r>
              <a:rPr lang="zh-CN" altLang="en-US"/>
              <a:t>好处：</a:t>
            </a:r>
            <a:endParaRPr lang="zh-CN" altLang="en-US"/>
          </a:p>
          <a:p>
            <a:pPr lvl="1"/>
            <a:r>
              <a:rPr lang="zh-CN" altLang="en-US"/>
              <a:t>处理了奖励稀疏，</a:t>
            </a:r>
            <a:r>
              <a:rPr lang="en-US" altLang="zh-CN"/>
              <a:t> </a:t>
            </a:r>
            <a:r>
              <a:rPr lang="zh-CN" altLang="en-US"/>
              <a:t>解决了原算法中除了最后一步，所有中间奖励</a:t>
            </a:r>
            <a:r>
              <a:rPr lang="en-US" altLang="zh-CN"/>
              <a:t> r_t </a:t>
            </a:r>
            <a:r>
              <a:rPr lang="zh-CN" altLang="en-US"/>
              <a:t>都是</a:t>
            </a:r>
            <a:r>
              <a:rPr lang="en-US" altLang="zh-CN"/>
              <a:t>0</a:t>
            </a:r>
            <a:r>
              <a:rPr lang="zh-CN" altLang="en-US"/>
              <a:t>的问题。解决了价值函数在漫长的推理过程中得不到任何有效的学习信号的问题，</a:t>
            </a:r>
            <a:r>
              <a:rPr lang="en-US" altLang="zh-CN"/>
              <a:t> </a:t>
            </a:r>
            <a:r>
              <a:rPr lang="zh-CN" altLang="en-US"/>
              <a:t>使得训练</a:t>
            </a:r>
            <a:r>
              <a:rPr lang="zh-CN" altLang="en-US"/>
              <a:t>更容易</a:t>
            </a:r>
            <a:endParaRPr lang="zh-CN" altLang="en-US"/>
          </a:p>
          <a:p>
            <a:pPr lvl="1"/>
            <a:r>
              <a:rPr lang="zh-CN" altLang="en-US"/>
              <a:t>与</a:t>
            </a:r>
            <a:r>
              <a:rPr lang="en-US" altLang="zh-CN"/>
              <a:t>SFT</a:t>
            </a:r>
            <a:r>
              <a:rPr lang="zh-CN" altLang="en-US"/>
              <a:t>目标在形式上对齐</a:t>
            </a:r>
            <a:r>
              <a:rPr lang="en-US" altLang="zh-CN"/>
              <a:t>/</a:t>
            </a:r>
            <a:r>
              <a:rPr lang="zh-CN" altLang="en-US"/>
              <a:t>相似，</a:t>
            </a:r>
            <a:r>
              <a:rPr lang="en-US" altLang="zh-CN"/>
              <a:t> </a:t>
            </a:r>
            <a:r>
              <a:rPr lang="zh-CN" altLang="en-US"/>
              <a:t>使得奖励信号与语言模型的目标函数保持一致，或许可以避免了两个目标（生成流畅文本</a:t>
            </a:r>
            <a:r>
              <a:rPr lang="en-US" altLang="zh-CN"/>
              <a:t> vs. </a:t>
            </a:r>
            <a:r>
              <a:rPr lang="zh-CN" altLang="en-US"/>
              <a:t>学习一致价值）出现对立的</a:t>
            </a:r>
            <a:r>
              <a:rPr lang="zh-CN" altLang="en-US"/>
              <a:t>情况？</a:t>
            </a:r>
            <a:endParaRPr lang="zh-CN" altLang="en-US"/>
          </a:p>
          <a:p>
            <a:pPr lvl="1"/>
            <a:r>
              <a:rPr lang="zh-CN" altLang="en-US"/>
              <a:t>简洁，</a:t>
            </a:r>
            <a:r>
              <a:rPr lang="en-US" altLang="zh-CN"/>
              <a:t> </a:t>
            </a:r>
            <a:r>
              <a:rPr lang="zh-CN" altLang="en-US"/>
              <a:t>只需在计算损失时，从</a:t>
            </a:r>
            <a:r>
              <a:rPr lang="en-US" altLang="zh-CN"/>
              <a:t>SFT</a:t>
            </a:r>
            <a:r>
              <a:rPr lang="zh-CN" altLang="en-US"/>
              <a:t>损失中提取出每个</a:t>
            </a:r>
            <a:r>
              <a:rPr lang="en-US" altLang="zh-CN"/>
              <a:t>token</a:t>
            </a:r>
            <a:r>
              <a:rPr lang="zh-CN" altLang="en-US"/>
              <a:t>的</a:t>
            </a:r>
            <a:r>
              <a:rPr lang="en-US" altLang="zh-CN"/>
              <a:t>log</a:t>
            </a:r>
            <a:r>
              <a:rPr lang="zh-CN" altLang="en-US"/>
              <a:t>概率，并按比例分配给奖励</a:t>
            </a:r>
            <a:endParaRPr lang="zh-CN" altLang="en-US"/>
          </a:p>
          <a:p>
            <a:r>
              <a:rPr lang="zh-CN" altLang="en-US"/>
              <a:t>潜在</a:t>
            </a:r>
            <a:r>
              <a:rPr lang="zh-CN" altLang="en-US"/>
              <a:t>问题？</a:t>
            </a:r>
            <a:endParaRPr lang="zh-CN" altLang="en-US"/>
          </a:p>
          <a:p>
            <a:pPr lvl="1"/>
            <a:r>
              <a:rPr lang="en-US" altLang="zh-CN"/>
              <a:t>(?)</a:t>
            </a:r>
            <a:r>
              <a:rPr lang="zh-CN" altLang="en-US"/>
              <a:t>会不会有点偏离了</a:t>
            </a:r>
            <a:r>
              <a:rPr lang="en-US" altLang="zh-CN"/>
              <a:t>BCR</a:t>
            </a:r>
            <a:r>
              <a:rPr lang="zh-CN" altLang="en-US"/>
              <a:t>的</a:t>
            </a:r>
            <a:r>
              <a:rPr lang="en-US" altLang="zh-CN"/>
              <a:t>“</a:t>
            </a:r>
            <a:r>
              <a:rPr lang="zh-CN" altLang="en-US"/>
              <a:t>自监督</a:t>
            </a:r>
            <a:r>
              <a:rPr lang="en-US" altLang="zh-CN"/>
              <a:t>”</a:t>
            </a:r>
            <a:r>
              <a:rPr lang="zh-CN" altLang="en-US"/>
              <a:t>的设计理念呢？</a:t>
            </a:r>
            <a:r>
              <a:rPr lang="en-US" altLang="zh-CN"/>
              <a:t>BCR</a:t>
            </a:r>
            <a:r>
              <a:rPr lang="zh-CN" altLang="en-US"/>
              <a:t>的创新点如果是在于无需外部过程标签，通过内在的</a:t>
            </a:r>
            <a:r>
              <a:rPr lang="en-US" altLang="zh-CN"/>
              <a:t>TD</a:t>
            </a:r>
            <a:r>
              <a:rPr lang="zh-CN" altLang="en-US"/>
              <a:t>误差</a:t>
            </a:r>
            <a:r>
              <a:rPr lang="en-US" altLang="zh-CN"/>
              <a:t> (r_t + γV_{t+1} - V_t) </a:t>
            </a:r>
            <a:r>
              <a:rPr lang="zh-CN" altLang="en-US"/>
              <a:t>来学习。但我们的</a:t>
            </a:r>
            <a:r>
              <a:rPr lang="en-US" altLang="zh-CN"/>
              <a:t>RC</a:t>
            </a:r>
            <a:r>
              <a:rPr lang="zh-CN" altLang="en-US"/>
              <a:t>方案引入了</a:t>
            </a:r>
            <a:r>
              <a:rPr lang="en-US" altLang="zh-CN"/>
              <a:t> log(s*_t | ...)</a:t>
            </a:r>
            <a:r>
              <a:rPr lang="zh-CN" altLang="en-US"/>
              <a:t>，这是一个强监督信号，直接依赖于真实的下一步</a:t>
            </a:r>
            <a:r>
              <a:rPr lang="en-US" altLang="zh-CN"/>
              <a:t>token s*_t</a:t>
            </a:r>
            <a:r>
              <a:rPr lang="zh-CN" altLang="en-US"/>
              <a:t>。这使得整个方法从</a:t>
            </a:r>
            <a:r>
              <a:rPr lang="en-US" altLang="zh-CN"/>
              <a:t>“</a:t>
            </a:r>
            <a:r>
              <a:rPr lang="zh-CN" altLang="en-US"/>
              <a:t>自监督</a:t>
            </a:r>
            <a:r>
              <a:rPr lang="en-US" altLang="zh-CN"/>
              <a:t>”</a:t>
            </a:r>
            <a:r>
              <a:rPr lang="zh-CN" altLang="en-US"/>
              <a:t>退化为了</a:t>
            </a:r>
            <a:r>
              <a:rPr lang="en-US" altLang="zh-CN"/>
              <a:t>“</a:t>
            </a:r>
            <a:r>
              <a:rPr lang="zh-CN" altLang="en-US"/>
              <a:t>监督</a:t>
            </a:r>
            <a:r>
              <a:rPr lang="en-US" altLang="zh-CN"/>
              <a:t>+RL”</a:t>
            </a:r>
            <a:r>
              <a:rPr lang="zh-CN" altLang="en-US"/>
              <a:t>的混合体，会不会在审稿人看来，</a:t>
            </a:r>
            <a:r>
              <a:rPr lang="en-US" altLang="zh-CN"/>
              <a:t> </a:t>
            </a:r>
            <a:r>
              <a:rPr lang="zh-CN" altLang="en-US"/>
              <a:t>削弱了</a:t>
            </a:r>
            <a:r>
              <a:rPr lang="en-US" altLang="zh-CN"/>
              <a:t>BCR</a:t>
            </a:r>
            <a:r>
              <a:rPr lang="zh-CN" altLang="en-US"/>
              <a:t>的核心创新点，</a:t>
            </a:r>
            <a:r>
              <a:rPr lang="en-US" altLang="zh-CN"/>
              <a:t>“</a:t>
            </a:r>
            <a:r>
              <a:rPr lang="zh-CN" altLang="en-US"/>
              <a:t>无需过程级指导</a:t>
            </a:r>
            <a:r>
              <a:rPr lang="en-US" altLang="zh-CN"/>
              <a:t>”</a:t>
            </a:r>
            <a:r>
              <a:rPr lang="zh-CN" altLang="en-US"/>
              <a:t>？</a:t>
            </a:r>
            <a:endParaRPr lang="zh-CN" altLang="en-US"/>
          </a:p>
        </p:txBody>
      </p:sp>
    </p:spTree>
    <p:custDataLst>
      <p:tags r:id="rId3"/>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sym typeface="+mn-ea"/>
              </a:rPr>
              <a:t>RC reward discussion</a:t>
            </a:r>
            <a:endParaRPr lang="zh-CN" altLang="en-US"/>
          </a:p>
        </p:txBody>
      </p:sp>
      <p:sp>
        <p:nvSpPr>
          <p:cNvPr id="3" name="内容占位符 2"/>
          <p:cNvSpPr>
            <a:spLocks noGrp="1"/>
          </p:cNvSpPr>
          <p:nvPr>
            <p:ph idx="1"/>
            <p:custDataLst>
              <p:tags r:id="rId2"/>
            </p:custDataLst>
          </p:nvPr>
        </p:nvSpPr>
        <p:spPr>
          <a:xfrm>
            <a:off x="608330" y="1490345"/>
            <a:ext cx="10968990" cy="5367655"/>
          </a:xfrm>
        </p:spPr>
        <p:txBody>
          <a:bodyPr>
            <a:normAutofit lnSpcReduction="20000"/>
          </a:bodyPr>
          <a:p>
            <a:r>
              <a:rPr lang="zh-CN" altLang="en-US"/>
              <a:t>潜在问题（续）：</a:t>
            </a:r>
            <a:r>
              <a:rPr lang="en-US" altLang="zh-CN"/>
              <a:t> </a:t>
            </a:r>
            <a:r>
              <a:rPr lang="zh-CN" altLang="en-US"/>
              <a:t>奖励作弊？会不会出现以下情况：</a:t>
            </a:r>
            <a:endParaRPr lang="zh-CN" altLang="en-US"/>
          </a:p>
          <a:p>
            <a:pPr marL="0" indent="0">
              <a:buNone/>
            </a:pPr>
            <a:r>
              <a:rPr lang="en-US" altLang="zh-CN"/>
              <a:t>“</a:t>
            </a:r>
            <a:r>
              <a:rPr lang="zh-CN" altLang="en-US"/>
              <a:t>监督泄漏</a:t>
            </a:r>
            <a:r>
              <a:rPr lang="en-US" altLang="zh-CN"/>
              <a:t>”</a:t>
            </a:r>
            <a:r>
              <a:rPr lang="zh-CN" altLang="en-US"/>
              <a:t>导致价值函数</a:t>
            </a:r>
            <a:r>
              <a:rPr lang="en-US" altLang="zh-CN"/>
              <a:t>“</a:t>
            </a:r>
            <a:r>
              <a:rPr lang="zh-CN" altLang="en-US"/>
              <a:t>作弊</a:t>
            </a:r>
            <a:r>
              <a:rPr lang="en-US" altLang="zh-CN"/>
              <a:t>”</a:t>
            </a:r>
            <a:r>
              <a:rPr lang="zh-CN" altLang="en-US"/>
              <a:t>：</a:t>
            </a:r>
            <a:r>
              <a:rPr lang="en-US" altLang="zh-CN"/>
              <a:t> </a:t>
            </a:r>
            <a:r>
              <a:rPr lang="zh-CN" altLang="en-US"/>
              <a:t>价值函数</a:t>
            </a:r>
            <a:r>
              <a:rPr lang="en-US" altLang="zh-CN"/>
              <a:t> Vφ </a:t>
            </a:r>
            <a:r>
              <a:rPr lang="zh-CN" altLang="en-US"/>
              <a:t>在训练过程中，通过奖励</a:t>
            </a:r>
            <a:r>
              <a:rPr lang="en-US" altLang="zh-CN"/>
              <a:t> rt “</a:t>
            </a:r>
            <a:r>
              <a:rPr lang="zh-CN" altLang="en-US"/>
              <a:t>看到</a:t>
            </a:r>
            <a:r>
              <a:rPr lang="en-US" altLang="zh-CN"/>
              <a:t>”</a:t>
            </a:r>
            <a:r>
              <a:rPr lang="zh-CN" altLang="en-US"/>
              <a:t>了真实的下一步是什么。这会导致</a:t>
            </a:r>
            <a:r>
              <a:rPr lang="en-US" altLang="zh-CN"/>
              <a:t> Vφ </a:t>
            </a:r>
            <a:r>
              <a:rPr lang="zh-CN" altLang="en-US"/>
              <a:t>不再去学习</a:t>
            </a:r>
            <a:r>
              <a:rPr lang="en-US" altLang="zh-CN"/>
              <a:t>“</a:t>
            </a:r>
            <a:r>
              <a:rPr lang="zh-CN" altLang="en-US"/>
              <a:t>当前部分轨迹未来成功的概率</a:t>
            </a:r>
            <a:r>
              <a:rPr lang="en-US" altLang="zh-CN"/>
              <a:t>”</a:t>
            </a:r>
            <a:r>
              <a:rPr lang="zh-CN" altLang="en-US"/>
              <a:t>，而是去学习</a:t>
            </a:r>
            <a:r>
              <a:rPr lang="en-US" altLang="zh-CN"/>
              <a:t>“</a:t>
            </a:r>
            <a:r>
              <a:rPr lang="zh-CN" altLang="en-US"/>
              <a:t>下一个</a:t>
            </a:r>
            <a:r>
              <a:rPr lang="en-US" altLang="zh-CN"/>
              <a:t>token</a:t>
            </a:r>
            <a:r>
              <a:rPr lang="zh-CN" altLang="en-US"/>
              <a:t>是否与</a:t>
            </a:r>
            <a:r>
              <a:rPr lang="en-US" altLang="zh-CN"/>
              <a:t>golden standard</a:t>
            </a:r>
            <a:r>
              <a:rPr lang="zh-CN" altLang="en-US"/>
              <a:t>一致</a:t>
            </a:r>
            <a:r>
              <a:rPr lang="en-US" altLang="zh-CN"/>
              <a:t>”</a:t>
            </a:r>
            <a:r>
              <a:rPr lang="zh-CN" altLang="en-US"/>
              <a:t>。这使得</a:t>
            </a:r>
            <a:r>
              <a:rPr lang="en-US" altLang="zh-CN"/>
              <a:t> Vφ </a:t>
            </a:r>
            <a:r>
              <a:rPr lang="zh-CN" altLang="en-US"/>
              <a:t>失去了作为</a:t>
            </a:r>
            <a:r>
              <a:rPr lang="en-US" altLang="zh-CN"/>
              <a:t>faithful probe</a:t>
            </a:r>
            <a:r>
              <a:rPr lang="zh-CN" altLang="en-US"/>
              <a:t>的能力。一个在训练中见过</a:t>
            </a:r>
            <a:r>
              <a:rPr lang="en-US" altLang="zh-CN"/>
              <a:t>golden token</a:t>
            </a:r>
            <a:r>
              <a:rPr lang="zh-CN" altLang="en-US"/>
              <a:t>的价值函数，在推理时遇到一个错误的</a:t>
            </a:r>
            <a:r>
              <a:rPr lang="en-US" altLang="zh-CN"/>
              <a:t>token</a:t>
            </a:r>
            <a:r>
              <a:rPr lang="zh-CN" altLang="en-US"/>
              <a:t>，其价值下降可能不是因为逻辑不一致，而仅仅是因为它</a:t>
            </a:r>
            <a:r>
              <a:rPr lang="en-US" altLang="zh-CN"/>
              <a:t>“</a:t>
            </a:r>
            <a:r>
              <a:rPr lang="zh-CN" altLang="en-US"/>
              <a:t>没见过</a:t>
            </a:r>
            <a:r>
              <a:rPr lang="en-US" altLang="zh-CN"/>
              <a:t>”</a:t>
            </a:r>
            <a:r>
              <a:rPr lang="zh-CN" altLang="en-US"/>
              <a:t>或</a:t>
            </a:r>
            <a:r>
              <a:rPr lang="en-US" altLang="zh-CN"/>
              <a:t>“</a:t>
            </a:r>
            <a:r>
              <a:rPr lang="zh-CN" altLang="en-US"/>
              <a:t>不喜欢</a:t>
            </a:r>
            <a:r>
              <a:rPr lang="en-US" altLang="zh-CN"/>
              <a:t>”</a:t>
            </a:r>
            <a:r>
              <a:rPr lang="zh-CN" altLang="en-US"/>
              <a:t>这个</a:t>
            </a:r>
            <a:r>
              <a:rPr lang="en-US" altLang="zh-CN"/>
              <a:t>token</a:t>
            </a:r>
            <a:r>
              <a:rPr lang="zh-CN" altLang="en-US"/>
              <a:t>。</a:t>
            </a:r>
            <a:endParaRPr lang="zh-CN" altLang="en-US"/>
          </a:p>
          <a:p>
            <a:pPr marL="0" indent="0">
              <a:buNone/>
            </a:pPr>
            <a:endParaRPr lang="zh-CN" altLang="en-US"/>
          </a:p>
          <a:p>
            <a:pPr marL="0" indent="0">
              <a:buNone/>
            </a:pPr>
            <a:r>
              <a:rPr lang="zh-CN" altLang="en-US"/>
              <a:t>训练过程中的问题：</a:t>
            </a:r>
            <a:r>
              <a:rPr lang="en-US" altLang="zh-CN"/>
              <a:t> </a:t>
            </a:r>
            <a:r>
              <a:rPr lang="zh-CN" altLang="en-US"/>
              <a:t>论文中用</a:t>
            </a:r>
            <a:r>
              <a:rPr lang="en-US" altLang="zh-CN"/>
              <a:t> λ </a:t>
            </a:r>
            <a:r>
              <a:rPr lang="zh-CN" altLang="en-US"/>
              <a:t>同时表示插值系数和</a:t>
            </a:r>
            <a:r>
              <a:rPr lang="en-US" altLang="zh-CN"/>
              <a:t>SFT</a:t>
            </a:r>
            <a:r>
              <a:rPr lang="zh-CN" altLang="en-US"/>
              <a:t>损失系数，并且刻意设计二者之和为</a:t>
            </a:r>
            <a:r>
              <a:rPr lang="en-US" altLang="zh-CN"/>
              <a:t>1. </a:t>
            </a:r>
            <a:r>
              <a:rPr lang="zh-CN" altLang="en-US"/>
              <a:t>我感觉需要仔细调节。如果</a:t>
            </a:r>
            <a:r>
              <a:rPr lang="en-US" altLang="zh-CN"/>
              <a:t> </a:t>
            </a:r>
            <a:r>
              <a:rPr lang="en-US" altLang="zh-CN">
                <a:sym typeface="+mn-ea"/>
              </a:rPr>
              <a:t>λ</a:t>
            </a:r>
            <a:r>
              <a:rPr lang="en-US" altLang="zh-CN"/>
              <a:t> </a:t>
            </a:r>
            <a:r>
              <a:rPr lang="zh-CN" altLang="en-US"/>
              <a:t>太大，奖励信号就太像</a:t>
            </a:r>
            <a:r>
              <a:rPr lang="en-US" altLang="zh-CN"/>
              <a:t>SFT</a:t>
            </a:r>
            <a:r>
              <a:rPr lang="zh-CN" altLang="en-US"/>
              <a:t>，</a:t>
            </a:r>
            <a:r>
              <a:rPr lang="en-US" altLang="zh-CN"/>
              <a:t>BCR</a:t>
            </a:r>
            <a:r>
              <a:rPr lang="zh-CN" altLang="en-US"/>
              <a:t>的约束作用就没了；如果</a:t>
            </a:r>
            <a:r>
              <a:rPr lang="en-US" altLang="zh-CN"/>
              <a:t> </a:t>
            </a:r>
            <a:r>
              <a:rPr lang="en-US" altLang="zh-CN">
                <a:sym typeface="+mn-ea"/>
              </a:rPr>
              <a:t>λ</a:t>
            </a:r>
            <a:r>
              <a:rPr lang="en-US" altLang="zh-CN"/>
              <a:t> </a:t>
            </a:r>
            <a:r>
              <a:rPr lang="zh-CN" altLang="en-US"/>
              <a:t>太小，则对稀疏奖励问题改善有限</a:t>
            </a:r>
            <a:r>
              <a:rPr lang="en-US" altLang="zh-CN"/>
              <a:t> -- </a:t>
            </a:r>
            <a:r>
              <a:rPr lang="zh-CN" altLang="en-US"/>
              <a:t>最</a:t>
            </a:r>
            <a:r>
              <a:rPr lang="en-US" altLang="zh-CN"/>
              <a:t>tricky</a:t>
            </a:r>
            <a:r>
              <a:rPr lang="zh-CN" altLang="en-US"/>
              <a:t>的地方在这里</a:t>
            </a:r>
            <a:r>
              <a:rPr lang="en-US" altLang="zh-CN"/>
              <a:t> - AutoML</a:t>
            </a:r>
            <a:r>
              <a:rPr lang="zh-CN" altLang="en-US"/>
              <a:t>上点强度？</a:t>
            </a:r>
            <a:r>
              <a:rPr lang="en-US" altLang="zh-CN"/>
              <a:t> </a:t>
            </a:r>
            <a:r>
              <a:rPr lang="zh-CN" altLang="en-US"/>
              <a:t>自动超参数搜索？</a:t>
            </a:r>
            <a:r>
              <a:rPr lang="en-US" altLang="zh-CN"/>
              <a:t> </a:t>
            </a:r>
            <a:endParaRPr lang="en-US" altLang="zh-CN"/>
          </a:p>
          <a:p>
            <a:pPr marL="0" indent="0">
              <a:buNone/>
            </a:pPr>
            <a:endParaRPr lang="en-US" altLang="zh-CN"/>
          </a:p>
          <a:p>
            <a:pPr marL="0" indent="0">
              <a:buNone/>
            </a:pPr>
            <a:r>
              <a:rPr lang="zh-CN" altLang="en-US"/>
              <a:t>还有这个指标感觉不符合物理直觉：存在逻辑和量纲上的不自洽：</a:t>
            </a:r>
            <a:r>
              <a:rPr lang="en-US" altLang="zh-CN"/>
              <a:t> log(s*_t | ...) </a:t>
            </a:r>
            <a:r>
              <a:rPr lang="zh-CN" altLang="en-US"/>
              <a:t>是一个概率的对数值（通常是负数），而</a:t>
            </a:r>
            <a:r>
              <a:rPr lang="en-US" altLang="zh-CN"/>
              <a:t> I(y = y*) </a:t>
            </a:r>
            <a:r>
              <a:rPr lang="zh-CN" altLang="en-US"/>
              <a:t>是一个</a:t>
            </a:r>
            <a:r>
              <a:rPr lang="en-US" altLang="zh-CN"/>
              <a:t>0</a:t>
            </a:r>
            <a:r>
              <a:rPr lang="zh-CN" altLang="en-US"/>
              <a:t>或</a:t>
            </a:r>
            <a:r>
              <a:rPr lang="en-US" altLang="zh-CN"/>
              <a:t>1</a:t>
            </a:r>
            <a:r>
              <a:rPr lang="zh-CN" altLang="en-US"/>
              <a:t>的指示器。将一个负数和一个</a:t>
            </a:r>
            <a:r>
              <a:rPr lang="en-US" altLang="zh-CN"/>
              <a:t>0/1</a:t>
            </a:r>
            <a:r>
              <a:rPr lang="zh-CN" altLang="en-US"/>
              <a:t>数直接相加，在数学上我觉得有点</a:t>
            </a:r>
            <a:r>
              <a:rPr lang="en-US" altLang="zh-CN"/>
              <a:t>“</a:t>
            </a:r>
            <a:r>
              <a:rPr lang="zh-CN" altLang="en-US"/>
              <a:t>奇怪</a:t>
            </a:r>
            <a:r>
              <a:rPr lang="en-US" altLang="zh-CN"/>
              <a:t>”</a:t>
            </a:r>
            <a:r>
              <a:rPr lang="zh-CN" altLang="en-US"/>
              <a:t>，其物理意义怎么解释</a:t>
            </a:r>
            <a:r>
              <a:rPr lang="zh-CN" altLang="en-US"/>
              <a:t>最好？</a:t>
            </a:r>
            <a:endParaRPr lang="zh-CN" altLang="en-US"/>
          </a:p>
          <a:p>
            <a:pPr marL="0" indent="0">
              <a:buNone/>
            </a:pPr>
            <a:endParaRPr lang="en-US" altLang="zh-CN"/>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sym typeface="+mn-ea"/>
              </a:rPr>
              <a:t>RC reward discussion - Potential </a:t>
            </a:r>
            <a:r>
              <a:rPr lang="en-US" altLang="zh-CN">
                <a:sym typeface="+mn-ea"/>
              </a:rPr>
              <a:t>Improvements</a:t>
            </a:r>
            <a:endParaRPr lang="en-US" altLang="zh-CN">
              <a:sym typeface="+mn-ea"/>
            </a:endParaRPr>
          </a:p>
        </p:txBody>
      </p:sp>
      <p:sp>
        <p:nvSpPr>
          <p:cNvPr id="3" name="内容占位符 2"/>
          <p:cNvSpPr>
            <a:spLocks noGrp="1"/>
          </p:cNvSpPr>
          <p:nvPr>
            <p:ph idx="1"/>
            <p:custDataLst>
              <p:tags r:id="rId2"/>
            </p:custDataLst>
          </p:nvPr>
        </p:nvSpPr>
        <p:spPr>
          <a:xfrm>
            <a:off x="608330" y="1490345"/>
            <a:ext cx="10968990" cy="5291455"/>
          </a:xfrm>
        </p:spPr>
        <p:txBody>
          <a:bodyPr/>
          <a:p>
            <a:r>
              <a:rPr lang="zh-CN" altLang="en-US"/>
              <a:t>核心思想：能否设计一个折中但依然</a:t>
            </a:r>
            <a:r>
              <a:rPr lang="en-US" altLang="zh-CN"/>
              <a:t>work</a:t>
            </a:r>
            <a:r>
              <a:rPr lang="zh-CN" altLang="en-US"/>
              <a:t>的方案，用外部信息来</a:t>
            </a:r>
            <a:r>
              <a:rPr lang="en-US" altLang="zh-CN"/>
              <a:t>“</a:t>
            </a:r>
            <a:r>
              <a:rPr lang="zh-CN" altLang="en-US"/>
              <a:t>塑形</a:t>
            </a:r>
            <a:r>
              <a:rPr lang="en-US" altLang="zh-CN"/>
              <a:t>”</a:t>
            </a:r>
            <a:r>
              <a:rPr lang="zh-CN" altLang="en-US"/>
              <a:t>奖励，但避免价值函数直接</a:t>
            </a:r>
            <a:r>
              <a:rPr lang="en-US" altLang="zh-CN"/>
              <a:t>“</a:t>
            </a:r>
            <a:r>
              <a:rPr lang="zh-CN" altLang="en-US"/>
              <a:t>看到</a:t>
            </a:r>
            <a:r>
              <a:rPr lang="en-US" altLang="zh-CN"/>
              <a:t>”</a:t>
            </a:r>
            <a:r>
              <a:rPr lang="zh-CN" altLang="en-US"/>
              <a:t>标签。</a:t>
            </a:r>
            <a:endParaRPr lang="zh-CN" altLang="en-US"/>
          </a:p>
          <a:p>
            <a:r>
              <a:rPr lang="zh-CN" altLang="en-US"/>
              <a:t>做</a:t>
            </a:r>
            <a:r>
              <a:rPr lang="en-US" altLang="zh-CN"/>
              <a:t>reward shaping</a:t>
            </a:r>
            <a:r>
              <a:rPr lang="zh-CN" altLang="en-US"/>
              <a:t>出现奖励破解的风险应当小于监督信号泄露造成照抄答案的</a:t>
            </a:r>
            <a:r>
              <a:rPr lang="zh-CN" altLang="en-US"/>
              <a:t>风险</a:t>
            </a:r>
            <a:endParaRPr lang="zh-CN" altLang="en-US"/>
          </a:p>
          <a:p>
            <a:endParaRPr lang="zh-CN" altLang="en-US"/>
          </a:p>
          <a:p>
            <a:r>
              <a:rPr lang="zh-CN" altLang="en-US"/>
              <a:t>需要一个密集的奖励信号来引导</a:t>
            </a:r>
            <a:r>
              <a:rPr lang="en-US" altLang="zh-CN"/>
              <a:t> Vφ</a:t>
            </a:r>
            <a:r>
              <a:rPr lang="zh-CN" altLang="en-US"/>
              <a:t>，但我们不想告诉它</a:t>
            </a:r>
            <a:r>
              <a:rPr lang="en-US" altLang="zh-CN"/>
              <a:t>“</a:t>
            </a:r>
            <a:r>
              <a:rPr lang="zh-CN" altLang="en-US"/>
              <a:t>正确答案是什么</a:t>
            </a:r>
            <a:r>
              <a:rPr lang="en-US" altLang="zh-CN"/>
              <a:t>”</a:t>
            </a:r>
            <a:r>
              <a:rPr lang="zh-CN" altLang="en-US"/>
              <a:t>，只想告诉它</a:t>
            </a:r>
            <a:r>
              <a:rPr lang="en-US" altLang="zh-CN"/>
              <a:t>“</a:t>
            </a:r>
            <a:r>
              <a:rPr lang="zh-CN" altLang="en-US"/>
              <a:t>你这一步走得好不好</a:t>
            </a:r>
            <a:r>
              <a:rPr lang="en-US" altLang="zh-CN"/>
              <a:t>”</a:t>
            </a:r>
            <a:endParaRPr lang="en-US" altLang="zh-CN"/>
          </a:p>
          <a:p>
            <a:r>
              <a:rPr lang="zh-CN" altLang="en-US"/>
              <a:t>能不能这样做：生成伪过程标签：</a:t>
            </a:r>
            <a:r>
              <a:rPr lang="en-US" altLang="zh-CN"/>
              <a:t> </a:t>
            </a:r>
            <a:r>
              <a:rPr lang="zh-CN" altLang="en-US"/>
              <a:t>在训练开始前，使用强大的教师模型（</a:t>
            </a:r>
            <a:r>
              <a:rPr lang="en-US" altLang="zh-CN"/>
              <a:t>GPT-5</a:t>
            </a:r>
            <a:r>
              <a:rPr lang="zh-CN" altLang="en-US"/>
              <a:t>这种）或我们</a:t>
            </a:r>
            <a:r>
              <a:rPr lang="en-US" altLang="zh-CN"/>
              <a:t>SFT</a:t>
            </a:r>
            <a:r>
              <a:rPr lang="zh-CN" altLang="en-US"/>
              <a:t>训练好的基线模型，为训练集中的每个问题生成高质量的推理链</a:t>
            </a:r>
            <a:endParaRPr lang="zh-CN" altLang="en-US"/>
          </a:p>
          <a:p>
            <a:r>
              <a:rPr lang="zh-CN" altLang="en-US"/>
              <a:t>定义</a:t>
            </a:r>
            <a:r>
              <a:rPr lang="zh-CN" altLang="en-US" i="1"/>
              <a:t>过程评估函数</a:t>
            </a:r>
            <a:r>
              <a:rPr lang="en-US" altLang="zh-CN"/>
              <a:t> P(st | ht-1)</a:t>
            </a:r>
            <a:r>
              <a:rPr lang="zh-CN" altLang="en-US"/>
              <a:t>：</a:t>
            </a:r>
            <a:r>
              <a:rPr lang="en-US" altLang="zh-CN"/>
              <a:t> </a:t>
            </a:r>
            <a:r>
              <a:rPr lang="zh-CN" altLang="en-US"/>
              <a:t>设计一个函数来评估模型生成的步骤</a:t>
            </a:r>
            <a:r>
              <a:rPr lang="en-US" altLang="zh-CN"/>
              <a:t> st </a:t>
            </a:r>
            <a:r>
              <a:rPr lang="zh-CN" altLang="en-US"/>
              <a:t>与教师模型生成的</a:t>
            </a:r>
            <a:r>
              <a:rPr lang="en-US" altLang="zh-CN"/>
              <a:t>“</a:t>
            </a:r>
            <a:r>
              <a:rPr lang="zh-CN" altLang="en-US"/>
              <a:t>黄金</a:t>
            </a:r>
            <a:r>
              <a:rPr lang="en-US" altLang="zh-CN"/>
              <a:t>golden</a:t>
            </a:r>
            <a:r>
              <a:rPr lang="zh-CN" altLang="en-US"/>
              <a:t>步骤</a:t>
            </a:r>
            <a:r>
              <a:rPr lang="en-US" altLang="zh-CN"/>
              <a:t>” s't </a:t>
            </a:r>
            <a:r>
              <a:rPr lang="zh-CN" altLang="en-US"/>
              <a:t>的相似度。简单的想法：（</a:t>
            </a:r>
            <a:r>
              <a:rPr lang="en-US" altLang="zh-CN"/>
              <a:t>BLEU/ROUGE</a:t>
            </a:r>
            <a:r>
              <a:rPr lang="zh-CN" altLang="en-US"/>
              <a:t>分数），复杂的</a:t>
            </a:r>
            <a:r>
              <a:rPr lang="zh-CN" altLang="en-US"/>
              <a:t>想法：（用另一个评判模型打分）</a:t>
            </a:r>
            <a:endParaRPr lang="zh-CN" altLang="en-US"/>
          </a:p>
          <a:p>
            <a:pPr marL="0" indent="0">
              <a:buNone/>
            </a:pPr>
            <a:endParaRPr lang="zh-CN" altLang="en-US"/>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sym typeface="+mn-ea"/>
              </a:rPr>
              <a:t>RC reward discussion - Potential Improvements</a:t>
            </a:r>
            <a:endParaRPr lang="zh-CN" altLang="en-US"/>
          </a:p>
        </p:txBody>
      </p:sp>
      <p:sp>
        <p:nvSpPr>
          <p:cNvPr id="3" name="内容占位符 2"/>
          <p:cNvSpPr>
            <a:spLocks noGrp="1"/>
          </p:cNvSpPr>
          <p:nvPr>
            <p:ph idx="1"/>
            <p:custDataLst>
              <p:tags r:id="rId2"/>
            </p:custDataLst>
          </p:nvPr>
        </p:nvSpPr>
        <p:spPr/>
        <p:txBody>
          <a:bodyPr>
            <a:normAutofit lnSpcReduction="10000"/>
          </a:bodyPr>
          <a:p>
            <a:r>
              <a:rPr lang="zh-CN" altLang="en-US"/>
              <a:t>定义新的奖励函数：</a:t>
            </a:r>
            <a:endParaRPr lang="zh-CN" altLang="en-US"/>
          </a:p>
          <a:p>
            <a:pPr marL="0" indent="0">
              <a:buNone/>
            </a:pPr>
            <a:r>
              <a:rPr lang="en-US" altLang="zh-CN"/>
              <a:t>rt = P(st | h_t-1) for t &lt; T</a:t>
            </a:r>
            <a:endParaRPr lang="en-US" altLang="zh-CN"/>
          </a:p>
          <a:p>
            <a:pPr marL="0" indent="0">
              <a:buNone/>
            </a:pPr>
            <a:r>
              <a:rPr lang="en-US" altLang="zh-CN"/>
              <a:t>rT = P(sT | h_T-1) + I(y = y*) (</a:t>
            </a:r>
            <a:r>
              <a:rPr lang="zh-CN" altLang="en-US"/>
              <a:t>然后可以加上最终答案的强奖励</a:t>
            </a:r>
            <a:r>
              <a:rPr lang="en-US" altLang="zh-CN"/>
              <a:t>)</a:t>
            </a:r>
            <a:endParaRPr lang="en-US" altLang="zh-CN"/>
          </a:p>
          <a:p>
            <a:pPr marL="0" indent="0">
              <a:buNone/>
            </a:pPr>
            <a:r>
              <a:rPr lang="zh-CN" altLang="en-US"/>
              <a:t>这么做依然解决了稀疏奖励，</a:t>
            </a:r>
            <a:r>
              <a:rPr lang="en-US" altLang="zh-CN"/>
              <a:t> </a:t>
            </a:r>
            <a:r>
              <a:rPr lang="zh-CN" altLang="en-US"/>
              <a:t>但保留了（至少是</a:t>
            </a:r>
            <a:r>
              <a:rPr lang="en-US" altLang="zh-CN"/>
              <a:t>superficial level</a:t>
            </a:r>
            <a:r>
              <a:rPr lang="zh-CN" altLang="en-US"/>
              <a:t>的）自监督。</a:t>
            </a:r>
            <a:r>
              <a:rPr lang="en-US" altLang="zh-CN"/>
              <a:t>Vφ </a:t>
            </a:r>
            <a:r>
              <a:rPr lang="zh-CN" altLang="en-US"/>
              <a:t>学习的目标是预测一个由</a:t>
            </a:r>
            <a:r>
              <a:rPr lang="en-US" altLang="zh-CN"/>
              <a:t>“</a:t>
            </a:r>
            <a:r>
              <a:rPr lang="zh-CN" altLang="en-US"/>
              <a:t>过程质量</a:t>
            </a:r>
            <a:r>
              <a:rPr lang="en-US" altLang="zh-CN"/>
              <a:t>”</a:t>
            </a:r>
            <a:r>
              <a:rPr lang="zh-CN" altLang="en-US"/>
              <a:t>定义的奖励序列，而不是直接预测</a:t>
            </a:r>
            <a:r>
              <a:rPr lang="en-US" altLang="zh-CN"/>
              <a:t>token</a:t>
            </a:r>
            <a:r>
              <a:rPr lang="zh-CN" altLang="en-US"/>
              <a:t>。这在很大程度上仍然是自监督的，因为奖励信号可以视为模型自身行为的函数，并且</a:t>
            </a:r>
            <a:r>
              <a:rPr lang="en-US" altLang="zh-CN"/>
              <a:t>Vφ</a:t>
            </a:r>
            <a:r>
              <a:rPr lang="zh-CN" altLang="en-US"/>
              <a:t>可以作为真正</a:t>
            </a:r>
            <a:r>
              <a:rPr lang="zh-CN" altLang="en-US"/>
              <a:t>的推理质量评估器，其价值变化能真实反映推理过程的连贯性，而不是与</a:t>
            </a:r>
            <a:r>
              <a:rPr lang="en-US" altLang="zh-CN"/>
              <a:t>golden token</a:t>
            </a:r>
            <a:r>
              <a:rPr lang="zh-CN" altLang="en-US"/>
              <a:t>的相似度</a:t>
            </a:r>
            <a:endParaRPr lang="zh-CN" altLang="en-US"/>
          </a:p>
          <a:p>
            <a:pPr marL="0" indent="0">
              <a:buNone/>
            </a:pPr>
            <a:r>
              <a:rPr lang="zh-CN" altLang="en-US" b="1"/>
              <a:t>难度转移到设计这个函数</a:t>
            </a:r>
            <a:r>
              <a:rPr lang="en-US" altLang="zh-CN" b="1"/>
              <a:t>/</a:t>
            </a:r>
            <a:r>
              <a:rPr lang="zh-CN" altLang="en-US" b="1"/>
              <a:t>寻找更强的监督</a:t>
            </a:r>
            <a:r>
              <a:rPr lang="zh-CN" altLang="en-US" b="1"/>
              <a:t>者</a:t>
            </a:r>
            <a:endParaRPr lang="zh-CN" altLang="en-US" b="1"/>
          </a:p>
          <a:p>
            <a:pPr marL="0" indent="0">
              <a:buNone/>
            </a:pPr>
            <a:r>
              <a:rPr lang="en-US" altLang="zh-CN"/>
              <a:t>* </a:t>
            </a:r>
            <a:r>
              <a:rPr lang="zh-CN" altLang="en-US"/>
              <a:t>缓解稀疏奖励的另外一个办法：</a:t>
            </a:r>
            <a:r>
              <a:rPr lang="en-US" altLang="zh-CN"/>
              <a:t>Curriculum learning</a:t>
            </a:r>
            <a:r>
              <a:rPr lang="zh-CN" altLang="en-US"/>
              <a:t>课程学习的思想：</a:t>
            </a:r>
            <a:endParaRPr lang="zh-CN" altLang="en-US"/>
          </a:p>
          <a:p>
            <a:pPr marL="0" indent="0">
              <a:buNone/>
            </a:pPr>
            <a:r>
              <a:rPr lang="zh-CN" altLang="en-US"/>
              <a:t>我们承认最终奖励是稀疏的，</a:t>
            </a:r>
            <a:r>
              <a:rPr lang="zh-CN" altLang="en-US"/>
              <a:t>期望通过设计一个学习</a:t>
            </a:r>
            <a:r>
              <a:rPr lang="en-US" altLang="zh-CN"/>
              <a:t>“</a:t>
            </a:r>
            <a:r>
              <a:rPr lang="zh-CN" altLang="en-US"/>
              <a:t>课程</a:t>
            </a:r>
            <a:r>
              <a:rPr lang="en-US" altLang="zh-CN"/>
              <a:t>”</a:t>
            </a:r>
            <a:r>
              <a:rPr lang="zh-CN" altLang="en-US"/>
              <a:t>来让模型逐步适应这种稀疏性。</a:t>
            </a:r>
            <a:endParaRPr lang="zh-CN" altLang="en-US"/>
          </a:p>
        </p:txBody>
      </p:sp>
    </p:spTree>
    <p:custDataLst>
      <p:tags r:id="rId3"/>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sym typeface="+mn-ea"/>
              </a:rPr>
              <a:t>RC reward discussion - Potential Improvements</a:t>
            </a:r>
            <a:endParaRPr lang="zh-CN" altLang="en-US"/>
          </a:p>
        </p:txBody>
      </p:sp>
      <p:sp>
        <p:nvSpPr>
          <p:cNvPr id="3" name="内容占位符 2"/>
          <p:cNvSpPr>
            <a:spLocks noGrp="1"/>
          </p:cNvSpPr>
          <p:nvPr>
            <p:ph idx="1"/>
            <p:custDataLst>
              <p:tags r:id="rId2"/>
            </p:custDataLst>
          </p:nvPr>
        </p:nvSpPr>
        <p:spPr/>
        <p:txBody>
          <a:bodyPr/>
          <a:p>
            <a:r>
              <a:rPr lang="en-US" altLang="zh-CN">
                <a:sym typeface="+mn-ea"/>
              </a:rPr>
              <a:t>Curriculum learning</a:t>
            </a:r>
            <a:r>
              <a:rPr lang="zh-CN" altLang="en-US">
                <a:sym typeface="+mn-ea"/>
              </a:rPr>
              <a:t>：</a:t>
            </a:r>
            <a:endParaRPr lang="zh-CN" altLang="en-US">
              <a:sym typeface="+mn-ea"/>
            </a:endParaRPr>
          </a:p>
          <a:p>
            <a:pPr marL="0" indent="0">
              <a:buNone/>
            </a:pPr>
            <a:r>
              <a:rPr lang="zh-CN" altLang="en-US">
                <a:sym typeface="+mn-ea"/>
              </a:rPr>
              <a:t>阶段一以短链</a:t>
            </a:r>
            <a:r>
              <a:rPr lang="zh-CN" altLang="en-US">
                <a:sym typeface="+mn-ea"/>
              </a:rPr>
              <a:t>推理为主：</a:t>
            </a:r>
            <a:r>
              <a:rPr lang="en-US" altLang="zh-CN">
                <a:sym typeface="+mn-ea"/>
              </a:rPr>
              <a:t> </a:t>
            </a:r>
            <a:r>
              <a:rPr lang="zh-CN" altLang="en-US">
                <a:sym typeface="+mn-ea"/>
              </a:rPr>
              <a:t>在训练初期，只使用</a:t>
            </a:r>
            <a:r>
              <a:rPr lang="en-US" altLang="zh-CN">
                <a:sym typeface="+mn-ea"/>
              </a:rPr>
              <a:t>GSM8K</a:t>
            </a:r>
            <a:r>
              <a:rPr lang="zh-CN" altLang="en-US">
                <a:sym typeface="+mn-ea"/>
              </a:rPr>
              <a:t>中推理链长度小于某个阈值（如</a:t>
            </a:r>
            <a:r>
              <a:rPr lang="en-US" altLang="zh-CN">
                <a:sym typeface="+mn-ea"/>
              </a:rPr>
              <a:t>5</a:t>
            </a:r>
            <a:r>
              <a:rPr lang="zh-CN" altLang="en-US">
                <a:sym typeface="+mn-ea"/>
              </a:rPr>
              <a:t>步）的样本。这样模型能更快地得到最终奖励反馈，建立对价值函数的初步认知。</a:t>
            </a:r>
            <a:endParaRPr lang="zh-CN" altLang="en-US">
              <a:sym typeface="+mn-ea"/>
            </a:endParaRPr>
          </a:p>
          <a:p>
            <a:pPr marL="0" indent="0">
              <a:buNone/>
            </a:pPr>
            <a:r>
              <a:rPr lang="zh-CN" altLang="en-US">
                <a:sym typeface="+mn-ea"/>
              </a:rPr>
              <a:t>阶段二逐步加长：</a:t>
            </a:r>
            <a:r>
              <a:rPr lang="en-US" altLang="zh-CN">
                <a:sym typeface="+mn-ea"/>
              </a:rPr>
              <a:t> </a:t>
            </a:r>
            <a:r>
              <a:rPr lang="zh-CN" altLang="en-US">
                <a:sym typeface="+mn-ea"/>
              </a:rPr>
              <a:t>随着训练的进行，逐步增加样本推理链长度阈值，最终过渡到使用全部数据。</a:t>
            </a:r>
            <a:endParaRPr lang="zh-CN" altLang="en-US">
              <a:sym typeface="+mn-ea"/>
            </a:endParaRPr>
          </a:p>
          <a:p>
            <a:pPr marL="0" indent="0">
              <a:buNone/>
            </a:pPr>
            <a:endParaRPr lang="zh-CN" altLang="en-US">
              <a:sym typeface="+mn-ea"/>
            </a:endParaRPr>
          </a:p>
          <a:p>
            <a:pPr marL="0" indent="0">
              <a:buNone/>
            </a:pPr>
            <a:r>
              <a:rPr lang="zh-CN" altLang="en-US">
                <a:sym typeface="+mn-ea"/>
              </a:rPr>
              <a:t>该方法完全保留了</a:t>
            </a:r>
            <a:r>
              <a:rPr lang="en-US" altLang="zh-CN">
                <a:sym typeface="+mn-ea"/>
              </a:rPr>
              <a:t>BCR</a:t>
            </a:r>
            <a:r>
              <a:rPr lang="zh-CN" altLang="en-US">
                <a:sym typeface="+mn-ea"/>
              </a:rPr>
              <a:t>的原始、纯粹的形式，没有引入任何外部监督信号。并且有效缓解了学习困难，通过由易到难的课程，</a:t>
            </a:r>
            <a:r>
              <a:rPr lang="zh-CN" altLang="en-US">
                <a:sym typeface="+mn-ea"/>
              </a:rPr>
              <a:t>试图让模型逐步学会进行长程价值估计</a:t>
            </a:r>
            <a:endParaRPr lang="zh-CN" altLang="en-US">
              <a:sym typeface="+mn-ea"/>
            </a:endParaRPr>
          </a:p>
          <a:p>
            <a:pPr marL="0" indent="0">
              <a:buNone/>
            </a:pPr>
            <a:r>
              <a:rPr lang="zh-CN" altLang="en-US" b="1">
                <a:sym typeface="+mn-ea"/>
              </a:rPr>
              <a:t>难度转移到设计</a:t>
            </a:r>
            <a:r>
              <a:rPr lang="en-US" altLang="zh-CN" b="1">
                <a:sym typeface="+mn-ea"/>
              </a:rPr>
              <a:t>”</a:t>
            </a:r>
            <a:r>
              <a:rPr lang="zh-CN" altLang="en-US" b="1">
                <a:sym typeface="+mn-ea"/>
              </a:rPr>
              <a:t>课程表</a:t>
            </a:r>
            <a:r>
              <a:rPr lang="en-US" altLang="zh-CN" b="1">
                <a:sym typeface="+mn-ea"/>
              </a:rPr>
              <a:t>“</a:t>
            </a:r>
            <a:endParaRPr lang="en-US" altLang="zh-CN" b="1">
              <a:sym typeface="+mn-ea"/>
            </a:endParaRPr>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fontScale="90000"/>
          </a:bodyPr>
          <a:p>
            <a:r>
              <a:rPr lang="en-US" altLang="zh-CN">
                <a:sym typeface="+mn-ea"/>
              </a:rPr>
              <a:t>RC reward discussion - Potential Improvements</a:t>
            </a:r>
            <a:endParaRPr lang="zh-CN" altLang="en-US"/>
          </a:p>
        </p:txBody>
      </p:sp>
      <p:sp>
        <p:nvSpPr>
          <p:cNvPr id="3" name="内容占位符 2"/>
          <p:cNvSpPr>
            <a:spLocks noGrp="1"/>
          </p:cNvSpPr>
          <p:nvPr>
            <p:ph idx="1"/>
            <p:custDataLst>
              <p:tags r:id="rId2"/>
            </p:custDataLst>
          </p:nvPr>
        </p:nvSpPr>
        <p:spPr/>
        <p:txBody>
          <a:bodyPr>
            <a:normAutofit lnSpcReduction="20000"/>
          </a:bodyPr>
          <a:p>
            <a:r>
              <a:rPr lang="zh-CN" altLang="en-US"/>
              <a:t>另外考虑可以</a:t>
            </a:r>
            <a:r>
              <a:rPr lang="zh-CN" altLang="en-US" b="1"/>
              <a:t>加一个基线</a:t>
            </a:r>
            <a:r>
              <a:rPr lang="zh-CN" altLang="en-US"/>
              <a:t>：基于模型内在置信度的奖励</a:t>
            </a:r>
            <a:r>
              <a:rPr lang="zh-CN" altLang="en-US"/>
              <a:t>作为高风险基线，完全回归自监督，无需任何额外标签或教师模型，</a:t>
            </a:r>
            <a:endParaRPr lang="zh-CN" altLang="en-US"/>
          </a:p>
          <a:p>
            <a:endParaRPr lang="zh-CN" altLang="en-US"/>
          </a:p>
          <a:p>
            <a:r>
              <a:rPr lang="en-US" altLang="zh-CN"/>
              <a:t>rt = πθ(st | ht-1)</a:t>
            </a:r>
            <a:r>
              <a:rPr lang="zh-CN" altLang="en-US"/>
              <a:t>，即模型对自身生成</a:t>
            </a:r>
            <a:r>
              <a:rPr lang="en-US" altLang="zh-CN"/>
              <a:t>token</a:t>
            </a:r>
            <a:r>
              <a:rPr lang="zh-CN" altLang="en-US"/>
              <a:t>的概率当奖励</a:t>
            </a:r>
            <a:r>
              <a:rPr lang="zh-CN" altLang="en-US"/>
              <a:t>信号</a:t>
            </a:r>
            <a:endParaRPr lang="zh-CN" altLang="en-US"/>
          </a:p>
          <a:p>
            <a:endParaRPr lang="zh-CN" altLang="en-US"/>
          </a:p>
          <a:p>
            <a:r>
              <a:rPr lang="zh-CN" altLang="en-US">
                <a:sym typeface="+mn-ea"/>
              </a:rPr>
              <a:t>但有其固有风险：我理解的是，</a:t>
            </a:r>
            <a:r>
              <a:rPr lang="zh-CN" altLang="en-US"/>
              <a:t>这正是我们论文前面部分中批评的</a:t>
            </a:r>
            <a:r>
              <a:rPr lang="zh-CN" altLang="en-US" i="1"/>
              <a:t>熵最小化的变体</a:t>
            </a:r>
            <a:r>
              <a:rPr lang="zh-CN" altLang="en-US"/>
              <a:t>。它会鼓励模型在每一步都变得</a:t>
            </a:r>
            <a:r>
              <a:rPr lang="en-US" altLang="zh-CN"/>
              <a:t>“</a:t>
            </a:r>
            <a:r>
              <a:rPr lang="zh-CN" altLang="en-US"/>
              <a:t>自信</a:t>
            </a:r>
            <a:r>
              <a:rPr lang="en-US" altLang="zh-CN"/>
              <a:t>”</a:t>
            </a:r>
            <a:r>
              <a:rPr lang="zh-CN" altLang="en-US"/>
              <a:t>，容易导致</a:t>
            </a:r>
            <a:r>
              <a:rPr lang="en-US" altLang="zh-CN"/>
              <a:t>“</a:t>
            </a:r>
            <a:r>
              <a:rPr lang="zh-CN" altLang="en-US"/>
              <a:t>自信地错误</a:t>
            </a:r>
            <a:r>
              <a:rPr lang="en-US" altLang="zh-CN"/>
              <a:t>”</a:t>
            </a:r>
            <a:r>
              <a:rPr lang="zh-CN" altLang="en-US"/>
              <a:t>，与我们提升忠实性</a:t>
            </a:r>
            <a:r>
              <a:rPr lang="en-US" altLang="zh-CN"/>
              <a:t>faithfulness</a:t>
            </a:r>
            <a:r>
              <a:rPr lang="zh-CN" altLang="en-US"/>
              <a:t>的目标背道而驰。但可以作为一个强有力的对比基线，来凸显我们方法的优势。</a:t>
            </a:r>
            <a:endParaRPr lang="zh-CN" altLang="en-US"/>
          </a:p>
          <a:p>
            <a:r>
              <a:rPr lang="zh-CN" altLang="en-US" b="1">
                <a:highlight>
                  <a:srgbClr val="FFFF00"/>
                </a:highlight>
              </a:rPr>
              <a:t>今天开会时提到的</a:t>
            </a:r>
            <a:r>
              <a:rPr lang="en-US" altLang="zh-CN" b="1">
                <a:highlight>
                  <a:srgbClr val="FFFF00"/>
                </a:highlight>
              </a:rPr>
              <a:t>AnyMAC</a:t>
            </a:r>
            <a:r>
              <a:rPr lang="zh-CN" altLang="en-US" b="1">
                <a:highlight>
                  <a:srgbClr val="FFFF00"/>
                </a:highlight>
              </a:rPr>
              <a:t>模型的思路</a:t>
            </a:r>
            <a:r>
              <a:rPr lang="en-US" altLang="zh-CN" b="1">
                <a:highlight>
                  <a:srgbClr val="FFFF00"/>
                </a:highlight>
              </a:rPr>
              <a:t>, multiagent LLM: </a:t>
            </a:r>
            <a:r>
              <a:rPr lang="zh-CN" altLang="en-US" b="1">
                <a:highlight>
                  <a:srgbClr val="FFFF00"/>
                </a:highlight>
              </a:rPr>
              <a:t>一个高级别</a:t>
            </a:r>
            <a:r>
              <a:rPr lang="en-US" altLang="zh-CN" b="1">
                <a:highlight>
                  <a:srgbClr val="FFFF00"/>
                </a:highlight>
              </a:rPr>
              <a:t>LLM</a:t>
            </a:r>
            <a:r>
              <a:rPr lang="zh-CN" altLang="en-US" b="1">
                <a:highlight>
                  <a:srgbClr val="FFFF00"/>
                </a:highlight>
              </a:rPr>
              <a:t>指导低级别的</a:t>
            </a:r>
            <a:endParaRPr lang="zh-CN" altLang="en-US" b="1">
              <a:highlight>
                <a:srgbClr val="FFFF00"/>
              </a:highlight>
            </a:endParaRPr>
          </a:p>
          <a:p>
            <a:pPr marL="0" indent="0">
              <a:buNone/>
            </a:pPr>
            <a:r>
              <a:rPr lang="en-US" altLang="zh-CN" b="1">
                <a:highlight>
                  <a:srgbClr val="FFFF00"/>
                </a:highlight>
              </a:rPr>
              <a:t>Manager , </a:t>
            </a:r>
            <a:r>
              <a:rPr lang="zh-CN" altLang="en-US" b="1">
                <a:highlight>
                  <a:srgbClr val="FFFF00"/>
                </a:highlight>
              </a:rPr>
              <a:t>一个上面的</a:t>
            </a:r>
            <a:r>
              <a:rPr lang="en-US" altLang="zh-CN" b="1">
                <a:highlight>
                  <a:srgbClr val="FFFF00"/>
                </a:highlight>
              </a:rPr>
              <a:t>LLM</a:t>
            </a:r>
            <a:r>
              <a:rPr lang="zh-CN" altLang="en-US" b="1">
                <a:highlight>
                  <a:srgbClr val="FFFF00"/>
                </a:highlight>
              </a:rPr>
              <a:t>输出</a:t>
            </a:r>
            <a:r>
              <a:rPr lang="en-US" altLang="zh-CN" b="1">
                <a:highlight>
                  <a:srgbClr val="FFFF00"/>
                </a:highlight>
              </a:rPr>
              <a:t>prompt</a:t>
            </a:r>
            <a:r>
              <a:rPr lang="zh-CN" altLang="en-US" b="1">
                <a:highlight>
                  <a:srgbClr val="FFFF00"/>
                </a:highlight>
              </a:rPr>
              <a:t>指导下一步做什么</a:t>
            </a:r>
            <a:r>
              <a:rPr lang="en-US" altLang="zh-CN" b="1">
                <a:highlight>
                  <a:srgbClr val="FFFF00"/>
                </a:highlight>
              </a:rPr>
              <a:t>(Planner), </a:t>
            </a:r>
            <a:r>
              <a:rPr lang="zh-CN" altLang="en-US" b="1">
                <a:highlight>
                  <a:srgbClr val="FFFF00"/>
                </a:highlight>
              </a:rPr>
              <a:t>规模小一些</a:t>
            </a:r>
            <a:r>
              <a:rPr lang="en-US" altLang="zh-CN" b="1">
                <a:highlight>
                  <a:srgbClr val="FFFF00"/>
                </a:highlight>
              </a:rPr>
              <a:t>(</a:t>
            </a:r>
            <a:r>
              <a:rPr lang="zh-CN" altLang="en-US" b="1">
                <a:highlight>
                  <a:srgbClr val="FFFF00"/>
                </a:highlight>
              </a:rPr>
              <a:t>因为不需要输出整个推理过程</a:t>
            </a:r>
            <a:r>
              <a:rPr lang="en-US" altLang="zh-CN" b="1">
                <a:highlight>
                  <a:srgbClr val="FFFF00"/>
                </a:highlight>
              </a:rPr>
              <a:t>), </a:t>
            </a:r>
            <a:r>
              <a:rPr lang="zh-CN" altLang="en-US" b="1">
                <a:highlight>
                  <a:srgbClr val="FFFF00"/>
                </a:highlight>
              </a:rPr>
              <a:t>或者作为</a:t>
            </a:r>
            <a:r>
              <a:rPr lang="en-US" altLang="zh-CN" b="1">
                <a:highlight>
                  <a:srgbClr val="FFFF00"/>
                </a:highlight>
              </a:rPr>
              <a:t>verifier. </a:t>
            </a:r>
            <a:r>
              <a:rPr lang="zh-CN" altLang="en-US" b="1">
                <a:highlight>
                  <a:srgbClr val="FFFF00"/>
                </a:highlight>
              </a:rPr>
              <a:t>做成</a:t>
            </a:r>
            <a:r>
              <a:rPr lang="en-US" altLang="zh-CN" b="1">
                <a:highlight>
                  <a:srgbClr val="FFFF00"/>
                </a:highlight>
              </a:rPr>
              <a:t>step level,</a:t>
            </a:r>
            <a:r>
              <a:rPr lang="zh-CN" altLang="en-US" b="1">
                <a:highlight>
                  <a:srgbClr val="FFFF00"/>
                </a:highlight>
              </a:rPr>
              <a:t>不是</a:t>
            </a:r>
            <a:r>
              <a:rPr lang="en-US" altLang="zh-CN" b="1">
                <a:highlight>
                  <a:srgbClr val="FFFF00"/>
                </a:highlight>
              </a:rPr>
              <a:t>token level. </a:t>
            </a:r>
            <a:r>
              <a:rPr lang="zh-CN" altLang="en-US" b="1">
                <a:highlight>
                  <a:srgbClr val="FFFF00"/>
                </a:highlight>
              </a:rPr>
              <a:t>比如输入前面几个步骤给</a:t>
            </a:r>
            <a:r>
              <a:rPr lang="en-US" altLang="zh-CN" b="1">
                <a:highlight>
                  <a:srgbClr val="FFFF00"/>
                </a:highlight>
              </a:rPr>
              <a:t>Manager</a:t>
            </a:r>
            <a:endParaRPr lang="en-US" altLang="zh-CN" b="1">
              <a:highlight>
                <a:srgbClr val="FFFF00"/>
              </a:highlight>
            </a:endParaRPr>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3.xml><?xml version="1.0" encoding="utf-8"?>
<p:tagLst xmlns:p="http://schemas.openxmlformats.org/presentationml/2006/main">
  <p:tag name="KSO_WM_BEAUTIFY_FLAG" val="#wm#"/>
  <p:tag name="KSO_WM_TEMPLATE_CATEGORY" val="custom"/>
  <p:tag name="KSO_WM_TEMPLATE_INDEX" val="20205081"/>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6.xml><?xml version="1.0" encoding="utf-8"?>
<p:tagLst xmlns:p="http://schemas.openxmlformats.org/presentationml/2006/main">
  <p:tag name="KSO_WM_BEAUTIFY_FLAG" val="#wm#"/>
  <p:tag name="KSO_WM_TEMPLATE_CATEGORY" val="custom"/>
  <p:tag name="KSO_WM_TEMPLATE_INDEX" val="20205081"/>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BEAUTIFY_FLAG" val="#wm#"/>
  <p:tag name="KSO_WM_TEMPLATE_CATEGORY" val="custom"/>
  <p:tag name="KSO_WM_TEMPLATE_INDEX" val="20205081"/>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2.xml><?xml version="1.0" encoding="utf-8"?>
<p:tagLst xmlns:p="http://schemas.openxmlformats.org/presentationml/2006/main">
  <p:tag name="KSO_WM_BEAUTIFY_FLAG" val="#wm#"/>
  <p:tag name="KSO_WM_TEMPLATE_CATEGORY" val="custom"/>
  <p:tag name="KSO_WM_TEMPLATE_INDEX" val="20205081"/>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5.xml><?xml version="1.0" encoding="utf-8"?>
<p:tagLst xmlns:p="http://schemas.openxmlformats.org/presentationml/2006/main">
  <p:tag name="KSO_WM_BEAUTIFY_FLAG" val="#wm#"/>
  <p:tag name="KSO_WM_TEMPLATE_CATEGORY" val="custom"/>
  <p:tag name="KSO_WM_TEMPLATE_INDEX" val="20205081"/>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8.xml><?xml version="1.0" encoding="utf-8"?>
<p:tagLst xmlns:p="http://schemas.openxmlformats.org/presentationml/2006/main">
  <p:tag name="KSO_WM_BEAUTIFY_FLAG" val="#wm#"/>
  <p:tag name="KSO_WM_TEMPLATE_CATEGORY" val="custom"/>
  <p:tag name="KSO_WM_TEMPLATE_INDEX" val="20205081"/>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0.xml><?xml version="1.0" encoding="utf-8"?>
<p:tagLst xmlns:p="http://schemas.openxmlformats.org/presentationml/2006/main">
  <p:tag name="KSO_WM_BEAUTIFY_FLAG" val="#wm#"/>
  <p:tag name="KSO_WM_TEMPLATE_CATEGORY" val="custom"/>
  <p:tag name="KSO_WM_TEMPLATE_INDEX" val="20205081"/>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3.xml><?xml version="1.0" encoding="utf-8"?>
<p:tagLst xmlns:p="http://schemas.openxmlformats.org/presentationml/2006/main">
  <p:tag name="KSO_WM_BEAUTIFY_FLAG" val="#wm#"/>
  <p:tag name="KSO_WM_TEMPLATE_CATEGORY" val="custom"/>
  <p:tag name="KSO_WM_TEMPLATE_INDEX" val="20205081"/>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2.xml><?xml version="1.0" encoding="utf-8"?>
<p:tagLst xmlns:p="http://schemas.openxmlformats.org/presentationml/2006/main">
  <p:tag name="KSO_WM_BEAUTIFY_FLAG" val="#wm#"/>
  <p:tag name="KSO_WM_TEMPLATE_CATEGORY" val="custom"/>
  <p:tag name="KSO_WM_TEMPLATE_INDEX" val="20205081"/>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BEAUTIFY_FLAG" val="#wm#"/>
  <p:tag name="KSO_WM_TEMPLATE_CATEGORY" val="custom"/>
  <p:tag name="KSO_WM_TEMPLATE_INDEX" val="20205081"/>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8.xml><?xml version="1.0" encoding="utf-8"?>
<p:tagLst xmlns:p="http://schemas.openxmlformats.org/presentationml/2006/main">
  <p:tag name="KSO_WM_BEAUTIFY_FLAG" val="#wm#"/>
  <p:tag name="KSO_WM_TEMPLATE_CATEGORY" val="custom"/>
  <p:tag name="KSO_WM_TEMPLATE_INDEX" val="20205081"/>
</p:tagLst>
</file>

<file path=ppt/tags/tag1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1.xml><?xml version="1.0" encoding="utf-8"?>
<p:tagLst xmlns:p="http://schemas.openxmlformats.org/presentationml/2006/main">
  <p:tag name="KSO_WM_BEAUTIFY_FLAG" val="#wm#"/>
  <p:tag name="KSO_WM_TEMPLATE_CATEGORY" val="custom"/>
  <p:tag name="KSO_WM_TEMPLATE_INDEX" val="20205081"/>
</p:tagLst>
</file>

<file path=ppt/tags/tag1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4.xml><?xml version="1.0" encoding="utf-8"?>
<p:tagLst xmlns:p="http://schemas.openxmlformats.org/presentationml/2006/main">
  <p:tag name="KSO_WM_BEAUTIFY_FLAG" val="#wm#"/>
  <p:tag name="KSO_WM_TEMPLATE_CATEGORY" val="custom"/>
  <p:tag name="KSO_WM_TEMPLATE_INDEX" val="20205081"/>
</p:tagLst>
</file>

<file path=ppt/tags/tag1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7.xml><?xml version="1.0" encoding="utf-8"?>
<p:tagLst xmlns:p="http://schemas.openxmlformats.org/presentationml/2006/main">
  <p:tag name="KSO_WM_BEAUTIFY_FLAG" val="#wm#"/>
  <p:tag name="KSO_WM_TEMPLATE_CATEGORY" val="custom"/>
  <p:tag name="KSO_WM_TEMPLATE_INDEX" val="20205081"/>
</p:tagLst>
</file>

<file path=ppt/tags/tag1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0.xml><?xml version="1.0" encoding="utf-8"?>
<p:tagLst xmlns:p="http://schemas.openxmlformats.org/presentationml/2006/main">
  <p:tag name="KSO_WM_BEAUTIFY_FLAG" val="#wm#"/>
  <p:tag name="KSO_WM_TEMPLATE_CATEGORY" val="custom"/>
  <p:tag name="KSO_WM_TEMPLATE_INDEX" val="20205081"/>
</p:tagLst>
</file>

<file path=ppt/tags/tag1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3.xml><?xml version="1.0" encoding="utf-8"?>
<p:tagLst xmlns:p="http://schemas.openxmlformats.org/presentationml/2006/main">
  <p:tag name="KSO_WM_BEAUTIFY_FLAG" val="#wm#"/>
  <p:tag name="KSO_WM_TEMPLATE_CATEGORY" val="custom"/>
  <p:tag name="KSO_WM_TEMPLATE_INDEX" val="20205081"/>
</p:tagLst>
</file>

<file path=ppt/tags/tag1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6.xml><?xml version="1.0" encoding="utf-8"?>
<p:tagLst xmlns:p="http://schemas.openxmlformats.org/presentationml/2006/main">
  <p:tag name="KSO_WM_BEAUTIFY_FLAG" val="#wm#"/>
  <p:tag name="KSO_WM_TEMPLATE_CATEGORY" val="custom"/>
  <p:tag name="KSO_WM_TEMPLATE_INDEX" val="20205081"/>
</p:tagLst>
</file>

<file path=ppt/tags/tag1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9.xml><?xml version="1.0" encoding="utf-8"?>
<p:tagLst xmlns:p="http://schemas.openxmlformats.org/presentationml/2006/main">
  <p:tag name="KSO_WM_BEAUTIFY_FLAG" val="#wm#"/>
  <p:tag name="KSO_WM_TEMPLATE_CATEGORY" val="custom"/>
  <p:tag name="KSO_WM_TEMPLATE_INDEX" val="20205081"/>
</p:tagLst>
</file>

<file path=ppt/tags/tag1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2.xml><?xml version="1.0" encoding="utf-8"?>
<p:tagLst xmlns:p="http://schemas.openxmlformats.org/presentationml/2006/main">
  <p:tag name="KSO_WM_BEAUTIFY_FLAG" val="#wm#"/>
  <p:tag name="KSO_WM_TEMPLATE_CATEGORY" val="custom"/>
  <p:tag name="KSO_WM_TEMPLATE_INDEX" val="20205081"/>
</p:tagLst>
</file>

<file path=ppt/tags/tag1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5.xml><?xml version="1.0" encoding="utf-8"?>
<p:tagLst xmlns:p="http://schemas.openxmlformats.org/presentationml/2006/main">
  <p:tag name="KSO_WM_BEAUTIFY_FLAG" val="#wm#"/>
  <p:tag name="KSO_WM_TEMPLATE_CATEGORY" val="custom"/>
  <p:tag name="KSO_WM_TEMPLATE_INDEX" val="20205081"/>
</p:tagLst>
</file>

<file path=ppt/tags/tag1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10388</Words>
  <Application>WPS 演示</Application>
  <PresentationFormat>宽屏</PresentationFormat>
  <Paragraphs>323</Paragraphs>
  <Slides>29</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29</vt:i4>
      </vt:variant>
    </vt:vector>
  </HeadingPairs>
  <TitlesOfParts>
    <vt:vector size="38" baseType="lpstr">
      <vt:lpstr>Arial</vt:lpstr>
      <vt:lpstr>宋体</vt:lpstr>
      <vt:lpstr>Wingdings</vt:lpstr>
      <vt:lpstr>Wingdings</vt:lpstr>
      <vt:lpstr>微软雅黑</vt:lpstr>
      <vt:lpstr>Arial Unicode MS</vt:lpstr>
      <vt:lpstr>Calibri</vt:lpstr>
      <vt:lpstr>等线</vt:lpstr>
      <vt:lpstr>WPS</vt:lpstr>
      <vt:lpstr>Discussion on BCR</vt:lpstr>
      <vt:lpstr>Dataset: A comprehesive study</vt:lpstr>
      <vt:lpstr>Dataset - GSM8K </vt:lpstr>
      <vt:lpstr>GSM8K - Usage</vt:lpstr>
      <vt:lpstr>Dataset - Strategy QA</vt:lpstr>
      <vt:lpstr>Strategy QA - Usage</vt:lpstr>
      <vt:lpstr>Additional Datasets</vt:lpstr>
      <vt:lpstr>MATH*</vt:lpstr>
      <vt:lpstr>ProofWriter*</vt:lpstr>
      <vt:lpstr>LogiQA</vt:lpstr>
      <vt:lpstr>BIG-Bench Hard</vt:lpstr>
      <vt:lpstr>DROP </vt:lpstr>
      <vt:lpstr>Strategy</vt:lpstr>
      <vt:lpstr>Analysis</vt:lpstr>
      <vt:lpstr>Metrics：A Polished Version</vt:lpstr>
      <vt:lpstr>Critiques for smoothness</vt:lpstr>
      <vt:lpstr>Critiques for smoothness</vt:lpstr>
      <vt:lpstr>Critiques for smoothness</vt:lpstr>
      <vt:lpstr>Critiques for smoothness*</vt:lpstr>
      <vt:lpstr>Critiques for smoothness*</vt:lpstr>
      <vt:lpstr>Critiques for smoothness*</vt:lpstr>
      <vt:lpstr>Leverage these techniques </vt:lpstr>
      <vt:lpstr>RC reward discussion</vt:lpstr>
      <vt:lpstr>RC reward discussion</vt:lpstr>
      <vt:lpstr>RC reward discussion</vt:lpstr>
      <vt:lpstr>RC reward discussion - Potential Improvements</vt:lpstr>
      <vt:lpstr>RC reward discussion - Potential Improvements</vt:lpstr>
      <vt:lpstr>RC reward discussion - Potential Improvements</vt:lpstr>
      <vt:lpstr>RC reward discussion - Potential Improvements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SunriseMoors</cp:lastModifiedBy>
  <cp:revision>210</cp:revision>
  <dcterms:created xsi:type="dcterms:W3CDTF">2019-06-19T02:08:00Z</dcterms:created>
  <dcterms:modified xsi:type="dcterms:W3CDTF">2026-02-21T21:17:47Z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2052-12.1.0.23539</vt:lpwstr>
  </property>
  <property fmtid="{D5CDD505-2E9C-101B-9397-08002B2CF9AE}" pid="3" name="ICV">
    <vt:lpwstr>130A4F8DA991460F898CB39EEB694BF3_13</vt:lpwstr>
  </property>
</Properties>
</file>